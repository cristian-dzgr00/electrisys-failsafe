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Tahoma"/>
              </a:defRPr>
            </a:pPr>
            <a:r>
              <a:rPr sz="1400" b="0" i="0" u="none" strike="noStrike">
                <a:solidFill>
                  <a:srgbClr val="222222"/>
                </a:solidFill>
                <a:latin typeface="Tahoma"/>
              </a:rPr>
              <a:t>Dataset: 65 frases etiquetadas en 7 intenciones</a:t>
            </a:r>
          </a:p>
        </c:rich>
      </c:tx>
      <c:layout/>
      <c:overlay val="0"/>
    </c:title>
    <c:autoTitleDeleted val="0"/>
    <c:plotArea>
      <c:layout/>
      <c:barChart>
        <c:barDir val="bar"/>
        <c:grouping val="clustered"/>
        <c:varyColors val="0"/>
        <c:ser>
          <c:idx val="0"/>
          <c:order val="0"/>
          <c:tx>
            <c:strRef>
              <c:f>Sheet1!$B$1</c:f>
              <c:strCache>
                <c:ptCount val="1"/>
                <c:pt idx="0">
                  <c:v>Frases</c:v>
                </c:pt>
              </c:strCache>
            </c:strRef>
          </c:tx>
          <c:spPr>
            <a:solidFill>
              <a:srgbClr val="1B6FA8"/>
            </a:solidFill>
            <a:effectLst/>
          </c:spPr>
          <c:invertIfNegative val="0"/>
          <c:dLbls>
            <c:numFmt formatCode="#,##0" sourceLinked="0"/>
            <c:txPr>
              <a:bodyPr/>
              <a:lstStyle/>
              <a:p>
                <a:pPr>
                  <a:defRPr b="0" i="0" strike="noStrike" sz="1200" u="none">
                    <a:solidFill>
                      <a:srgbClr val="222222"/>
                    </a:solidFill>
                    <a:latin typeface="Arial"/>
                  </a:defRPr>
                </a:pPr>
              </a:p>
            </c:txPr>
            <c:showLegendKey val="0"/>
            <c:showVal val="1"/>
            <c:showCatName val="0"/>
            <c:showSerName val="0"/>
            <c:showPercent val="0"/>
            <c:showBubbleSize val="0"/>
            <c:showLeaderLines val="0"/>
          </c:dLbls>
          <c:cat>
            <c:multiLvlStrRef>
              <c:f>Sheet1!$A$2:$A$8</c:f>
              <c:multiLvlStrCache>
                <c:ptCount val="7"/>
                <c:lvl>
                  <c:pt idx="0">
                    <c:v>recomendar_sustituto</c:v>
                  </c:pt>
                  <c:pt idx="1">
                    <c:v>buscar_repuesto</c:v>
                  </c:pt>
                  <c:pt idx="2">
                    <c:v>saludo_despedida</c:v>
                  </c:pt>
                  <c:pt idx="3">
                    <c:v>consultar_stock</c:v>
                  </c:pt>
                  <c:pt idx="4">
                    <c:v>consultar_precio</c:v>
                  </c:pt>
                  <c:pt idx="5">
                    <c:v>consultar_compatibilidad</c:v>
                  </c:pt>
                  <c:pt idx="6">
                    <c:v>fuera_de_dominio</c:v>
                  </c:pt>
                </c:lvl>
              </c:multiLvlStrCache>
            </c:multiLvlStrRef>
          </c:cat>
          <c:val>
            <c:numRef>
              <c:f>Sheet1!$B$2:$B$8</c:f>
              <c:numCache>
                <c:formatCode>General</c:formatCode>
                <c:ptCount val="7"/>
                <c:pt idx="0">
                  <c:v>14</c:v>
                </c:pt>
                <c:pt idx="1">
                  <c:v>12</c:v>
                </c:pt>
                <c:pt idx="2">
                  <c:v>10</c:v>
                </c:pt>
                <c:pt idx="3">
                  <c:v>8</c:v>
                </c:pt>
                <c:pt idx="4">
                  <c:v>7</c:v>
                </c:pt>
                <c:pt idx="5">
                  <c:v>7</c:v>
                </c:pt>
                <c:pt idx="6">
                  <c:v>7</c:v>
                </c:pt>
              </c:numCache>
            </c:numRef>
          </c:val>
        </c:ser>
        <c:dLbls>
          <c:numFmt formatCode="#,##0" sourceLinked="0"/>
          <c:txPr>
            <a:bodyPr/>
            <a:lstStyle/>
            <a:p>
              <a:pPr>
                <a:defRPr b="0" i="0" strike="noStrike" sz="12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Tahom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segundo avance del asistente de repuestos. Hoy estamos en la semana 7 de 13: mostramos lo que ya funciona, cómo está construido el modelo, sus métricas y lo que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crítico es el repuesto agotado. Sin el asistente, el vendedor depende de su memoria. Con el asistente escribe la situación como la diría en voz alta y recibe sustitutos reales. Restricción de la materia: nada de LLM externos, todo el modelo es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objetivos específicos del Avance 1 ya tienen una primera versión cumplida. Los dos últimos siguen en mejora: el modelo necesita más datos y faltan dos pantallas por conectar.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roles de Scrum adaptados a tres personas. Cada uno lidera un área técnica, pero las revisiones de cierre de cada sprint las hacemos entre los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sprint pasa por cuatro momentos. Lo importante es la revisión: no avanzamos si las pruebas fallan. Ejemplo: la primera evaluación del sprint 6 mostró que el dataset es pequeño, y eso definió el sprint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sprints en trece semanas. Del 0 al 5 están terminados, el 6 está en curso y del 7 al 10 están planeados. La línea punteada marca la semana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seis semanas construimos el núcleo completo: datos, microservicio, modelo de intención, extracción de entidades, recomendador y la interfaz. El sprint 6 agrega capacidades de apoyo y hace la primera evaluación 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pasos. El texto se limpia, el clasificador decide qué quiere el vendedor, el NER saca los datos del vehículo, el backend trae los repuestos compatibles con stock, se ordenan por similitud y se arma la respuesta con plantillas.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consulta real en producción, en Azure. El asistente entendió el vehículo sin que el vendedor usara códigos y devolvió el alternador compatible con su stock y precio.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Reutilizamos el mismo modelo para más tareas: el pronóstico de demanda marca repuestos con rotación baja o que se van a agotar, y la ficha de cada repuesto sugiere productos parecidos.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capas. El microservicio de IA nunca toca la base de datos: consulta el catálogo a través del backend, así las reglas de negocio viven en un solo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clasificador es una regresión logística, que equivale a una red de una sola capa: 194 entradas, ninguna capa oculta y 7 salidas. No usamos capas ocultas porque con tan pocos datos memorizaría las frases.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escribió 65 frases de mostrador y las etiquetó en siete intenciones. Cada frase se limpia, se convierte en números con TF-IDF y la regresión logística aprende qué palabras apuntan a cada intención.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Exactitud es el porcentaje de aciertos; F1 equilibra precisión y exhaustividad por intención; precisión@3 dice cuántos de los tres sustitutos mostrados son correctos. La diferencia con la validación cruzada muestra que necesitamos más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prioridad inmediata es ampliar el dataset y reentrenar. Luego conectamos a la interfaz las dos capacidades que ya existen en el backend: la sugerencia de pedido y la venta cruzada. Cerramos con pruebas y la sustentación.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conscientes de estas limitaciones y cada una tiene una medida. La más importante es el tamaño del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tres ideas: el asistente ya funciona de verdad, el modelo propio da buenos resultados y sabemos con datos qué hay que mejorar.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opcional: abrir electrisys.duckdns.org, ir a Ventas y hacer una consulta al asistente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13-image-1.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280160" y="3063240"/>
            <a:ext cx="9601200" cy="1600200"/>
          </a:xfrm>
          <a:prstGeom prst="rect">
            <a:avLst/>
          </a:prstGeom>
          <a:noFill/>
          <a:ln/>
        </p:spPr>
        <p:txBody>
          <a:bodyPr wrap="square" lIns="0" tIns="0" rIns="0" bIns="0" rtlCol="0" anchor="t"/>
          <a:lstStyle/>
          <a:p>
            <a:pPr algn="ctr" indent="0" marL="0">
              <a:buNone/>
            </a:pPr>
            <a:r>
              <a:rPr lang="en-US" sz="2100" b="1" dirty="0">
                <a:solidFill>
                  <a:srgbClr val="FFFFFF"/>
                </a:solidFill>
                <a:latin typeface="Tahoma" pitchFamily="34" charset="0"/>
                <a:ea typeface="Tahoma" pitchFamily="34" charset="-122"/>
                <a:cs typeface="Tahoma" pitchFamily="34" charset="-120"/>
              </a:rPr>
              <a:t>Asistente inteligente basado en Procesamiento de Lenguaje Natural (NLP) para la búsqueda y recomendación de repuestos compatibles en el sistema POS ElectriSys</a:t>
            </a:r>
            <a:endParaRPr lang="en-US" sz="2100" dirty="0"/>
          </a:p>
          <a:p>
            <a:pPr algn="ctr" indent="0" marL="0">
              <a:buNone/>
            </a:pPr>
            <a:r>
              <a:rPr lang="en-US" sz="1900" b="1" dirty="0">
                <a:solidFill>
                  <a:srgbClr val="FFD27F"/>
                </a:solidFill>
                <a:latin typeface="Tahoma" pitchFamily="34" charset="0"/>
                <a:ea typeface="Tahoma" pitchFamily="34" charset="-122"/>
                <a:cs typeface="Tahoma" pitchFamily="34" charset="-120"/>
              </a:rPr>
              <a:t>Avance 2</a:t>
            </a:r>
            <a:endParaRPr lang="en-US" sz="2100" dirty="0"/>
          </a:p>
        </p:txBody>
      </p:sp>
      <p:sp>
        <p:nvSpPr>
          <p:cNvPr id="3" name="Text 1"/>
          <p:cNvSpPr txBox="1"/>
          <p:nvPr/>
        </p:nvSpPr>
        <p:spPr>
          <a:xfrm>
            <a:off x="2194560" y="4754880"/>
            <a:ext cx="7772400" cy="1143000"/>
          </a:xfrm>
          <a:prstGeom prst="rect">
            <a:avLst/>
          </a:prstGeom>
          <a:noFill/>
          <a:ln/>
        </p:spPr>
        <p:txBody>
          <a:bodyPr wrap="square" lIns="0" tIns="0" rIns="0" bIns="0" rtlCol="0" anchor="ctr"/>
          <a:lstStyle/>
          <a:p>
            <a:pPr algn="ctr" indent="0" marL="0">
              <a:buNone/>
            </a:pPr>
            <a:r>
              <a:rPr lang="en-US" sz="1300" b="1" dirty="0">
                <a:solidFill>
                  <a:srgbClr val="FFFFFF"/>
                </a:solidFill>
                <a:latin typeface="Tahoma" pitchFamily="34" charset="0"/>
                <a:ea typeface="Tahoma" pitchFamily="34" charset="-122"/>
                <a:cs typeface="Tahoma" pitchFamily="34" charset="-120"/>
              </a:rPr>
              <a:t>Cristian Camilo Pesillo Diazgranados – 893131</a:t>
            </a:r>
            <a:endParaRPr lang="en-US" sz="1300" dirty="0"/>
          </a:p>
          <a:p>
            <a:pPr algn="ctr" indent="0" marL="0">
              <a:buNone/>
            </a:pPr>
            <a:r>
              <a:rPr lang="en-US" sz="1300" b="1" dirty="0">
                <a:solidFill>
                  <a:srgbClr val="FFFFFF"/>
                </a:solidFill>
                <a:latin typeface="Tahoma" pitchFamily="34" charset="0"/>
                <a:ea typeface="Tahoma" pitchFamily="34" charset="-122"/>
                <a:cs typeface="Tahoma" pitchFamily="34" charset="-120"/>
              </a:rPr>
              <a:t>Jaider Cardona Verá – 853864</a:t>
            </a:r>
            <a:endParaRPr lang="en-US" sz="1300" dirty="0"/>
          </a:p>
          <a:p>
            <a:pPr algn="ctr" indent="0" marL="0">
              <a:buNone/>
            </a:pPr>
            <a:r>
              <a:rPr lang="en-US" sz="1300" b="1" dirty="0">
                <a:solidFill>
                  <a:srgbClr val="FFFFFF"/>
                </a:solidFill>
                <a:latin typeface="Tahoma" pitchFamily="34" charset="0"/>
                <a:ea typeface="Tahoma" pitchFamily="34" charset="-122"/>
                <a:cs typeface="Tahoma" pitchFamily="34" charset="-120"/>
              </a:rPr>
              <a:t>Laura Manuela Zamora Castellanos – 841611</a:t>
            </a:r>
            <a:endParaRPr lang="en-US" sz="1300" dirty="0"/>
          </a:p>
          <a:p>
            <a:pPr algn="ctr" indent="0" marL="0">
              <a:buNone/>
            </a:pPr>
            <a:r>
              <a:rPr lang="en-US" sz="1300" b="1" i="1" dirty="0">
                <a:solidFill>
                  <a:srgbClr val="FFFFFF"/>
                </a:solidFill>
                <a:latin typeface="Tahoma" pitchFamily="34" charset="0"/>
                <a:ea typeface="Tahoma" pitchFamily="34" charset="-122"/>
                <a:cs typeface="Tahoma" pitchFamily="34" charset="-120"/>
              </a:rPr>
              <a:t>Aplicación de la Inteligencia Artificial · Mgs. Yomaria Guzman Paredes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El problema</a:t>
            </a:r>
            <a:endParaRPr lang="en-US" sz="2800" dirty="0"/>
          </a:p>
        </p:txBody>
      </p:sp>
      <p:sp>
        <p:nvSpPr>
          <p:cNvPr id="3" name="Shape 1"/>
          <p:cNvSpPr/>
          <p:nvPr/>
        </p:nvSpPr>
        <p:spPr>
          <a:xfrm>
            <a:off x="640080" y="1783080"/>
            <a:ext cx="5120640" cy="4206240"/>
          </a:xfrm>
          <a:prstGeom prst="roundRect">
            <a:avLst>
              <a:gd name="adj" fmla="val 2609"/>
            </a:avLst>
          </a:prstGeom>
          <a:solidFill>
            <a:srgbClr val="FDF1E0"/>
          </a:solidFill>
          <a:ln w="12700">
            <a:solidFill>
              <a:srgbClr val="FDF1E0"/>
            </a:solidFill>
            <a:prstDash val="solid"/>
          </a:ln>
        </p:spPr>
      </p:sp>
      <p:sp>
        <p:nvSpPr>
          <p:cNvPr id="4" name="Shape 2"/>
          <p:cNvSpPr/>
          <p:nvPr/>
        </p:nvSpPr>
        <p:spPr>
          <a:xfrm>
            <a:off x="914400" y="2011680"/>
            <a:ext cx="731520" cy="731520"/>
          </a:xfrm>
          <a:prstGeom prst="ellipse">
            <a:avLst/>
          </a:prstGeom>
          <a:solidFill>
            <a:srgbClr val="E8890C"/>
          </a:solidFill>
          <a:ln w="12700">
            <a:solidFill>
              <a:srgbClr val="E8890C"/>
            </a:solidFill>
            <a:prstDash val="solid"/>
          </a:ln>
        </p:spPr>
      </p:sp>
      <p:pic>
        <p:nvPicPr>
          <p:cNvPr id="5" name="Image 0" descr="preencoded.png">    </p:cNvPr>
          <p:cNvPicPr>
            <a:picLocks noChangeAspect="1"/>
          </p:cNvPicPr>
          <p:nvPr/>
        </p:nvPicPr>
        <p:blipFill>
          <a:blip r:embed="rId2"/>
          <a:stretch>
            <a:fillRect/>
          </a:stretch>
        </p:blipFill>
        <p:spPr>
          <a:xfrm>
            <a:off x="1089965" y="2187245"/>
            <a:ext cx="380390" cy="380390"/>
          </a:xfrm>
          <a:prstGeom prst="rect">
            <a:avLst/>
          </a:prstGeom>
        </p:spPr>
      </p:pic>
      <p:sp>
        <p:nvSpPr>
          <p:cNvPr id="6" name="Text 3"/>
          <p:cNvSpPr txBox="1"/>
          <p:nvPr/>
        </p:nvSpPr>
        <p:spPr>
          <a:xfrm>
            <a:off x="1828800" y="2148840"/>
            <a:ext cx="3200400" cy="457200"/>
          </a:xfrm>
          <a:prstGeom prst="rect">
            <a:avLst/>
          </a:prstGeom>
          <a:noFill/>
          <a:ln/>
        </p:spPr>
        <p:txBody>
          <a:bodyPr wrap="square" lIns="0" tIns="0" rIns="0" bIns="0" rtlCol="0" anchor="t"/>
          <a:lstStyle/>
          <a:p>
            <a:pPr indent="0" marL="0">
              <a:buNone/>
            </a:pPr>
            <a:r>
              <a:rPr lang="en-US" sz="2200" b="1" dirty="0">
                <a:solidFill>
                  <a:srgbClr val="9A5400"/>
                </a:solidFill>
                <a:latin typeface="Tahoma" pitchFamily="34" charset="0"/>
                <a:ea typeface="Tahoma" pitchFamily="34" charset="-122"/>
                <a:cs typeface="Tahoma" pitchFamily="34" charset="-120"/>
              </a:rPr>
              <a:t>Antes</a:t>
            </a:r>
            <a:endParaRPr lang="en-US" sz="2200" dirty="0"/>
          </a:p>
        </p:txBody>
      </p:sp>
      <p:sp>
        <p:nvSpPr>
          <p:cNvPr id="7" name="Text 4"/>
          <p:cNvSpPr txBox="1"/>
          <p:nvPr/>
        </p:nvSpPr>
        <p:spPr>
          <a:xfrm>
            <a:off x="914400" y="301752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El cliente pide un repuesto que está agotado.</a:t>
            </a:r>
            <a:endParaRPr lang="en-US" sz="1600" dirty="0"/>
          </a:p>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El vendedor debe recordar de memoria qué otro producto le sirve a ese vehículo.</a:t>
            </a:r>
            <a:endParaRPr lang="en-US" sz="1600" dirty="0"/>
          </a:p>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La búsqueda solo funciona con códigos o nombres exactos.</a:t>
            </a:r>
            <a:endParaRPr lang="en-US" sz="1600" dirty="0"/>
          </a:p>
        </p:txBody>
      </p:sp>
      <p:sp>
        <p:nvSpPr>
          <p:cNvPr id="8" name="Shape 5"/>
          <p:cNvSpPr/>
          <p:nvPr/>
        </p:nvSpPr>
        <p:spPr>
          <a:xfrm>
            <a:off x="6400800" y="1783080"/>
            <a:ext cx="5120640" cy="4206240"/>
          </a:xfrm>
          <a:prstGeom prst="roundRect">
            <a:avLst>
              <a:gd name="adj" fmla="val 2609"/>
            </a:avLst>
          </a:prstGeom>
          <a:solidFill>
            <a:srgbClr val="EEF4FA"/>
          </a:solidFill>
          <a:ln w="12700">
            <a:solidFill>
              <a:srgbClr val="EEF4FA"/>
            </a:solidFill>
            <a:prstDash val="solid"/>
          </a:ln>
        </p:spPr>
      </p:sp>
      <p:sp>
        <p:nvSpPr>
          <p:cNvPr id="9" name="Shape 6"/>
          <p:cNvSpPr/>
          <p:nvPr/>
        </p:nvSpPr>
        <p:spPr>
          <a:xfrm>
            <a:off x="6675120" y="2011680"/>
            <a:ext cx="731520" cy="731520"/>
          </a:xfrm>
          <a:prstGeom prst="ellipse">
            <a:avLst/>
          </a:prstGeom>
          <a:solidFill>
            <a:srgbClr val="1B6FA8"/>
          </a:solidFill>
          <a:ln w="12700">
            <a:solidFill>
              <a:srgbClr val="1B6FA8"/>
            </a:solidFill>
            <a:prstDash val="solid"/>
          </a:ln>
        </p:spPr>
      </p:sp>
      <p:pic>
        <p:nvPicPr>
          <p:cNvPr id="10" name="Image 1" descr="preencoded.png">    </p:cNvPr>
          <p:cNvPicPr>
            <a:picLocks noChangeAspect="1"/>
          </p:cNvPicPr>
          <p:nvPr/>
        </p:nvPicPr>
        <p:blipFill>
          <a:blip r:embed="rId3"/>
          <a:stretch>
            <a:fillRect/>
          </a:stretch>
        </p:blipFill>
        <p:spPr>
          <a:xfrm>
            <a:off x="6850685" y="2187245"/>
            <a:ext cx="380390" cy="380390"/>
          </a:xfrm>
          <a:prstGeom prst="rect">
            <a:avLst/>
          </a:prstGeom>
        </p:spPr>
      </p:pic>
      <p:sp>
        <p:nvSpPr>
          <p:cNvPr id="11" name="Text 7"/>
          <p:cNvSpPr txBox="1"/>
          <p:nvPr/>
        </p:nvSpPr>
        <p:spPr>
          <a:xfrm>
            <a:off x="7589520" y="2148840"/>
            <a:ext cx="3657600" cy="457200"/>
          </a:xfrm>
          <a:prstGeom prst="rect">
            <a:avLst/>
          </a:prstGeom>
          <a:noFill/>
          <a:ln/>
        </p:spPr>
        <p:txBody>
          <a:bodyPr wrap="square" lIns="0" tIns="0" rIns="0" bIns="0" rtlCol="0" anchor="t"/>
          <a:lstStyle/>
          <a:p>
            <a:pPr indent="0" marL="0">
              <a:buNone/>
            </a:pPr>
            <a:r>
              <a:rPr lang="en-US" sz="2200" b="1" dirty="0">
                <a:solidFill>
                  <a:srgbClr val="0E4C7C"/>
                </a:solidFill>
                <a:latin typeface="Tahoma" pitchFamily="34" charset="0"/>
                <a:ea typeface="Tahoma" pitchFamily="34" charset="-122"/>
                <a:cs typeface="Tahoma" pitchFamily="34" charset="-120"/>
              </a:rPr>
              <a:t>Con el asistente</a:t>
            </a:r>
            <a:endParaRPr lang="en-US" sz="2200" dirty="0"/>
          </a:p>
        </p:txBody>
      </p:sp>
      <p:sp>
        <p:nvSpPr>
          <p:cNvPr id="12" name="Text 8"/>
          <p:cNvSpPr txBox="1"/>
          <p:nvPr/>
        </p:nvSpPr>
        <p:spPr>
          <a:xfrm>
            <a:off x="6675120" y="3017520"/>
            <a:ext cx="4572000" cy="1097280"/>
          </a:xfrm>
          <a:prstGeom prst="rect">
            <a:avLst/>
          </a:prstGeom>
          <a:noFill/>
          <a:ln/>
        </p:spPr>
        <p:txBody>
          <a:bodyPr wrap="square" lIns="0" tIns="0" rIns="0" bIns="0" rtlCol="0" anchor="t"/>
          <a:lstStyle/>
          <a:p>
            <a:pPr indent="0" marL="0">
              <a:buNone/>
            </a:pPr>
            <a:r>
              <a:rPr lang="en-US" sz="1600" i="1" dirty="0">
                <a:solidFill>
                  <a:srgbClr val="0E4C7C"/>
                </a:solidFill>
                <a:latin typeface="Tahoma" pitchFamily="34" charset="0"/>
                <a:ea typeface="Tahoma" pitchFamily="34" charset="-122"/>
                <a:cs typeface="Tahoma" pitchFamily="34" charset="-120"/>
              </a:rPr>
              <a:t>«Se agotó el alternador para una Renault Duster 2.0 gasolina 2020, ¿qué me recomiendas?»</a:t>
            </a:r>
            <a:endParaRPr lang="en-US" sz="1600" dirty="0"/>
          </a:p>
        </p:txBody>
      </p:sp>
      <p:sp>
        <p:nvSpPr>
          <p:cNvPr id="13" name="Text 9"/>
          <p:cNvSpPr txBox="1"/>
          <p:nvPr/>
        </p:nvSpPr>
        <p:spPr>
          <a:xfrm>
            <a:off x="6675120" y="4206240"/>
            <a:ext cx="4572000" cy="1463040"/>
          </a:xfrm>
          <a:prstGeom prst="rect">
            <a:avLst/>
          </a:prstGeom>
          <a:noFill/>
          <a:ln/>
        </p:spPr>
        <p:txBody>
          <a:bodyPr wrap="square" lIns="0" tIns="0" rIns="0" bIns="0" rtlCol="0" anchor="t"/>
          <a:lstStyle/>
          <a:p>
            <a:pPr indent="0" marL="0">
              <a:buNone/>
            </a:pPr>
            <a:r>
              <a:rPr lang="en-US" sz="1600" dirty="0">
                <a:solidFill>
                  <a:srgbClr val="222222"/>
                </a:solidFill>
                <a:latin typeface="Tahoma" pitchFamily="34" charset="0"/>
                <a:ea typeface="Tahoma" pitchFamily="34" charset="-122"/>
                <a:cs typeface="Tahoma" pitchFamily="34" charset="-120"/>
              </a:rPr>
              <a:t>El sistema entiende la frase, identifica el vehículo y responde con repuestos compatibles que sí hay en inventario.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Objetivos</a:t>
            </a:r>
            <a:endParaRPr lang="en-US" sz="2800" dirty="0"/>
          </a:p>
        </p:txBody>
      </p:sp>
      <p:sp>
        <p:nvSpPr>
          <p:cNvPr id="3" name="Shape 1"/>
          <p:cNvSpPr/>
          <p:nvPr/>
        </p:nvSpPr>
        <p:spPr>
          <a:xfrm>
            <a:off x="640080" y="1645920"/>
            <a:ext cx="10881360" cy="1325880"/>
          </a:xfrm>
          <a:prstGeom prst="roundRect">
            <a:avLst>
              <a:gd name="adj" fmla="val 8276"/>
            </a:avLst>
          </a:prstGeom>
          <a:solidFill>
            <a:srgbClr val="EEF4FA"/>
          </a:solidFill>
          <a:ln w="12700">
            <a:solidFill>
              <a:srgbClr val="EEF4FA"/>
            </a:solidFill>
            <a:prstDash val="solid"/>
          </a:ln>
        </p:spPr>
      </p:sp>
      <p:sp>
        <p:nvSpPr>
          <p:cNvPr id="4" name="Text 2"/>
          <p:cNvSpPr txBox="1"/>
          <p:nvPr/>
        </p:nvSpPr>
        <p:spPr>
          <a:xfrm>
            <a:off x="914400" y="1828800"/>
            <a:ext cx="10332720" cy="100584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General: </a:t>
            </a:r>
            <a:pPr indent="0" marL="0">
              <a:buNone/>
            </a:pPr>
            <a:r>
              <a:rPr lang="en-US" sz="1700" dirty="0">
                <a:solidFill>
                  <a:srgbClr val="222222"/>
                </a:solidFill>
                <a:latin typeface="Tahoma" pitchFamily="34" charset="0"/>
                <a:ea typeface="Tahoma" pitchFamily="34" charset="-122"/>
                <a:cs typeface="Tahoma" pitchFamily="34" charset="-120"/>
              </a:rPr>
              <a:t>desarrollar un asistente NLP que interprete consultas en lenguaje humano y facilite la búsqueda de repuestos en ElectriSys.</a:t>
            </a:r>
            <a:endParaRPr lang="en-US" sz="1700" dirty="0"/>
          </a:p>
        </p:txBody>
      </p:sp>
      <p:sp>
        <p:nvSpPr>
          <p:cNvPr id="5" name="Shape 3"/>
          <p:cNvSpPr/>
          <p:nvPr/>
        </p:nvSpPr>
        <p:spPr>
          <a:xfrm>
            <a:off x="640080" y="3291840"/>
            <a:ext cx="3429000" cy="2834640"/>
          </a:xfrm>
          <a:prstGeom prst="roundRect">
            <a:avLst>
              <a:gd name="adj" fmla="val 3871"/>
            </a:avLst>
          </a:prstGeom>
          <a:solidFill>
            <a:srgbClr val="FFFFFF"/>
          </a:solidFill>
          <a:ln w="12700">
            <a:solidFill>
              <a:srgbClr val="FFFFFF"/>
            </a:solidFill>
            <a:prstDash val="solid"/>
          </a:ln>
        </p:spPr>
      </p:sp>
      <p:sp>
        <p:nvSpPr>
          <p:cNvPr id="6" name="Shape 4"/>
          <p:cNvSpPr/>
          <p:nvPr/>
        </p:nvSpPr>
        <p:spPr>
          <a:xfrm>
            <a:off x="640080" y="3291840"/>
            <a:ext cx="3429000" cy="2834640"/>
          </a:xfrm>
          <a:prstGeom prst="roundRect">
            <a:avLst>
              <a:gd name="adj" fmla="val 3871"/>
            </a:avLst>
          </a:prstGeom>
          <a:solidFill>
            <a:srgbClr val="FFFFFF"/>
          </a:solidFill>
          <a:ln w="12700">
            <a:solidFill>
              <a:srgbClr val="D5DEE8"/>
            </a:solidFill>
            <a:prstDash val="solid"/>
          </a:ln>
        </p:spPr>
      </p:sp>
      <p:sp>
        <p:nvSpPr>
          <p:cNvPr id="7" name="Shape 5"/>
          <p:cNvSpPr/>
          <p:nvPr/>
        </p:nvSpPr>
        <p:spPr>
          <a:xfrm>
            <a:off x="914400" y="3520440"/>
            <a:ext cx="685800" cy="685800"/>
          </a:xfrm>
          <a:prstGeom prst="ellipse">
            <a:avLst/>
          </a:prstGeom>
          <a:solidFill>
            <a:srgbClr val="1B6FA8"/>
          </a:solidFill>
          <a:ln w="12700">
            <a:solidFill>
              <a:srgbClr val="1B6FA8"/>
            </a:solidFill>
            <a:prstDash val="solid"/>
          </a:ln>
        </p:spPr>
      </p:sp>
      <p:pic>
        <p:nvPicPr>
          <p:cNvPr id="8" name="Image 0" descr="preencoded.png">    </p:cNvPr>
          <p:cNvPicPr>
            <a:picLocks noChangeAspect="1"/>
          </p:cNvPicPr>
          <p:nvPr/>
        </p:nvPicPr>
        <p:blipFill>
          <a:blip r:embed="rId2"/>
          <a:stretch>
            <a:fillRect/>
          </a:stretch>
        </p:blipFill>
        <p:spPr>
          <a:xfrm>
            <a:off x="1078992" y="3685032"/>
            <a:ext cx="356616" cy="356616"/>
          </a:xfrm>
          <a:prstGeom prst="rect">
            <a:avLst/>
          </a:prstGeom>
        </p:spPr>
      </p:pic>
      <p:sp>
        <p:nvSpPr>
          <p:cNvPr id="9" name="Text 6"/>
          <p:cNvSpPr txBox="1"/>
          <p:nvPr/>
        </p:nvSpPr>
        <p:spPr>
          <a:xfrm>
            <a:off x="914400" y="4389120"/>
            <a:ext cx="2926080" cy="1005840"/>
          </a:xfrm>
          <a:prstGeom prst="rect">
            <a:avLst/>
          </a:prstGeom>
          <a:noFill/>
          <a:ln/>
        </p:spPr>
        <p:txBody>
          <a:bodyPr wrap="square" lIns="0" tIns="0" rIns="0" bIns="0" rtlCol="0" anchor="t"/>
          <a:lstStyle/>
          <a:p>
            <a:pPr indent="0" marL="0">
              <a:buNone/>
            </a:pPr>
            <a:r>
              <a:rPr lang="en-US" sz="1600" b="1" dirty="0">
                <a:solidFill>
                  <a:srgbClr val="222222"/>
                </a:solidFill>
                <a:latin typeface="Tahoma" pitchFamily="34" charset="0"/>
                <a:ea typeface="Tahoma" pitchFamily="34" charset="-122"/>
                <a:cs typeface="Tahoma" pitchFamily="34" charset="-120"/>
              </a:rPr>
              <a:t>Determinar las necesidades del asistente</a:t>
            </a:r>
            <a:endParaRPr lang="en-US" sz="1600" dirty="0"/>
          </a:p>
        </p:txBody>
      </p:sp>
      <p:sp>
        <p:nvSpPr>
          <p:cNvPr id="10" name="Shape 7"/>
          <p:cNvSpPr/>
          <p:nvPr/>
        </p:nvSpPr>
        <p:spPr>
          <a:xfrm>
            <a:off x="914400" y="5486400"/>
            <a:ext cx="2880360" cy="411480"/>
          </a:xfrm>
          <a:prstGeom prst="roundRect">
            <a:avLst>
              <a:gd name="adj" fmla="val 22222"/>
            </a:avLst>
          </a:prstGeom>
          <a:solidFill>
            <a:srgbClr val="2E8B57"/>
          </a:solidFill>
          <a:ln w="12700">
            <a:solidFill>
              <a:srgbClr val="2E8B57"/>
            </a:solidFill>
            <a:prstDash val="solid"/>
          </a:ln>
        </p:spPr>
      </p:sp>
      <p:sp>
        <p:nvSpPr>
          <p:cNvPr id="11" name="Text 8"/>
          <p:cNvSpPr txBox="1"/>
          <p:nvPr/>
        </p:nvSpPr>
        <p:spPr>
          <a:xfrm>
            <a:off x="914400" y="5486400"/>
            <a:ext cx="28803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Cumplido · sprint 0</a:t>
            </a:r>
            <a:endParaRPr lang="en-US" sz="1100" dirty="0"/>
          </a:p>
        </p:txBody>
      </p:sp>
      <p:sp>
        <p:nvSpPr>
          <p:cNvPr id="12" name="Shape 9"/>
          <p:cNvSpPr/>
          <p:nvPr/>
        </p:nvSpPr>
        <p:spPr>
          <a:xfrm>
            <a:off x="4343400" y="3291840"/>
            <a:ext cx="3429000" cy="2834640"/>
          </a:xfrm>
          <a:prstGeom prst="roundRect">
            <a:avLst>
              <a:gd name="adj" fmla="val 3871"/>
            </a:avLst>
          </a:prstGeom>
          <a:solidFill>
            <a:srgbClr val="FFFFFF"/>
          </a:solidFill>
          <a:ln w="12700">
            <a:solidFill>
              <a:srgbClr val="FFFFFF"/>
            </a:solidFill>
            <a:prstDash val="solid"/>
          </a:ln>
        </p:spPr>
      </p:sp>
      <p:sp>
        <p:nvSpPr>
          <p:cNvPr id="13" name="Shape 10"/>
          <p:cNvSpPr/>
          <p:nvPr/>
        </p:nvSpPr>
        <p:spPr>
          <a:xfrm>
            <a:off x="4343400" y="3291840"/>
            <a:ext cx="3429000" cy="2834640"/>
          </a:xfrm>
          <a:prstGeom prst="roundRect">
            <a:avLst>
              <a:gd name="adj" fmla="val 3871"/>
            </a:avLst>
          </a:prstGeom>
          <a:solidFill>
            <a:srgbClr val="FFFFFF"/>
          </a:solidFill>
          <a:ln w="12700">
            <a:solidFill>
              <a:srgbClr val="D5DEE8"/>
            </a:solidFill>
            <a:prstDash val="solid"/>
          </a:ln>
        </p:spPr>
      </p:sp>
      <p:sp>
        <p:nvSpPr>
          <p:cNvPr id="14" name="Shape 11"/>
          <p:cNvSpPr/>
          <p:nvPr/>
        </p:nvSpPr>
        <p:spPr>
          <a:xfrm>
            <a:off x="4617720" y="3520440"/>
            <a:ext cx="685800" cy="685800"/>
          </a:xfrm>
          <a:prstGeom prst="ellipse">
            <a:avLst/>
          </a:prstGeom>
          <a:solidFill>
            <a:srgbClr val="1B6FA8"/>
          </a:solidFill>
          <a:ln w="12700">
            <a:solidFill>
              <a:srgbClr val="1B6FA8"/>
            </a:solidFill>
            <a:prstDash val="solid"/>
          </a:ln>
        </p:spPr>
      </p:sp>
      <p:pic>
        <p:nvPicPr>
          <p:cNvPr id="15" name="Image 1" descr="preencoded.png">    </p:cNvPr>
          <p:cNvPicPr>
            <a:picLocks noChangeAspect="1"/>
          </p:cNvPicPr>
          <p:nvPr/>
        </p:nvPicPr>
        <p:blipFill>
          <a:blip r:embed="rId3"/>
          <a:stretch>
            <a:fillRect/>
          </a:stretch>
        </p:blipFill>
        <p:spPr>
          <a:xfrm>
            <a:off x="4782312" y="3685032"/>
            <a:ext cx="356616" cy="356616"/>
          </a:xfrm>
          <a:prstGeom prst="rect">
            <a:avLst/>
          </a:prstGeom>
        </p:spPr>
      </p:pic>
      <p:sp>
        <p:nvSpPr>
          <p:cNvPr id="16" name="Text 12"/>
          <p:cNvSpPr txBox="1"/>
          <p:nvPr/>
        </p:nvSpPr>
        <p:spPr>
          <a:xfrm>
            <a:off x="4617720" y="4389120"/>
            <a:ext cx="2926080" cy="1005840"/>
          </a:xfrm>
          <a:prstGeom prst="rect">
            <a:avLst/>
          </a:prstGeom>
          <a:noFill/>
          <a:ln/>
        </p:spPr>
        <p:txBody>
          <a:bodyPr wrap="square" lIns="0" tIns="0" rIns="0" bIns="0" rtlCol="0" anchor="t"/>
          <a:lstStyle/>
          <a:p>
            <a:pPr indent="0" marL="0">
              <a:buNone/>
            </a:pPr>
            <a:r>
              <a:rPr lang="en-US" sz="1600" b="1" dirty="0">
                <a:solidFill>
                  <a:srgbClr val="222222"/>
                </a:solidFill>
                <a:latin typeface="Tahoma" pitchFamily="34" charset="0"/>
                <a:ea typeface="Tahoma" pitchFamily="34" charset="-122"/>
                <a:cs typeface="Tahoma" pitchFamily="34" charset="-120"/>
              </a:rPr>
              <a:t>Diseñar el modelo que interpreta las consultas</a:t>
            </a:r>
            <a:endParaRPr lang="en-US" sz="1600" dirty="0"/>
          </a:p>
        </p:txBody>
      </p:sp>
      <p:sp>
        <p:nvSpPr>
          <p:cNvPr id="17" name="Shape 13"/>
          <p:cNvSpPr/>
          <p:nvPr/>
        </p:nvSpPr>
        <p:spPr>
          <a:xfrm>
            <a:off x="4617720" y="5486400"/>
            <a:ext cx="2880360" cy="411480"/>
          </a:xfrm>
          <a:prstGeom prst="roundRect">
            <a:avLst>
              <a:gd name="adj" fmla="val 22222"/>
            </a:avLst>
          </a:prstGeom>
          <a:solidFill>
            <a:srgbClr val="E8890C"/>
          </a:solidFill>
          <a:ln w="12700">
            <a:solidFill>
              <a:srgbClr val="E8890C"/>
            </a:solidFill>
            <a:prstDash val="solid"/>
          </a:ln>
        </p:spPr>
      </p:sp>
      <p:sp>
        <p:nvSpPr>
          <p:cNvPr id="18" name="Text 14"/>
          <p:cNvSpPr txBox="1"/>
          <p:nvPr/>
        </p:nvSpPr>
        <p:spPr>
          <a:xfrm>
            <a:off x="4617720" y="5486400"/>
            <a:ext cx="28803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Cumplido · en mejora</a:t>
            </a:r>
            <a:endParaRPr lang="en-US" sz="1100" dirty="0"/>
          </a:p>
        </p:txBody>
      </p:sp>
      <p:sp>
        <p:nvSpPr>
          <p:cNvPr id="19" name="Shape 15"/>
          <p:cNvSpPr/>
          <p:nvPr/>
        </p:nvSpPr>
        <p:spPr>
          <a:xfrm>
            <a:off x="8046720" y="3291840"/>
            <a:ext cx="3429000" cy="2834640"/>
          </a:xfrm>
          <a:prstGeom prst="roundRect">
            <a:avLst>
              <a:gd name="adj" fmla="val 3871"/>
            </a:avLst>
          </a:prstGeom>
          <a:solidFill>
            <a:srgbClr val="FFFFFF"/>
          </a:solidFill>
          <a:ln w="12700">
            <a:solidFill>
              <a:srgbClr val="FFFFFF"/>
            </a:solidFill>
            <a:prstDash val="solid"/>
          </a:ln>
        </p:spPr>
      </p:sp>
      <p:sp>
        <p:nvSpPr>
          <p:cNvPr id="20" name="Shape 16"/>
          <p:cNvSpPr/>
          <p:nvPr/>
        </p:nvSpPr>
        <p:spPr>
          <a:xfrm>
            <a:off x="8046720" y="3291840"/>
            <a:ext cx="3429000" cy="2834640"/>
          </a:xfrm>
          <a:prstGeom prst="roundRect">
            <a:avLst>
              <a:gd name="adj" fmla="val 3871"/>
            </a:avLst>
          </a:prstGeom>
          <a:solidFill>
            <a:srgbClr val="FFFFFF"/>
          </a:solidFill>
          <a:ln w="12700">
            <a:solidFill>
              <a:srgbClr val="D5DEE8"/>
            </a:solidFill>
            <a:prstDash val="solid"/>
          </a:ln>
        </p:spPr>
      </p:sp>
      <p:sp>
        <p:nvSpPr>
          <p:cNvPr id="21" name="Shape 17"/>
          <p:cNvSpPr/>
          <p:nvPr/>
        </p:nvSpPr>
        <p:spPr>
          <a:xfrm>
            <a:off x="8321040" y="3520440"/>
            <a:ext cx="685800" cy="685800"/>
          </a:xfrm>
          <a:prstGeom prst="ellipse">
            <a:avLst/>
          </a:prstGeom>
          <a:solidFill>
            <a:srgbClr val="1B6FA8"/>
          </a:solidFill>
          <a:ln w="12700">
            <a:solidFill>
              <a:srgbClr val="1B6FA8"/>
            </a:solidFill>
            <a:prstDash val="solid"/>
          </a:ln>
        </p:spPr>
      </p:sp>
      <p:pic>
        <p:nvPicPr>
          <p:cNvPr id="22" name="Image 2" descr="preencoded.png">    </p:cNvPr>
          <p:cNvPicPr>
            <a:picLocks noChangeAspect="1"/>
          </p:cNvPicPr>
          <p:nvPr/>
        </p:nvPicPr>
        <p:blipFill>
          <a:blip r:embed="rId4"/>
          <a:stretch>
            <a:fillRect/>
          </a:stretch>
        </p:blipFill>
        <p:spPr>
          <a:xfrm>
            <a:off x="8485632" y="3685032"/>
            <a:ext cx="356616" cy="356616"/>
          </a:xfrm>
          <a:prstGeom prst="rect">
            <a:avLst/>
          </a:prstGeom>
        </p:spPr>
      </p:pic>
      <p:sp>
        <p:nvSpPr>
          <p:cNvPr id="23" name="Text 18"/>
          <p:cNvSpPr txBox="1"/>
          <p:nvPr/>
        </p:nvSpPr>
        <p:spPr>
          <a:xfrm>
            <a:off x="8321040" y="4389120"/>
            <a:ext cx="2926080" cy="1005840"/>
          </a:xfrm>
          <a:prstGeom prst="rect">
            <a:avLst/>
          </a:prstGeom>
          <a:noFill/>
          <a:ln/>
        </p:spPr>
        <p:txBody>
          <a:bodyPr wrap="square" lIns="0" tIns="0" rIns="0" bIns="0" rtlCol="0" anchor="t"/>
          <a:lstStyle/>
          <a:p>
            <a:pPr indent="0" marL="0">
              <a:buNone/>
            </a:pPr>
            <a:r>
              <a:rPr lang="en-US" sz="1600" b="1" dirty="0">
                <a:solidFill>
                  <a:srgbClr val="222222"/>
                </a:solidFill>
                <a:latin typeface="Tahoma" pitchFamily="34" charset="0"/>
                <a:ea typeface="Tahoma" pitchFamily="34" charset="-122"/>
                <a:cs typeface="Tahoma" pitchFamily="34" charset="-120"/>
              </a:rPr>
              <a:t>Integrar el asistente con ElectriSys</a:t>
            </a:r>
            <a:endParaRPr lang="en-US" sz="1600" dirty="0"/>
          </a:p>
        </p:txBody>
      </p:sp>
      <p:sp>
        <p:nvSpPr>
          <p:cNvPr id="24" name="Shape 19"/>
          <p:cNvSpPr/>
          <p:nvPr/>
        </p:nvSpPr>
        <p:spPr>
          <a:xfrm>
            <a:off x="8321040" y="5486400"/>
            <a:ext cx="2880360" cy="411480"/>
          </a:xfrm>
          <a:prstGeom prst="roundRect">
            <a:avLst>
              <a:gd name="adj" fmla="val 22222"/>
            </a:avLst>
          </a:prstGeom>
          <a:solidFill>
            <a:srgbClr val="E8890C"/>
          </a:solidFill>
          <a:ln w="12700">
            <a:solidFill>
              <a:srgbClr val="E8890C"/>
            </a:solidFill>
            <a:prstDash val="solid"/>
          </a:ln>
        </p:spPr>
      </p:sp>
      <p:sp>
        <p:nvSpPr>
          <p:cNvPr id="25" name="Text 20"/>
          <p:cNvSpPr txBox="1"/>
          <p:nvPr/>
        </p:nvSpPr>
        <p:spPr>
          <a:xfrm>
            <a:off x="8321040" y="5486400"/>
            <a:ext cx="28803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Cumplido · en ampliación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Equipo y roles</a:t>
            </a:r>
            <a:endParaRPr lang="en-US" sz="2800" dirty="0"/>
          </a:p>
        </p:txBody>
      </p:sp>
      <p:sp>
        <p:nvSpPr>
          <p:cNvPr id="3" name="Shape 1"/>
          <p:cNvSpPr/>
          <p:nvPr/>
        </p:nvSpPr>
        <p:spPr>
          <a:xfrm>
            <a:off x="640080" y="1828800"/>
            <a:ext cx="3429000" cy="4206240"/>
          </a:xfrm>
          <a:prstGeom prst="roundRect">
            <a:avLst>
              <a:gd name="adj" fmla="val 3200"/>
            </a:avLst>
          </a:prstGeom>
          <a:solidFill>
            <a:srgbClr val="EEF4FA"/>
          </a:solidFill>
          <a:ln w="12700">
            <a:solidFill>
              <a:srgbClr val="EEF4FA"/>
            </a:solidFill>
            <a:prstDash val="solid"/>
          </a:ln>
        </p:spPr>
      </p:sp>
      <p:sp>
        <p:nvSpPr>
          <p:cNvPr id="4" name="Shape 2"/>
          <p:cNvSpPr/>
          <p:nvPr/>
        </p:nvSpPr>
        <p:spPr>
          <a:xfrm>
            <a:off x="1828800" y="2148840"/>
            <a:ext cx="1051560" cy="1051560"/>
          </a:xfrm>
          <a:prstGeom prst="ellipse">
            <a:avLst/>
          </a:prstGeom>
          <a:solidFill>
            <a:srgbClr val="0E4C7C"/>
          </a:solidFill>
          <a:ln w="12700">
            <a:solidFill>
              <a:srgbClr val="0E4C7C"/>
            </a:solidFill>
            <a:prstDash val="solid"/>
          </a:ln>
        </p:spPr>
      </p:sp>
      <p:pic>
        <p:nvPicPr>
          <p:cNvPr id="5" name="Image 0" descr="preencoded.png">    </p:cNvPr>
          <p:cNvPicPr>
            <a:picLocks noChangeAspect="1"/>
          </p:cNvPicPr>
          <p:nvPr/>
        </p:nvPicPr>
        <p:blipFill>
          <a:blip r:embed="rId2"/>
          <a:stretch>
            <a:fillRect/>
          </a:stretch>
        </p:blipFill>
        <p:spPr>
          <a:xfrm>
            <a:off x="2081174" y="2401214"/>
            <a:ext cx="546811" cy="546811"/>
          </a:xfrm>
          <a:prstGeom prst="rect">
            <a:avLst/>
          </a:prstGeom>
        </p:spPr>
      </p:pic>
      <p:sp>
        <p:nvSpPr>
          <p:cNvPr id="6" name="Text 3"/>
          <p:cNvSpPr txBox="1"/>
          <p:nvPr/>
        </p:nvSpPr>
        <p:spPr>
          <a:xfrm>
            <a:off x="822960" y="3429000"/>
            <a:ext cx="3063240" cy="457200"/>
          </a:xfrm>
          <a:prstGeom prst="rect">
            <a:avLst/>
          </a:prstGeom>
          <a:noFill/>
          <a:ln/>
        </p:spPr>
        <p:txBody>
          <a:bodyPr wrap="square" lIns="0" tIns="0" rIns="0" bIns="0" rtlCol="0" anchor="t"/>
          <a:lstStyle/>
          <a:p>
            <a:pPr algn="ctr" indent="0" marL="0">
              <a:buNone/>
            </a:pPr>
            <a:r>
              <a:rPr lang="en-US" sz="2000" b="1" dirty="0">
                <a:solidFill>
                  <a:srgbClr val="0E4C7C"/>
                </a:solidFill>
                <a:latin typeface="Tahoma" pitchFamily="34" charset="0"/>
                <a:ea typeface="Tahoma" pitchFamily="34" charset="-122"/>
                <a:cs typeface="Tahoma" pitchFamily="34" charset="-120"/>
              </a:rPr>
              <a:t>Cristian Pesillo</a:t>
            </a:r>
            <a:endParaRPr lang="en-US" sz="2000" dirty="0"/>
          </a:p>
        </p:txBody>
      </p:sp>
      <p:sp>
        <p:nvSpPr>
          <p:cNvPr id="7" name="Text 4"/>
          <p:cNvSpPr txBox="1"/>
          <p:nvPr/>
        </p:nvSpPr>
        <p:spPr>
          <a:xfrm>
            <a:off x="822960" y="3931920"/>
            <a:ext cx="3063240" cy="365760"/>
          </a:xfrm>
          <a:prstGeom prst="rect">
            <a:avLst/>
          </a:prstGeom>
          <a:noFill/>
          <a:ln/>
        </p:spPr>
        <p:txBody>
          <a:bodyPr wrap="square" lIns="0" tIns="0" rIns="0" bIns="0" rtlCol="0" anchor="t"/>
          <a:lstStyle/>
          <a:p>
            <a:pPr algn="ctr" indent="0" marL="0">
              <a:buNone/>
            </a:pPr>
            <a:r>
              <a:rPr lang="en-US" sz="1500" b="1" dirty="0">
                <a:solidFill>
                  <a:srgbClr val="E8890C"/>
                </a:solidFill>
                <a:latin typeface="Tahoma" pitchFamily="34" charset="0"/>
                <a:ea typeface="Tahoma" pitchFamily="34" charset="-122"/>
                <a:cs typeface="Tahoma" pitchFamily="34" charset="-120"/>
              </a:rPr>
              <a:t>Scrum Master</a:t>
            </a:r>
            <a:endParaRPr lang="en-US" sz="1500" dirty="0"/>
          </a:p>
        </p:txBody>
      </p:sp>
      <p:sp>
        <p:nvSpPr>
          <p:cNvPr id="8" name="Text 5"/>
          <p:cNvSpPr txBox="1"/>
          <p:nvPr/>
        </p:nvSpPr>
        <p:spPr>
          <a:xfrm>
            <a:off x="914400" y="4480560"/>
            <a:ext cx="2880360" cy="1280160"/>
          </a:xfrm>
          <a:prstGeom prst="rect">
            <a:avLst/>
          </a:prstGeom>
          <a:noFill/>
          <a:ln/>
        </p:spPr>
        <p:txBody>
          <a:bodyPr wrap="square" lIns="0" tIns="0" rIns="0" bIns="0" rtlCol="0" anchor="t"/>
          <a:lstStyle/>
          <a:p>
            <a:pPr algn="ctr" indent="0" marL="0">
              <a:buNone/>
            </a:pPr>
            <a:r>
              <a:rPr lang="en-US" sz="1500" dirty="0">
                <a:solidFill>
                  <a:srgbClr val="222222"/>
                </a:solidFill>
                <a:latin typeface="Tahoma" pitchFamily="34" charset="0"/>
                <a:ea typeface="Tahoma" pitchFamily="34" charset="-122"/>
                <a:cs typeface="Tahoma" pitchFamily="34" charset="-120"/>
              </a:rPr>
              <a:t>Backend, integración y despliegue en Azure</a:t>
            </a:r>
            <a:endParaRPr lang="en-US" sz="1500" dirty="0"/>
          </a:p>
        </p:txBody>
      </p:sp>
      <p:sp>
        <p:nvSpPr>
          <p:cNvPr id="9" name="Shape 6"/>
          <p:cNvSpPr/>
          <p:nvPr/>
        </p:nvSpPr>
        <p:spPr>
          <a:xfrm>
            <a:off x="4343400" y="1828800"/>
            <a:ext cx="3429000" cy="4206240"/>
          </a:xfrm>
          <a:prstGeom prst="roundRect">
            <a:avLst>
              <a:gd name="adj" fmla="val 3200"/>
            </a:avLst>
          </a:prstGeom>
          <a:solidFill>
            <a:srgbClr val="EEF4FA"/>
          </a:solidFill>
          <a:ln w="12700">
            <a:solidFill>
              <a:srgbClr val="EEF4FA"/>
            </a:solidFill>
            <a:prstDash val="solid"/>
          </a:ln>
        </p:spPr>
      </p:sp>
      <p:sp>
        <p:nvSpPr>
          <p:cNvPr id="10" name="Shape 7"/>
          <p:cNvSpPr/>
          <p:nvPr/>
        </p:nvSpPr>
        <p:spPr>
          <a:xfrm>
            <a:off x="5532120" y="2148840"/>
            <a:ext cx="1051560" cy="1051560"/>
          </a:xfrm>
          <a:prstGeom prst="ellipse">
            <a:avLst/>
          </a:prstGeom>
          <a:solidFill>
            <a:srgbClr val="0E4C7C"/>
          </a:solidFill>
          <a:ln w="12700">
            <a:solidFill>
              <a:srgbClr val="0E4C7C"/>
            </a:solidFill>
            <a:prstDash val="solid"/>
          </a:ln>
        </p:spPr>
      </p:sp>
      <p:pic>
        <p:nvPicPr>
          <p:cNvPr id="11" name="Image 1" descr="preencoded.png">    </p:cNvPr>
          <p:cNvPicPr>
            <a:picLocks noChangeAspect="1"/>
          </p:cNvPicPr>
          <p:nvPr/>
        </p:nvPicPr>
        <p:blipFill>
          <a:blip r:embed="rId3"/>
          <a:stretch>
            <a:fillRect/>
          </a:stretch>
        </p:blipFill>
        <p:spPr>
          <a:xfrm>
            <a:off x="5784494" y="2401214"/>
            <a:ext cx="546811" cy="546811"/>
          </a:xfrm>
          <a:prstGeom prst="rect">
            <a:avLst/>
          </a:prstGeom>
        </p:spPr>
      </p:pic>
      <p:sp>
        <p:nvSpPr>
          <p:cNvPr id="12" name="Text 8"/>
          <p:cNvSpPr txBox="1"/>
          <p:nvPr/>
        </p:nvSpPr>
        <p:spPr>
          <a:xfrm>
            <a:off x="4526280" y="3429000"/>
            <a:ext cx="3063240" cy="457200"/>
          </a:xfrm>
          <a:prstGeom prst="rect">
            <a:avLst/>
          </a:prstGeom>
          <a:noFill/>
          <a:ln/>
        </p:spPr>
        <p:txBody>
          <a:bodyPr wrap="square" lIns="0" tIns="0" rIns="0" bIns="0" rtlCol="0" anchor="t"/>
          <a:lstStyle/>
          <a:p>
            <a:pPr algn="ctr" indent="0" marL="0">
              <a:buNone/>
            </a:pPr>
            <a:r>
              <a:rPr lang="en-US" sz="2000" b="1" dirty="0">
                <a:solidFill>
                  <a:srgbClr val="0E4C7C"/>
                </a:solidFill>
                <a:latin typeface="Tahoma" pitchFamily="34" charset="0"/>
                <a:ea typeface="Tahoma" pitchFamily="34" charset="-122"/>
                <a:cs typeface="Tahoma" pitchFamily="34" charset="-120"/>
              </a:rPr>
              <a:t>Jaider Cardona</a:t>
            </a:r>
            <a:endParaRPr lang="en-US" sz="2000" dirty="0"/>
          </a:p>
        </p:txBody>
      </p:sp>
      <p:sp>
        <p:nvSpPr>
          <p:cNvPr id="13" name="Text 9"/>
          <p:cNvSpPr txBox="1"/>
          <p:nvPr/>
        </p:nvSpPr>
        <p:spPr>
          <a:xfrm>
            <a:off x="4526280" y="3931920"/>
            <a:ext cx="3063240" cy="365760"/>
          </a:xfrm>
          <a:prstGeom prst="rect">
            <a:avLst/>
          </a:prstGeom>
          <a:noFill/>
          <a:ln/>
        </p:spPr>
        <p:txBody>
          <a:bodyPr wrap="square" lIns="0" tIns="0" rIns="0" bIns="0" rtlCol="0" anchor="t"/>
          <a:lstStyle/>
          <a:p>
            <a:pPr algn="ctr" indent="0" marL="0">
              <a:buNone/>
            </a:pPr>
            <a:r>
              <a:rPr lang="en-US" sz="1500" b="1" dirty="0">
                <a:solidFill>
                  <a:srgbClr val="E8890C"/>
                </a:solidFill>
                <a:latin typeface="Tahoma" pitchFamily="34" charset="0"/>
                <a:ea typeface="Tahoma" pitchFamily="34" charset="-122"/>
                <a:cs typeface="Tahoma" pitchFamily="34" charset="-120"/>
              </a:rPr>
              <a:t>Product Owner</a:t>
            </a:r>
            <a:endParaRPr lang="en-US" sz="1500" dirty="0"/>
          </a:p>
        </p:txBody>
      </p:sp>
      <p:sp>
        <p:nvSpPr>
          <p:cNvPr id="14" name="Text 10"/>
          <p:cNvSpPr txBox="1"/>
          <p:nvPr/>
        </p:nvSpPr>
        <p:spPr>
          <a:xfrm>
            <a:off x="4617720" y="4480560"/>
            <a:ext cx="2880360" cy="1280160"/>
          </a:xfrm>
          <a:prstGeom prst="rect">
            <a:avLst/>
          </a:prstGeom>
          <a:noFill/>
          <a:ln/>
        </p:spPr>
        <p:txBody>
          <a:bodyPr wrap="square" lIns="0" tIns="0" rIns="0" bIns="0" rtlCol="0" anchor="t"/>
          <a:lstStyle/>
          <a:p>
            <a:pPr algn="ctr" indent="0" marL="0">
              <a:buNone/>
            </a:pPr>
            <a:r>
              <a:rPr lang="en-US" sz="1500" dirty="0">
                <a:solidFill>
                  <a:srgbClr val="222222"/>
                </a:solidFill>
                <a:latin typeface="Tahoma" pitchFamily="34" charset="0"/>
                <a:ea typeface="Tahoma" pitchFamily="34" charset="-122"/>
                <a:cs typeface="Tahoma" pitchFamily="34" charset="-120"/>
              </a:rPr>
              <a:t>Modelo NLP: dataset, entrenamiento, NER y evaluación</a:t>
            </a:r>
            <a:endParaRPr lang="en-US" sz="1500" dirty="0"/>
          </a:p>
        </p:txBody>
      </p:sp>
      <p:sp>
        <p:nvSpPr>
          <p:cNvPr id="15" name="Shape 11"/>
          <p:cNvSpPr/>
          <p:nvPr/>
        </p:nvSpPr>
        <p:spPr>
          <a:xfrm>
            <a:off x="8046720" y="1828800"/>
            <a:ext cx="3429000" cy="4206240"/>
          </a:xfrm>
          <a:prstGeom prst="roundRect">
            <a:avLst>
              <a:gd name="adj" fmla="val 3200"/>
            </a:avLst>
          </a:prstGeom>
          <a:solidFill>
            <a:srgbClr val="EEF4FA"/>
          </a:solidFill>
          <a:ln w="12700">
            <a:solidFill>
              <a:srgbClr val="EEF4FA"/>
            </a:solidFill>
            <a:prstDash val="solid"/>
          </a:ln>
        </p:spPr>
      </p:sp>
      <p:sp>
        <p:nvSpPr>
          <p:cNvPr id="16" name="Shape 12"/>
          <p:cNvSpPr/>
          <p:nvPr/>
        </p:nvSpPr>
        <p:spPr>
          <a:xfrm>
            <a:off x="9235440" y="2148840"/>
            <a:ext cx="1051560" cy="1051560"/>
          </a:xfrm>
          <a:prstGeom prst="ellipse">
            <a:avLst/>
          </a:prstGeom>
          <a:solidFill>
            <a:srgbClr val="0E4C7C"/>
          </a:solidFill>
          <a:ln w="12700">
            <a:solidFill>
              <a:srgbClr val="0E4C7C"/>
            </a:solidFill>
            <a:prstDash val="solid"/>
          </a:ln>
        </p:spPr>
      </p:sp>
      <p:pic>
        <p:nvPicPr>
          <p:cNvPr id="17" name="Image 2" descr="preencoded.png">    </p:cNvPr>
          <p:cNvPicPr>
            <a:picLocks noChangeAspect="1"/>
          </p:cNvPicPr>
          <p:nvPr/>
        </p:nvPicPr>
        <p:blipFill>
          <a:blip r:embed="rId4"/>
          <a:stretch>
            <a:fillRect/>
          </a:stretch>
        </p:blipFill>
        <p:spPr>
          <a:xfrm>
            <a:off x="9487814" y="2401214"/>
            <a:ext cx="546811" cy="546811"/>
          </a:xfrm>
          <a:prstGeom prst="rect">
            <a:avLst/>
          </a:prstGeom>
        </p:spPr>
      </p:pic>
      <p:sp>
        <p:nvSpPr>
          <p:cNvPr id="18" name="Text 13"/>
          <p:cNvSpPr txBox="1"/>
          <p:nvPr/>
        </p:nvSpPr>
        <p:spPr>
          <a:xfrm>
            <a:off x="8229600" y="3429000"/>
            <a:ext cx="3063240" cy="457200"/>
          </a:xfrm>
          <a:prstGeom prst="rect">
            <a:avLst/>
          </a:prstGeom>
          <a:noFill/>
          <a:ln/>
        </p:spPr>
        <p:txBody>
          <a:bodyPr wrap="square" lIns="0" tIns="0" rIns="0" bIns="0" rtlCol="0" anchor="t"/>
          <a:lstStyle/>
          <a:p>
            <a:pPr algn="ctr" indent="0" marL="0">
              <a:buNone/>
            </a:pPr>
            <a:r>
              <a:rPr lang="en-US" sz="2000" b="1" dirty="0">
                <a:solidFill>
                  <a:srgbClr val="0E4C7C"/>
                </a:solidFill>
                <a:latin typeface="Tahoma" pitchFamily="34" charset="0"/>
                <a:ea typeface="Tahoma" pitchFamily="34" charset="-122"/>
                <a:cs typeface="Tahoma" pitchFamily="34" charset="-120"/>
              </a:rPr>
              <a:t>Laura Zamora</a:t>
            </a:r>
            <a:endParaRPr lang="en-US" sz="2000" dirty="0"/>
          </a:p>
        </p:txBody>
      </p:sp>
      <p:sp>
        <p:nvSpPr>
          <p:cNvPr id="19" name="Text 14"/>
          <p:cNvSpPr txBox="1"/>
          <p:nvPr/>
        </p:nvSpPr>
        <p:spPr>
          <a:xfrm>
            <a:off x="8229600" y="3931920"/>
            <a:ext cx="3063240" cy="365760"/>
          </a:xfrm>
          <a:prstGeom prst="rect">
            <a:avLst/>
          </a:prstGeom>
          <a:noFill/>
          <a:ln/>
        </p:spPr>
        <p:txBody>
          <a:bodyPr wrap="square" lIns="0" tIns="0" rIns="0" bIns="0" rtlCol="0" anchor="t"/>
          <a:lstStyle/>
          <a:p>
            <a:pPr algn="ctr" indent="0" marL="0">
              <a:buNone/>
            </a:pPr>
            <a:r>
              <a:rPr lang="en-US" sz="1500" b="1" dirty="0">
                <a:solidFill>
                  <a:srgbClr val="E8890C"/>
                </a:solidFill>
                <a:latin typeface="Tahoma" pitchFamily="34" charset="0"/>
                <a:ea typeface="Tahoma" pitchFamily="34" charset="-122"/>
                <a:cs typeface="Tahoma" pitchFamily="34" charset="-120"/>
              </a:rPr>
              <a:t>Equipo de desarrollo</a:t>
            </a:r>
            <a:endParaRPr lang="en-US" sz="1500" dirty="0"/>
          </a:p>
        </p:txBody>
      </p:sp>
      <p:sp>
        <p:nvSpPr>
          <p:cNvPr id="20" name="Text 15"/>
          <p:cNvSpPr txBox="1"/>
          <p:nvPr/>
        </p:nvSpPr>
        <p:spPr>
          <a:xfrm>
            <a:off x="8321040" y="4480560"/>
            <a:ext cx="2880360" cy="1280160"/>
          </a:xfrm>
          <a:prstGeom prst="rect">
            <a:avLst/>
          </a:prstGeom>
          <a:noFill/>
          <a:ln/>
        </p:spPr>
        <p:txBody>
          <a:bodyPr wrap="square" lIns="0" tIns="0" rIns="0" bIns="0" rtlCol="0" anchor="t"/>
          <a:lstStyle/>
          <a:p>
            <a:pPr algn="ctr" indent="0" marL="0">
              <a:buNone/>
            </a:pPr>
            <a:r>
              <a:rPr lang="en-US" sz="1500" dirty="0">
                <a:solidFill>
                  <a:srgbClr val="222222"/>
                </a:solidFill>
                <a:latin typeface="Tahoma" pitchFamily="34" charset="0"/>
                <a:ea typeface="Tahoma" pitchFamily="34" charset="-122"/>
                <a:cs typeface="Tahoma" pitchFamily="34" charset="-120"/>
              </a:rPr>
              <a:t>Frontend, pruebas y documentación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Metodología: Scrum adaptado</a:t>
            </a:r>
            <a:endParaRPr lang="en-US" sz="2800" dirty="0"/>
          </a:p>
        </p:txBody>
      </p:sp>
      <p:sp>
        <p:nvSpPr>
          <p:cNvPr id="3" name="Shape 1"/>
          <p:cNvSpPr/>
          <p:nvPr/>
        </p:nvSpPr>
        <p:spPr>
          <a:xfrm>
            <a:off x="548640" y="1920240"/>
            <a:ext cx="2468880" cy="3108960"/>
          </a:xfrm>
          <a:prstGeom prst="roundRect">
            <a:avLst>
              <a:gd name="adj" fmla="val 4444"/>
            </a:avLst>
          </a:prstGeom>
          <a:solidFill>
            <a:srgbClr val="EEF4FA"/>
          </a:solidFill>
          <a:ln w="12700">
            <a:solidFill>
              <a:srgbClr val="EEF4FA"/>
            </a:solidFill>
            <a:prstDash val="solid"/>
          </a:ln>
        </p:spPr>
      </p:sp>
      <p:sp>
        <p:nvSpPr>
          <p:cNvPr id="4" name="Shape 2"/>
          <p:cNvSpPr/>
          <p:nvPr/>
        </p:nvSpPr>
        <p:spPr>
          <a:xfrm>
            <a:off x="1371600" y="2148840"/>
            <a:ext cx="822960" cy="822960"/>
          </a:xfrm>
          <a:prstGeom prst="ellipse">
            <a:avLst/>
          </a:prstGeom>
          <a:solidFill>
            <a:srgbClr val="1B6FA8"/>
          </a:solidFill>
          <a:ln w="12700">
            <a:solidFill>
              <a:srgbClr val="1B6FA8"/>
            </a:solidFill>
            <a:prstDash val="solid"/>
          </a:ln>
        </p:spPr>
      </p:sp>
      <p:pic>
        <p:nvPicPr>
          <p:cNvPr id="5" name="Image 0" descr="preencoded.png">    </p:cNvPr>
          <p:cNvPicPr>
            <a:picLocks noChangeAspect="1"/>
          </p:cNvPicPr>
          <p:nvPr/>
        </p:nvPicPr>
        <p:blipFill>
          <a:blip r:embed="rId2"/>
          <a:stretch>
            <a:fillRect/>
          </a:stretch>
        </p:blipFill>
        <p:spPr>
          <a:xfrm>
            <a:off x="1569110" y="2346350"/>
            <a:ext cx="427939" cy="427939"/>
          </a:xfrm>
          <a:prstGeom prst="rect">
            <a:avLst/>
          </a:prstGeom>
        </p:spPr>
      </p:pic>
      <p:sp>
        <p:nvSpPr>
          <p:cNvPr id="6" name="Text 3"/>
          <p:cNvSpPr txBox="1"/>
          <p:nvPr/>
        </p:nvSpPr>
        <p:spPr>
          <a:xfrm>
            <a:off x="685800" y="3154680"/>
            <a:ext cx="2194560" cy="457200"/>
          </a:xfrm>
          <a:prstGeom prst="rect">
            <a:avLst/>
          </a:prstGeom>
          <a:noFill/>
          <a:ln/>
        </p:spPr>
        <p:txBody>
          <a:bodyPr wrap="square" lIns="0" tIns="0" rIns="0" bIns="0" rtlCol="0" anchor="t"/>
          <a:lstStyle/>
          <a:p>
            <a:pPr algn="ctr" indent="0" marL="0">
              <a:buNone/>
            </a:pPr>
            <a:r>
              <a:rPr lang="en-US" sz="1600" b="1" dirty="0">
                <a:solidFill>
                  <a:srgbClr val="0E4C7C"/>
                </a:solidFill>
                <a:latin typeface="Tahoma" pitchFamily="34" charset="0"/>
                <a:ea typeface="Tahoma" pitchFamily="34" charset="-122"/>
                <a:cs typeface="Tahoma" pitchFamily="34" charset="-120"/>
              </a:rPr>
              <a:t>1. Planeación</a:t>
            </a:r>
            <a:endParaRPr lang="en-US" sz="1600" dirty="0"/>
          </a:p>
        </p:txBody>
      </p:sp>
      <p:sp>
        <p:nvSpPr>
          <p:cNvPr id="7" name="Text 4"/>
          <p:cNvSpPr txBox="1"/>
          <p:nvPr/>
        </p:nvSpPr>
        <p:spPr>
          <a:xfrm>
            <a:off x="731520" y="3657600"/>
            <a:ext cx="2103120" cy="1188720"/>
          </a:xfrm>
          <a:prstGeom prst="rect">
            <a:avLst/>
          </a:prstGeom>
          <a:noFill/>
          <a:ln/>
        </p:spPr>
        <p:txBody>
          <a:bodyPr wrap="square" lIns="0" tIns="0" rIns="0" bIns="0" rtlCol="0" anchor="t"/>
          <a:lstStyle/>
          <a:p>
            <a:pPr algn="ctr" indent="0" marL="0">
              <a:buNone/>
            </a:pPr>
            <a:r>
              <a:rPr lang="en-US" sz="1400" dirty="0">
                <a:solidFill>
                  <a:srgbClr val="222222"/>
                </a:solidFill>
                <a:latin typeface="Tahoma" pitchFamily="34" charset="0"/>
                <a:ea typeface="Tahoma" pitchFamily="34" charset="-122"/>
                <a:cs typeface="Tahoma" pitchFamily="34" charset="-120"/>
              </a:rPr>
              <a:t>Se eligen las tareas del sprint y su criterio de terminado</a:t>
            </a:r>
            <a:endParaRPr lang="en-US" sz="1400" dirty="0"/>
          </a:p>
        </p:txBody>
      </p:sp>
      <p:sp>
        <p:nvSpPr>
          <p:cNvPr id="8" name="Shape 5"/>
          <p:cNvSpPr/>
          <p:nvPr/>
        </p:nvSpPr>
        <p:spPr>
          <a:xfrm>
            <a:off x="3063240" y="3291840"/>
            <a:ext cx="274320" cy="365760"/>
          </a:xfrm>
          <a:prstGeom prst="rightArrow">
            <a:avLst/>
          </a:prstGeom>
          <a:solidFill>
            <a:srgbClr val="5A5A5A"/>
          </a:solidFill>
          <a:ln w="12700">
            <a:solidFill>
              <a:srgbClr val="5A5A5A"/>
            </a:solidFill>
            <a:prstDash val="solid"/>
          </a:ln>
        </p:spPr>
      </p:sp>
      <p:sp>
        <p:nvSpPr>
          <p:cNvPr id="9" name="Shape 6"/>
          <p:cNvSpPr/>
          <p:nvPr/>
        </p:nvSpPr>
        <p:spPr>
          <a:xfrm>
            <a:off x="3383280" y="1920240"/>
            <a:ext cx="2468880" cy="3108960"/>
          </a:xfrm>
          <a:prstGeom prst="roundRect">
            <a:avLst>
              <a:gd name="adj" fmla="val 4444"/>
            </a:avLst>
          </a:prstGeom>
          <a:solidFill>
            <a:srgbClr val="EEF4FA"/>
          </a:solidFill>
          <a:ln w="12700">
            <a:solidFill>
              <a:srgbClr val="EEF4FA"/>
            </a:solidFill>
            <a:prstDash val="solid"/>
          </a:ln>
        </p:spPr>
      </p:sp>
      <p:sp>
        <p:nvSpPr>
          <p:cNvPr id="10" name="Shape 7"/>
          <p:cNvSpPr/>
          <p:nvPr/>
        </p:nvSpPr>
        <p:spPr>
          <a:xfrm>
            <a:off x="4206240" y="2148840"/>
            <a:ext cx="822960" cy="822960"/>
          </a:xfrm>
          <a:prstGeom prst="ellipse">
            <a:avLst/>
          </a:prstGeom>
          <a:solidFill>
            <a:srgbClr val="1B6FA8"/>
          </a:solidFill>
          <a:ln w="12700">
            <a:solidFill>
              <a:srgbClr val="1B6FA8"/>
            </a:solidFill>
            <a:prstDash val="solid"/>
          </a:ln>
        </p:spPr>
      </p:sp>
      <p:pic>
        <p:nvPicPr>
          <p:cNvPr id="11" name="Image 1" descr="preencoded.png">    </p:cNvPr>
          <p:cNvPicPr>
            <a:picLocks noChangeAspect="1"/>
          </p:cNvPicPr>
          <p:nvPr/>
        </p:nvPicPr>
        <p:blipFill>
          <a:blip r:embed="rId3"/>
          <a:stretch>
            <a:fillRect/>
          </a:stretch>
        </p:blipFill>
        <p:spPr>
          <a:xfrm>
            <a:off x="4403750" y="2346350"/>
            <a:ext cx="427939" cy="427939"/>
          </a:xfrm>
          <a:prstGeom prst="rect">
            <a:avLst/>
          </a:prstGeom>
        </p:spPr>
      </p:pic>
      <p:sp>
        <p:nvSpPr>
          <p:cNvPr id="12" name="Text 8"/>
          <p:cNvSpPr txBox="1"/>
          <p:nvPr/>
        </p:nvSpPr>
        <p:spPr>
          <a:xfrm>
            <a:off x="3520440" y="3154680"/>
            <a:ext cx="2194560" cy="457200"/>
          </a:xfrm>
          <a:prstGeom prst="rect">
            <a:avLst/>
          </a:prstGeom>
          <a:noFill/>
          <a:ln/>
        </p:spPr>
        <p:txBody>
          <a:bodyPr wrap="square" lIns="0" tIns="0" rIns="0" bIns="0" rtlCol="0" anchor="t"/>
          <a:lstStyle/>
          <a:p>
            <a:pPr algn="ctr" indent="0" marL="0">
              <a:buNone/>
            </a:pPr>
            <a:r>
              <a:rPr lang="en-US" sz="1600" b="1" dirty="0">
                <a:solidFill>
                  <a:srgbClr val="0E4C7C"/>
                </a:solidFill>
                <a:latin typeface="Tahoma" pitchFamily="34" charset="0"/>
                <a:ea typeface="Tahoma" pitchFamily="34" charset="-122"/>
                <a:cs typeface="Tahoma" pitchFamily="34" charset="-120"/>
              </a:rPr>
              <a:t>2. Desarrollo</a:t>
            </a:r>
            <a:endParaRPr lang="en-US" sz="1600" dirty="0"/>
          </a:p>
        </p:txBody>
      </p:sp>
      <p:sp>
        <p:nvSpPr>
          <p:cNvPr id="13" name="Text 9"/>
          <p:cNvSpPr txBox="1"/>
          <p:nvPr/>
        </p:nvSpPr>
        <p:spPr>
          <a:xfrm>
            <a:off x="3566160" y="3657600"/>
            <a:ext cx="2103120" cy="1188720"/>
          </a:xfrm>
          <a:prstGeom prst="rect">
            <a:avLst/>
          </a:prstGeom>
          <a:noFill/>
          <a:ln/>
        </p:spPr>
        <p:txBody>
          <a:bodyPr wrap="square" lIns="0" tIns="0" rIns="0" bIns="0" rtlCol="0" anchor="t"/>
          <a:lstStyle/>
          <a:p>
            <a:pPr algn="ctr" indent="0" marL="0">
              <a:buNone/>
            </a:pPr>
            <a:r>
              <a:rPr lang="en-US" sz="1400" dirty="0">
                <a:solidFill>
                  <a:srgbClr val="222222"/>
                </a:solidFill>
                <a:latin typeface="Tahoma" pitchFamily="34" charset="0"/>
                <a:ea typeface="Tahoma" pitchFamily="34" charset="-122"/>
                <a:cs typeface="Tahoma" pitchFamily="34" charset="-120"/>
              </a:rPr>
              <a:t>Seguimiento corto durante la semana; código en GitHub</a:t>
            </a:r>
            <a:endParaRPr lang="en-US" sz="1400" dirty="0"/>
          </a:p>
        </p:txBody>
      </p:sp>
      <p:sp>
        <p:nvSpPr>
          <p:cNvPr id="14" name="Shape 10"/>
          <p:cNvSpPr/>
          <p:nvPr/>
        </p:nvSpPr>
        <p:spPr>
          <a:xfrm>
            <a:off x="5897880" y="3291840"/>
            <a:ext cx="274320" cy="365760"/>
          </a:xfrm>
          <a:prstGeom prst="rightArrow">
            <a:avLst/>
          </a:prstGeom>
          <a:solidFill>
            <a:srgbClr val="5A5A5A"/>
          </a:solidFill>
          <a:ln w="12700">
            <a:solidFill>
              <a:srgbClr val="5A5A5A"/>
            </a:solidFill>
            <a:prstDash val="solid"/>
          </a:ln>
        </p:spPr>
      </p:sp>
      <p:sp>
        <p:nvSpPr>
          <p:cNvPr id="15" name="Shape 11"/>
          <p:cNvSpPr/>
          <p:nvPr/>
        </p:nvSpPr>
        <p:spPr>
          <a:xfrm>
            <a:off x="6217920" y="1920240"/>
            <a:ext cx="2468880" cy="3108960"/>
          </a:xfrm>
          <a:prstGeom prst="roundRect">
            <a:avLst>
              <a:gd name="adj" fmla="val 4444"/>
            </a:avLst>
          </a:prstGeom>
          <a:solidFill>
            <a:srgbClr val="FDF1E0"/>
          </a:solidFill>
          <a:ln w="12700">
            <a:solidFill>
              <a:srgbClr val="FDF1E0"/>
            </a:solidFill>
            <a:prstDash val="solid"/>
          </a:ln>
        </p:spPr>
      </p:sp>
      <p:sp>
        <p:nvSpPr>
          <p:cNvPr id="16" name="Shape 12"/>
          <p:cNvSpPr/>
          <p:nvPr/>
        </p:nvSpPr>
        <p:spPr>
          <a:xfrm>
            <a:off x="7040880" y="2148840"/>
            <a:ext cx="822960" cy="822960"/>
          </a:xfrm>
          <a:prstGeom prst="ellipse">
            <a:avLst/>
          </a:prstGeom>
          <a:solidFill>
            <a:srgbClr val="E8890C"/>
          </a:solidFill>
          <a:ln w="12700">
            <a:solidFill>
              <a:srgbClr val="E8890C"/>
            </a:solidFill>
            <a:prstDash val="solid"/>
          </a:ln>
        </p:spPr>
      </p:sp>
      <p:pic>
        <p:nvPicPr>
          <p:cNvPr id="17" name="Image 2" descr="preencoded.png">    </p:cNvPr>
          <p:cNvPicPr>
            <a:picLocks noChangeAspect="1"/>
          </p:cNvPicPr>
          <p:nvPr/>
        </p:nvPicPr>
        <p:blipFill>
          <a:blip r:embed="rId4"/>
          <a:stretch>
            <a:fillRect/>
          </a:stretch>
        </p:blipFill>
        <p:spPr>
          <a:xfrm>
            <a:off x="7238390" y="2346350"/>
            <a:ext cx="427939" cy="427939"/>
          </a:xfrm>
          <a:prstGeom prst="rect">
            <a:avLst/>
          </a:prstGeom>
        </p:spPr>
      </p:pic>
      <p:sp>
        <p:nvSpPr>
          <p:cNvPr id="18" name="Text 13"/>
          <p:cNvSpPr txBox="1"/>
          <p:nvPr/>
        </p:nvSpPr>
        <p:spPr>
          <a:xfrm>
            <a:off x="6355080" y="3154680"/>
            <a:ext cx="2194560" cy="457200"/>
          </a:xfrm>
          <a:prstGeom prst="rect">
            <a:avLst/>
          </a:prstGeom>
          <a:noFill/>
          <a:ln/>
        </p:spPr>
        <p:txBody>
          <a:bodyPr wrap="square" lIns="0" tIns="0" rIns="0" bIns="0" rtlCol="0" anchor="t"/>
          <a:lstStyle/>
          <a:p>
            <a:pPr algn="ctr" indent="0" marL="0">
              <a:buNone/>
            </a:pPr>
            <a:r>
              <a:rPr lang="en-US" sz="1600" b="1" dirty="0">
                <a:solidFill>
                  <a:srgbClr val="0E4C7C"/>
                </a:solidFill>
                <a:latin typeface="Tahoma" pitchFamily="34" charset="0"/>
                <a:ea typeface="Tahoma" pitchFamily="34" charset="-122"/>
                <a:cs typeface="Tahoma" pitchFamily="34" charset="-120"/>
              </a:rPr>
              <a:t>3. Revisión y pruebas</a:t>
            </a:r>
            <a:endParaRPr lang="en-US" sz="1600" dirty="0"/>
          </a:p>
        </p:txBody>
      </p:sp>
      <p:sp>
        <p:nvSpPr>
          <p:cNvPr id="19" name="Text 14"/>
          <p:cNvSpPr txBox="1"/>
          <p:nvPr/>
        </p:nvSpPr>
        <p:spPr>
          <a:xfrm>
            <a:off x="6400800" y="3657600"/>
            <a:ext cx="2103120" cy="1188720"/>
          </a:xfrm>
          <a:prstGeom prst="rect">
            <a:avLst/>
          </a:prstGeom>
          <a:noFill/>
          <a:ln/>
        </p:spPr>
        <p:txBody>
          <a:bodyPr wrap="square" lIns="0" tIns="0" rIns="0" bIns="0" rtlCol="0" anchor="t"/>
          <a:lstStyle/>
          <a:p>
            <a:pPr algn="ctr" indent="0" marL="0">
              <a:buNone/>
            </a:pPr>
            <a:r>
              <a:rPr lang="en-US" sz="1400" dirty="0">
                <a:solidFill>
                  <a:srgbClr val="222222"/>
                </a:solidFill>
                <a:latin typeface="Tahoma" pitchFamily="34" charset="0"/>
                <a:ea typeface="Tahoma" pitchFamily="34" charset="-122"/>
                <a:cs typeface="Tahoma" pitchFamily="34" charset="-120"/>
              </a:rPr>
              <a:t>pytest, PHPUnit y prueba de punta a punta</a:t>
            </a:r>
            <a:endParaRPr lang="en-US" sz="1400" dirty="0"/>
          </a:p>
        </p:txBody>
      </p:sp>
      <p:sp>
        <p:nvSpPr>
          <p:cNvPr id="20" name="Shape 15"/>
          <p:cNvSpPr/>
          <p:nvPr/>
        </p:nvSpPr>
        <p:spPr>
          <a:xfrm>
            <a:off x="8732520" y="3291840"/>
            <a:ext cx="274320" cy="365760"/>
          </a:xfrm>
          <a:prstGeom prst="rightArrow">
            <a:avLst/>
          </a:prstGeom>
          <a:solidFill>
            <a:srgbClr val="5A5A5A"/>
          </a:solidFill>
          <a:ln w="12700">
            <a:solidFill>
              <a:srgbClr val="5A5A5A"/>
            </a:solidFill>
            <a:prstDash val="solid"/>
          </a:ln>
        </p:spPr>
      </p:sp>
      <p:sp>
        <p:nvSpPr>
          <p:cNvPr id="21" name="Shape 16"/>
          <p:cNvSpPr/>
          <p:nvPr/>
        </p:nvSpPr>
        <p:spPr>
          <a:xfrm>
            <a:off x="9052560" y="1920240"/>
            <a:ext cx="2468880" cy="3108960"/>
          </a:xfrm>
          <a:prstGeom prst="roundRect">
            <a:avLst>
              <a:gd name="adj" fmla="val 4444"/>
            </a:avLst>
          </a:prstGeom>
          <a:solidFill>
            <a:srgbClr val="EEF4FA"/>
          </a:solidFill>
          <a:ln w="12700">
            <a:solidFill>
              <a:srgbClr val="EEF4FA"/>
            </a:solidFill>
            <a:prstDash val="solid"/>
          </a:ln>
        </p:spPr>
      </p:sp>
      <p:sp>
        <p:nvSpPr>
          <p:cNvPr id="22" name="Shape 17"/>
          <p:cNvSpPr/>
          <p:nvPr/>
        </p:nvSpPr>
        <p:spPr>
          <a:xfrm>
            <a:off x="9875520" y="2148840"/>
            <a:ext cx="822960" cy="822960"/>
          </a:xfrm>
          <a:prstGeom prst="ellipse">
            <a:avLst/>
          </a:prstGeom>
          <a:solidFill>
            <a:srgbClr val="1B6FA8"/>
          </a:solidFill>
          <a:ln w="12700">
            <a:solidFill>
              <a:srgbClr val="1B6FA8"/>
            </a:solidFill>
            <a:prstDash val="solid"/>
          </a:ln>
        </p:spPr>
      </p:sp>
      <p:pic>
        <p:nvPicPr>
          <p:cNvPr id="23" name="Image 3" descr="preencoded.png">    </p:cNvPr>
          <p:cNvPicPr>
            <a:picLocks noChangeAspect="1"/>
          </p:cNvPicPr>
          <p:nvPr/>
        </p:nvPicPr>
        <p:blipFill>
          <a:blip r:embed="rId5"/>
          <a:stretch>
            <a:fillRect/>
          </a:stretch>
        </p:blipFill>
        <p:spPr>
          <a:xfrm>
            <a:off x="10073030" y="2346350"/>
            <a:ext cx="427939" cy="427939"/>
          </a:xfrm>
          <a:prstGeom prst="rect">
            <a:avLst/>
          </a:prstGeom>
        </p:spPr>
      </p:pic>
      <p:sp>
        <p:nvSpPr>
          <p:cNvPr id="24" name="Text 18"/>
          <p:cNvSpPr txBox="1"/>
          <p:nvPr/>
        </p:nvSpPr>
        <p:spPr>
          <a:xfrm>
            <a:off x="9189720" y="3154680"/>
            <a:ext cx="2194560" cy="457200"/>
          </a:xfrm>
          <a:prstGeom prst="rect">
            <a:avLst/>
          </a:prstGeom>
          <a:noFill/>
          <a:ln/>
        </p:spPr>
        <p:txBody>
          <a:bodyPr wrap="square" lIns="0" tIns="0" rIns="0" bIns="0" rtlCol="0" anchor="t"/>
          <a:lstStyle/>
          <a:p>
            <a:pPr algn="ctr" indent="0" marL="0">
              <a:buNone/>
            </a:pPr>
            <a:r>
              <a:rPr lang="en-US" sz="1600" b="1" dirty="0">
                <a:solidFill>
                  <a:srgbClr val="0E4C7C"/>
                </a:solidFill>
                <a:latin typeface="Tahoma" pitchFamily="34" charset="0"/>
                <a:ea typeface="Tahoma" pitchFamily="34" charset="-122"/>
                <a:cs typeface="Tahoma" pitchFamily="34" charset="-120"/>
              </a:rPr>
              <a:t>4. Retrospectiva</a:t>
            </a:r>
            <a:endParaRPr lang="en-US" sz="1600" dirty="0"/>
          </a:p>
        </p:txBody>
      </p:sp>
      <p:sp>
        <p:nvSpPr>
          <p:cNvPr id="25" name="Text 19"/>
          <p:cNvSpPr txBox="1"/>
          <p:nvPr/>
        </p:nvSpPr>
        <p:spPr>
          <a:xfrm>
            <a:off x="9235440" y="3657600"/>
            <a:ext cx="2103120" cy="1188720"/>
          </a:xfrm>
          <a:prstGeom prst="rect">
            <a:avLst/>
          </a:prstGeom>
          <a:noFill/>
          <a:ln/>
        </p:spPr>
        <p:txBody>
          <a:bodyPr wrap="square" lIns="0" tIns="0" rIns="0" bIns="0" rtlCol="0" anchor="t"/>
          <a:lstStyle/>
          <a:p>
            <a:pPr algn="ctr" indent="0" marL="0">
              <a:buNone/>
            </a:pPr>
            <a:r>
              <a:rPr lang="en-US" sz="1400" dirty="0">
                <a:solidFill>
                  <a:srgbClr val="222222"/>
                </a:solidFill>
                <a:latin typeface="Tahoma" pitchFamily="34" charset="0"/>
                <a:ea typeface="Tahoma" pitchFamily="34" charset="-122"/>
                <a:cs typeface="Tahoma" pitchFamily="34" charset="-120"/>
              </a:rPr>
              <a:t>Qué funcionó y qué se ajusta en el siguiente sprint</a:t>
            </a:r>
            <a:endParaRPr lang="en-US" sz="1400" dirty="0"/>
          </a:p>
        </p:txBody>
      </p:sp>
      <p:sp>
        <p:nvSpPr>
          <p:cNvPr id="26" name="Text 20"/>
          <p:cNvSpPr txBox="1"/>
          <p:nvPr/>
        </p:nvSpPr>
        <p:spPr>
          <a:xfrm>
            <a:off x="548640" y="5394960"/>
            <a:ext cx="11064240" cy="548640"/>
          </a:xfrm>
          <a:prstGeom prst="rect">
            <a:avLst/>
          </a:prstGeom>
          <a:noFill/>
          <a:ln/>
        </p:spPr>
        <p:txBody>
          <a:bodyPr wrap="square" lIns="0" tIns="0" rIns="0" bIns="0" rtlCol="0" anchor="t"/>
          <a:lstStyle/>
          <a:p>
            <a:pPr algn="ctr" indent="0" marL="0">
              <a:buNone/>
            </a:pPr>
            <a:r>
              <a:rPr lang="en-US" sz="1600" i="1" dirty="0">
                <a:solidFill>
                  <a:srgbClr val="5A5A5A"/>
                </a:solidFill>
                <a:latin typeface="Tahoma" pitchFamily="34" charset="0"/>
                <a:ea typeface="Tahoma" pitchFamily="34" charset="-122"/>
                <a:cs typeface="Tahoma" pitchFamily="34" charset="-120"/>
              </a:rPr>
              <a:t>Un sprint solo se cierra si sus pruebas pasan. Sprints de 1 semana (0 a 6) y de 2 semanas (7 y 8).</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Cronograma: 13 semanas, vamos en la 7</a:t>
            </a:r>
            <a:endParaRPr lang="en-US" sz="2800" dirty="0"/>
          </a:p>
        </p:txBody>
      </p:sp>
      <p:pic>
        <p:nvPicPr>
          <p:cNvPr id="3" name="Image 0" descr="/tmp/claude-0/-home-claude/12d53fbb-18c3-5237-8e14-37f4c9bad302/scratchpad/slides/fig_cronograma.png">    </p:cNvPr>
          <p:cNvPicPr>
            <a:picLocks noChangeAspect="1"/>
          </p:cNvPicPr>
          <p:nvPr/>
        </p:nvPicPr>
        <p:blipFill>
          <a:blip r:embed="rId2"/>
          <a:stretch>
            <a:fillRect/>
          </a:stretch>
        </p:blipFill>
        <p:spPr>
          <a:xfrm>
            <a:off x="1508760" y="1600200"/>
            <a:ext cx="9144000" cy="4937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Lo que ya construimos (sprints 0 a 6)</a:t>
            </a:r>
            <a:endParaRPr lang="en-US" sz="2800" dirty="0"/>
          </a:p>
        </p:txBody>
      </p:sp>
      <p:sp>
        <p:nvSpPr>
          <p:cNvPr id="3" name="Shape 1"/>
          <p:cNvSpPr/>
          <p:nvPr/>
        </p:nvSpPr>
        <p:spPr>
          <a:xfrm>
            <a:off x="548640" y="1691640"/>
            <a:ext cx="2606040" cy="2103120"/>
          </a:xfrm>
          <a:prstGeom prst="roundRect">
            <a:avLst>
              <a:gd name="adj" fmla="val 5217"/>
            </a:avLst>
          </a:prstGeom>
          <a:solidFill>
            <a:srgbClr val="EEF4FA"/>
          </a:solidFill>
          <a:ln w="12700">
            <a:solidFill>
              <a:srgbClr val="EEF4FA"/>
            </a:solidFill>
            <a:prstDash val="solid"/>
          </a:ln>
        </p:spPr>
      </p:sp>
      <p:sp>
        <p:nvSpPr>
          <p:cNvPr id="4" name="Shape 2"/>
          <p:cNvSpPr/>
          <p:nvPr/>
        </p:nvSpPr>
        <p:spPr>
          <a:xfrm>
            <a:off x="731520" y="1874520"/>
            <a:ext cx="594360" cy="594360"/>
          </a:xfrm>
          <a:prstGeom prst="ellipse">
            <a:avLst/>
          </a:prstGeom>
          <a:solidFill>
            <a:srgbClr val="0E4C7C"/>
          </a:solidFill>
          <a:ln w="12700">
            <a:solidFill>
              <a:srgbClr val="0E4C7C"/>
            </a:solidFill>
            <a:prstDash val="solid"/>
          </a:ln>
        </p:spPr>
      </p:sp>
      <p:sp>
        <p:nvSpPr>
          <p:cNvPr id="5" name="Text 3"/>
          <p:cNvSpPr txBox="1"/>
          <p:nvPr/>
        </p:nvSpPr>
        <p:spPr>
          <a:xfrm>
            <a:off x="731520" y="18745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Tahoma" pitchFamily="34" charset="0"/>
                <a:ea typeface="Tahoma" pitchFamily="34" charset="-122"/>
                <a:cs typeface="Tahoma" pitchFamily="34" charset="-120"/>
              </a:rPr>
              <a:t>0</a:t>
            </a:r>
            <a:endParaRPr lang="en-US" sz="2000" dirty="0"/>
          </a:p>
        </p:txBody>
      </p:sp>
      <p:sp>
        <p:nvSpPr>
          <p:cNvPr id="6" name="Text 4"/>
          <p:cNvSpPr txBox="1"/>
          <p:nvPr/>
        </p:nvSpPr>
        <p:spPr>
          <a:xfrm>
            <a:off x="1417320" y="1874520"/>
            <a:ext cx="1691640" cy="594360"/>
          </a:xfrm>
          <a:prstGeom prst="rect">
            <a:avLst/>
          </a:prstGeom>
          <a:noFill/>
          <a:ln/>
        </p:spPr>
        <p:txBody>
          <a:bodyPr wrap="square" lIns="0" tIns="0" rIns="0" bIns="0" rtlCol="0" anchor="ctr"/>
          <a:lstStyle/>
          <a:p>
            <a:pPr indent="0" marL="0">
              <a:buNone/>
            </a:pPr>
            <a:r>
              <a:rPr lang="en-US" sz="1400" b="1" dirty="0">
                <a:solidFill>
                  <a:srgbClr val="0E4C7C"/>
                </a:solidFill>
                <a:latin typeface="Tahoma" pitchFamily="34" charset="0"/>
                <a:ea typeface="Tahoma" pitchFamily="34" charset="-122"/>
                <a:cs typeface="Tahoma" pitchFamily="34" charset="-120"/>
              </a:rPr>
              <a:t>Análisis</a:t>
            </a:r>
            <a:endParaRPr lang="en-US" sz="1400" dirty="0"/>
          </a:p>
        </p:txBody>
      </p:sp>
      <p:sp>
        <p:nvSpPr>
          <p:cNvPr id="7" name="Text 5"/>
          <p:cNvSpPr txBox="1"/>
          <p:nvPr/>
        </p:nvSpPr>
        <p:spPr>
          <a:xfrm>
            <a:off x="731520" y="2651760"/>
            <a:ext cx="2286000" cy="1005840"/>
          </a:xfrm>
          <a:prstGeom prst="rect">
            <a:avLst/>
          </a:prstGeom>
          <a:noFill/>
          <a:ln/>
        </p:spPr>
        <p:txBody>
          <a:bodyPr wrap="square" lIns="0" tIns="0" rIns="0" bIns="0" rtlCol="0" anchor="t"/>
          <a:lstStyle/>
          <a:p>
            <a:pPr indent="0" marL="0">
              <a:buNone/>
            </a:pPr>
            <a:r>
              <a:rPr lang="en-US" sz="1300" dirty="0">
                <a:solidFill>
                  <a:srgbClr val="222222"/>
                </a:solidFill>
                <a:latin typeface="Tahoma" pitchFamily="34" charset="0"/>
                <a:ea typeface="Tahoma" pitchFamily="34" charset="-122"/>
                <a:cs typeface="Tahoma" pitchFamily="34" charset="-120"/>
              </a:rPr>
              <a:t>Necesidades, 7 intenciones y arquitectura</a:t>
            </a:r>
            <a:endParaRPr lang="en-US" sz="1300" dirty="0"/>
          </a:p>
        </p:txBody>
      </p:sp>
      <p:sp>
        <p:nvSpPr>
          <p:cNvPr id="8" name="Shape 6"/>
          <p:cNvSpPr/>
          <p:nvPr/>
        </p:nvSpPr>
        <p:spPr>
          <a:xfrm>
            <a:off x="3383280" y="1691640"/>
            <a:ext cx="2606040" cy="2103120"/>
          </a:xfrm>
          <a:prstGeom prst="roundRect">
            <a:avLst>
              <a:gd name="adj" fmla="val 5217"/>
            </a:avLst>
          </a:prstGeom>
          <a:solidFill>
            <a:srgbClr val="EEF4FA"/>
          </a:solidFill>
          <a:ln w="12700">
            <a:solidFill>
              <a:srgbClr val="EEF4FA"/>
            </a:solidFill>
            <a:prstDash val="solid"/>
          </a:ln>
        </p:spPr>
      </p:sp>
      <p:sp>
        <p:nvSpPr>
          <p:cNvPr id="9" name="Shape 7"/>
          <p:cNvSpPr/>
          <p:nvPr/>
        </p:nvSpPr>
        <p:spPr>
          <a:xfrm>
            <a:off x="3566160" y="1874520"/>
            <a:ext cx="594360" cy="594360"/>
          </a:xfrm>
          <a:prstGeom prst="ellipse">
            <a:avLst/>
          </a:prstGeom>
          <a:solidFill>
            <a:srgbClr val="0E4C7C"/>
          </a:solidFill>
          <a:ln w="12700">
            <a:solidFill>
              <a:srgbClr val="0E4C7C"/>
            </a:solidFill>
            <a:prstDash val="solid"/>
          </a:ln>
        </p:spPr>
      </p:sp>
      <p:sp>
        <p:nvSpPr>
          <p:cNvPr id="10" name="Text 8"/>
          <p:cNvSpPr txBox="1"/>
          <p:nvPr/>
        </p:nvSpPr>
        <p:spPr>
          <a:xfrm>
            <a:off x="3566160" y="18745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Tahoma" pitchFamily="34" charset="0"/>
                <a:ea typeface="Tahoma" pitchFamily="34" charset="-122"/>
                <a:cs typeface="Tahoma" pitchFamily="34" charset="-120"/>
              </a:rPr>
              <a:t>1</a:t>
            </a:r>
            <a:endParaRPr lang="en-US" sz="2000" dirty="0"/>
          </a:p>
        </p:txBody>
      </p:sp>
      <p:sp>
        <p:nvSpPr>
          <p:cNvPr id="11" name="Text 9"/>
          <p:cNvSpPr txBox="1"/>
          <p:nvPr/>
        </p:nvSpPr>
        <p:spPr>
          <a:xfrm>
            <a:off x="4251960" y="1874520"/>
            <a:ext cx="1691640" cy="594360"/>
          </a:xfrm>
          <a:prstGeom prst="rect">
            <a:avLst/>
          </a:prstGeom>
          <a:noFill/>
          <a:ln/>
        </p:spPr>
        <p:txBody>
          <a:bodyPr wrap="square" lIns="0" tIns="0" rIns="0" bIns="0" rtlCol="0" anchor="ctr"/>
          <a:lstStyle/>
          <a:p>
            <a:pPr indent="0" marL="0">
              <a:buNone/>
            </a:pPr>
            <a:r>
              <a:rPr lang="en-US" sz="1400" b="1" dirty="0">
                <a:solidFill>
                  <a:srgbClr val="0E4C7C"/>
                </a:solidFill>
                <a:latin typeface="Tahoma" pitchFamily="34" charset="0"/>
                <a:ea typeface="Tahoma" pitchFamily="34" charset="-122"/>
                <a:cs typeface="Tahoma" pitchFamily="34" charset="-120"/>
              </a:rPr>
              <a:t>Base de datos</a:t>
            </a:r>
            <a:endParaRPr lang="en-US" sz="1400" dirty="0"/>
          </a:p>
        </p:txBody>
      </p:sp>
      <p:sp>
        <p:nvSpPr>
          <p:cNvPr id="12" name="Text 10"/>
          <p:cNvSpPr txBox="1"/>
          <p:nvPr/>
        </p:nvSpPr>
        <p:spPr>
          <a:xfrm>
            <a:off x="3566160" y="2651760"/>
            <a:ext cx="2286000" cy="1005840"/>
          </a:xfrm>
          <a:prstGeom prst="rect">
            <a:avLst/>
          </a:prstGeom>
          <a:noFill/>
          <a:ln/>
        </p:spPr>
        <p:txBody>
          <a:bodyPr wrap="square" lIns="0" tIns="0" rIns="0" bIns="0" rtlCol="0" anchor="t"/>
          <a:lstStyle/>
          <a:p>
            <a:pPr indent="0" marL="0">
              <a:buNone/>
            </a:pPr>
            <a:r>
              <a:rPr lang="en-US" sz="1300" dirty="0">
                <a:solidFill>
                  <a:srgbClr val="222222"/>
                </a:solidFill>
                <a:latin typeface="Tahoma" pitchFamily="34" charset="0"/>
                <a:ea typeface="Tahoma" pitchFamily="34" charset="-122"/>
                <a:cs typeface="Tahoma" pitchFamily="34" charset="-120"/>
              </a:rPr>
              <a:t>Vehículos y compatibilidad repuesto–vehículo</a:t>
            </a:r>
            <a:endParaRPr lang="en-US" sz="1300" dirty="0"/>
          </a:p>
        </p:txBody>
      </p:sp>
      <p:sp>
        <p:nvSpPr>
          <p:cNvPr id="13" name="Shape 11"/>
          <p:cNvSpPr/>
          <p:nvPr/>
        </p:nvSpPr>
        <p:spPr>
          <a:xfrm>
            <a:off x="6217920" y="1691640"/>
            <a:ext cx="2606040" cy="2103120"/>
          </a:xfrm>
          <a:prstGeom prst="roundRect">
            <a:avLst>
              <a:gd name="adj" fmla="val 5217"/>
            </a:avLst>
          </a:prstGeom>
          <a:solidFill>
            <a:srgbClr val="EEF4FA"/>
          </a:solidFill>
          <a:ln w="12700">
            <a:solidFill>
              <a:srgbClr val="EEF4FA"/>
            </a:solidFill>
            <a:prstDash val="solid"/>
          </a:ln>
        </p:spPr>
      </p:sp>
      <p:sp>
        <p:nvSpPr>
          <p:cNvPr id="14" name="Shape 12"/>
          <p:cNvSpPr/>
          <p:nvPr/>
        </p:nvSpPr>
        <p:spPr>
          <a:xfrm>
            <a:off x="6400800" y="1874520"/>
            <a:ext cx="594360" cy="594360"/>
          </a:xfrm>
          <a:prstGeom prst="ellipse">
            <a:avLst/>
          </a:prstGeom>
          <a:solidFill>
            <a:srgbClr val="0E4C7C"/>
          </a:solidFill>
          <a:ln w="12700">
            <a:solidFill>
              <a:srgbClr val="0E4C7C"/>
            </a:solidFill>
            <a:prstDash val="solid"/>
          </a:ln>
        </p:spPr>
      </p:sp>
      <p:sp>
        <p:nvSpPr>
          <p:cNvPr id="15" name="Text 13"/>
          <p:cNvSpPr txBox="1"/>
          <p:nvPr/>
        </p:nvSpPr>
        <p:spPr>
          <a:xfrm>
            <a:off x="6400800" y="18745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Tahoma" pitchFamily="34" charset="0"/>
                <a:ea typeface="Tahoma" pitchFamily="34" charset="-122"/>
                <a:cs typeface="Tahoma" pitchFamily="34" charset="-120"/>
              </a:rPr>
              <a:t>2</a:t>
            </a:r>
            <a:endParaRPr lang="en-US" sz="2000" dirty="0"/>
          </a:p>
        </p:txBody>
      </p:sp>
      <p:sp>
        <p:nvSpPr>
          <p:cNvPr id="16" name="Text 14"/>
          <p:cNvSpPr txBox="1"/>
          <p:nvPr/>
        </p:nvSpPr>
        <p:spPr>
          <a:xfrm>
            <a:off x="7086600" y="1874520"/>
            <a:ext cx="1691640" cy="594360"/>
          </a:xfrm>
          <a:prstGeom prst="rect">
            <a:avLst/>
          </a:prstGeom>
          <a:noFill/>
          <a:ln/>
        </p:spPr>
        <p:txBody>
          <a:bodyPr wrap="square" lIns="0" tIns="0" rIns="0" bIns="0" rtlCol="0" anchor="ctr"/>
          <a:lstStyle/>
          <a:p>
            <a:pPr indent="0" marL="0">
              <a:buNone/>
            </a:pPr>
            <a:r>
              <a:rPr lang="en-US" sz="1400" b="1" dirty="0">
                <a:solidFill>
                  <a:srgbClr val="0E4C7C"/>
                </a:solidFill>
                <a:latin typeface="Tahoma" pitchFamily="34" charset="0"/>
                <a:ea typeface="Tahoma" pitchFamily="34" charset="-122"/>
                <a:cs typeface="Tahoma" pitchFamily="34" charset="-120"/>
              </a:rPr>
              <a:t>Microservicio</a:t>
            </a:r>
            <a:endParaRPr lang="en-US" sz="1400" dirty="0"/>
          </a:p>
        </p:txBody>
      </p:sp>
      <p:sp>
        <p:nvSpPr>
          <p:cNvPr id="17" name="Text 15"/>
          <p:cNvSpPr txBox="1"/>
          <p:nvPr/>
        </p:nvSpPr>
        <p:spPr>
          <a:xfrm>
            <a:off x="6400800" y="2651760"/>
            <a:ext cx="2286000" cy="1005840"/>
          </a:xfrm>
          <a:prstGeom prst="rect">
            <a:avLst/>
          </a:prstGeom>
          <a:noFill/>
          <a:ln/>
        </p:spPr>
        <p:txBody>
          <a:bodyPr wrap="square" lIns="0" tIns="0" rIns="0" bIns="0" rtlCol="0" anchor="t"/>
          <a:lstStyle/>
          <a:p>
            <a:pPr indent="0" marL="0">
              <a:buNone/>
            </a:pPr>
            <a:r>
              <a:rPr lang="en-US" sz="1300" dirty="0">
                <a:solidFill>
                  <a:srgbClr val="222222"/>
                </a:solidFill>
                <a:latin typeface="Tahoma" pitchFamily="34" charset="0"/>
                <a:ea typeface="Tahoma" pitchFamily="34" charset="-122"/>
                <a:cs typeface="Tahoma" pitchFamily="34" charset="-120"/>
              </a:rPr>
              <a:t>FastAPI, dataset de 65 frases y preprocesamiento</a:t>
            </a:r>
            <a:endParaRPr lang="en-US" sz="1300" dirty="0"/>
          </a:p>
        </p:txBody>
      </p:sp>
      <p:sp>
        <p:nvSpPr>
          <p:cNvPr id="18" name="Shape 16"/>
          <p:cNvSpPr/>
          <p:nvPr/>
        </p:nvSpPr>
        <p:spPr>
          <a:xfrm>
            <a:off x="9052560" y="1691640"/>
            <a:ext cx="2606040" cy="2103120"/>
          </a:xfrm>
          <a:prstGeom prst="roundRect">
            <a:avLst>
              <a:gd name="adj" fmla="val 5217"/>
            </a:avLst>
          </a:prstGeom>
          <a:solidFill>
            <a:srgbClr val="EEF4FA"/>
          </a:solidFill>
          <a:ln w="12700">
            <a:solidFill>
              <a:srgbClr val="EEF4FA"/>
            </a:solidFill>
            <a:prstDash val="solid"/>
          </a:ln>
        </p:spPr>
      </p:sp>
      <p:sp>
        <p:nvSpPr>
          <p:cNvPr id="19" name="Shape 17"/>
          <p:cNvSpPr/>
          <p:nvPr/>
        </p:nvSpPr>
        <p:spPr>
          <a:xfrm>
            <a:off x="9235440" y="1874520"/>
            <a:ext cx="594360" cy="594360"/>
          </a:xfrm>
          <a:prstGeom prst="ellipse">
            <a:avLst/>
          </a:prstGeom>
          <a:solidFill>
            <a:srgbClr val="0E4C7C"/>
          </a:solidFill>
          <a:ln w="12700">
            <a:solidFill>
              <a:srgbClr val="0E4C7C"/>
            </a:solidFill>
            <a:prstDash val="solid"/>
          </a:ln>
        </p:spPr>
      </p:sp>
      <p:sp>
        <p:nvSpPr>
          <p:cNvPr id="20" name="Text 18"/>
          <p:cNvSpPr txBox="1"/>
          <p:nvPr/>
        </p:nvSpPr>
        <p:spPr>
          <a:xfrm>
            <a:off x="9235440" y="18745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Tahoma" pitchFamily="34" charset="0"/>
                <a:ea typeface="Tahoma" pitchFamily="34" charset="-122"/>
                <a:cs typeface="Tahoma" pitchFamily="34" charset="-120"/>
              </a:rPr>
              <a:t>3</a:t>
            </a:r>
            <a:endParaRPr lang="en-US" sz="2000" dirty="0"/>
          </a:p>
        </p:txBody>
      </p:sp>
      <p:sp>
        <p:nvSpPr>
          <p:cNvPr id="21" name="Text 19"/>
          <p:cNvSpPr txBox="1"/>
          <p:nvPr/>
        </p:nvSpPr>
        <p:spPr>
          <a:xfrm>
            <a:off x="9921240" y="1874520"/>
            <a:ext cx="1691640" cy="594360"/>
          </a:xfrm>
          <a:prstGeom prst="rect">
            <a:avLst/>
          </a:prstGeom>
          <a:noFill/>
          <a:ln/>
        </p:spPr>
        <p:txBody>
          <a:bodyPr wrap="square" lIns="0" tIns="0" rIns="0" bIns="0" rtlCol="0" anchor="ctr"/>
          <a:lstStyle/>
          <a:p>
            <a:pPr indent="0" marL="0">
              <a:buNone/>
            </a:pPr>
            <a:r>
              <a:rPr lang="en-US" sz="1400" b="1" dirty="0">
                <a:solidFill>
                  <a:srgbClr val="0E4C7C"/>
                </a:solidFill>
                <a:latin typeface="Tahoma" pitchFamily="34" charset="0"/>
                <a:ea typeface="Tahoma" pitchFamily="34" charset="-122"/>
                <a:cs typeface="Tahoma" pitchFamily="34" charset="-120"/>
              </a:rPr>
              <a:t>Intención y NER</a:t>
            </a:r>
            <a:endParaRPr lang="en-US" sz="1400" dirty="0"/>
          </a:p>
        </p:txBody>
      </p:sp>
      <p:sp>
        <p:nvSpPr>
          <p:cNvPr id="22" name="Text 20"/>
          <p:cNvSpPr txBox="1"/>
          <p:nvPr/>
        </p:nvSpPr>
        <p:spPr>
          <a:xfrm>
            <a:off x="9235440" y="2651760"/>
            <a:ext cx="2286000" cy="1005840"/>
          </a:xfrm>
          <a:prstGeom prst="rect">
            <a:avLst/>
          </a:prstGeom>
          <a:noFill/>
          <a:ln/>
        </p:spPr>
        <p:txBody>
          <a:bodyPr wrap="square" lIns="0" tIns="0" rIns="0" bIns="0" rtlCol="0" anchor="t"/>
          <a:lstStyle/>
          <a:p>
            <a:pPr indent="0" marL="0">
              <a:buNone/>
            </a:pPr>
            <a:r>
              <a:rPr lang="en-US" sz="1300" dirty="0">
                <a:solidFill>
                  <a:srgbClr val="222222"/>
                </a:solidFill>
                <a:latin typeface="Tahoma" pitchFamily="34" charset="0"/>
                <a:ea typeface="Tahoma" pitchFamily="34" charset="-122"/>
                <a:cs typeface="Tahoma" pitchFamily="34" charset="-120"/>
              </a:rPr>
              <a:t>TF-IDF + regresión logística; regex + RapidFuzz</a:t>
            </a:r>
            <a:endParaRPr lang="en-US" sz="1300" dirty="0"/>
          </a:p>
        </p:txBody>
      </p:sp>
      <p:sp>
        <p:nvSpPr>
          <p:cNvPr id="23" name="Shape 21"/>
          <p:cNvSpPr/>
          <p:nvPr/>
        </p:nvSpPr>
        <p:spPr>
          <a:xfrm>
            <a:off x="548640" y="4023360"/>
            <a:ext cx="2606040" cy="2103120"/>
          </a:xfrm>
          <a:prstGeom prst="roundRect">
            <a:avLst>
              <a:gd name="adj" fmla="val 5217"/>
            </a:avLst>
          </a:prstGeom>
          <a:solidFill>
            <a:srgbClr val="EEF4FA"/>
          </a:solidFill>
          <a:ln w="12700">
            <a:solidFill>
              <a:srgbClr val="EEF4FA"/>
            </a:solidFill>
            <a:prstDash val="solid"/>
          </a:ln>
        </p:spPr>
      </p:sp>
      <p:sp>
        <p:nvSpPr>
          <p:cNvPr id="24" name="Shape 22"/>
          <p:cNvSpPr/>
          <p:nvPr/>
        </p:nvSpPr>
        <p:spPr>
          <a:xfrm>
            <a:off x="731520" y="4206240"/>
            <a:ext cx="594360" cy="594360"/>
          </a:xfrm>
          <a:prstGeom prst="ellipse">
            <a:avLst/>
          </a:prstGeom>
          <a:solidFill>
            <a:srgbClr val="0E4C7C"/>
          </a:solidFill>
          <a:ln w="12700">
            <a:solidFill>
              <a:srgbClr val="0E4C7C"/>
            </a:solidFill>
            <a:prstDash val="solid"/>
          </a:ln>
        </p:spPr>
      </p:sp>
      <p:sp>
        <p:nvSpPr>
          <p:cNvPr id="25" name="Text 23"/>
          <p:cNvSpPr txBox="1"/>
          <p:nvPr/>
        </p:nvSpPr>
        <p:spPr>
          <a:xfrm>
            <a:off x="731520" y="42062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Tahoma" pitchFamily="34" charset="0"/>
                <a:ea typeface="Tahoma" pitchFamily="34" charset="-122"/>
                <a:cs typeface="Tahoma" pitchFamily="34" charset="-120"/>
              </a:rPr>
              <a:t>4</a:t>
            </a:r>
            <a:endParaRPr lang="en-US" sz="2000" dirty="0"/>
          </a:p>
        </p:txBody>
      </p:sp>
      <p:sp>
        <p:nvSpPr>
          <p:cNvPr id="26" name="Text 24"/>
          <p:cNvSpPr txBox="1"/>
          <p:nvPr/>
        </p:nvSpPr>
        <p:spPr>
          <a:xfrm>
            <a:off x="1417320" y="4206240"/>
            <a:ext cx="1691640" cy="594360"/>
          </a:xfrm>
          <a:prstGeom prst="rect">
            <a:avLst/>
          </a:prstGeom>
          <a:noFill/>
          <a:ln/>
        </p:spPr>
        <p:txBody>
          <a:bodyPr wrap="square" lIns="0" tIns="0" rIns="0" bIns="0" rtlCol="0" anchor="ctr"/>
          <a:lstStyle/>
          <a:p>
            <a:pPr indent="0" marL="0">
              <a:buNone/>
            </a:pPr>
            <a:r>
              <a:rPr lang="en-US" sz="1400" b="1" dirty="0">
                <a:solidFill>
                  <a:srgbClr val="0E4C7C"/>
                </a:solidFill>
                <a:latin typeface="Tahoma" pitchFamily="34" charset="0"/>
                <a:ea typeface="Tahoma" pitchFamily="34" charset="-122"/>
                <a:cs typeface="Tahoma" pitchFamily="34" charset="-120"/>
              </a:rPr>
              <a:t>Recomendador</a:t>
            </a:r>
            <a:endParaRPr lang="en-US" sz="1400" dirty="0"/>
          </a:p>
        </p:txBody>
      </p:sp>
      <p:sp>
        <p:nvSpPr>
          <p:cNvPr id="27" name="Text 25"/>
          <p:cNvSpPr txBox="1"/>
          <p:nvPr/>
        </p:nvSpPr>
        <p:spPr>
          <a:xfrm>
            <a:off x="731520" y="4983480"/>
            <a:ext cx="2286000" cy="1005840"/>
          </a:xfrm>
          <a:prstGeom prst="rect">
            <a:avLst/>
          </a:prstGeom>
          <a:noFill/>
          <a:ln/>
        </p:spPr>
        <p:txBody>
          <a:bodyPr wrap="square" lIns="0" tIns="0" rIns="0" bIns="0" rtlCol="0" anchor="t"/>
          <a:lstStyle/>
          <a:p>
            <a:pPr indent="0" marL="0">
              <a:buNone/>
            </a:pPr>
            <a:r>
              <a:rPr lang="en-US" sz="1300" dirty="0">
                <a:solidFill>
                  <a:srgbClr val="222222"/>
                </a:solidFill>
                <a:latin typeface="Tahoma" pitchFamily="34" charset="0"/>
                <a:ea typeface="Tahoma" pitchFamily="34" charset="-122"/>
                <a:cs typeface="Tahoma" pitchFamily="34" charset="-120"/>
              </a:rPr>
              <a:t>Ranking por similitud del coseno e integración</a:t>
            </a:r>
            <a:endParaRPr lang="en-US" sz="1300" dirty="0"/>
          </a:p>
        </p:txBody>
      </p:sp>
      <p:sp>
        <p:nvSpPr>
          <p:cNvPr id="28" name="Shape 26"/>
          <p:cNvSpPr/>
          <p:nvPr/>
        </p:nvSpPr>
        <p:spPr>
          <a:xfrm>
            <a:off x="3383280" y="4023360"/>
            <a:ext cx="2606040" cy="2103120"/>
          </a:xfrm>
          <a:prstGeom prst="roundRect">
            <a:avLst>
              <a:gd name="adj" fmla="val 5217"/>
            </a:avLst>
          </a:prstGeom>
          <a:solidFill>
            <a:srgbClr val="EEF4FA"/>
          </a:solidFill>
          <a:ln w="12700">
            <a:solidFill>
              <a:srgbClr val="EEF4FA"/>
            </a:solidFill>
            <a:prstDash val="solid"/>
          </a:ln>
        </p:spPr>
      </p:sp>
      <p:sp>
        <p:nvSpPr>
          <p:cNvPr id="29" name="Shape 27"/>
          <p:cNvSpPr/>
          <p:nvPr/>
        </p:nvSpPr>
        <p:spPr>
          <a:xfrm>
            <a:off x="3566160" y="4206240"/>
            <a:ext cx="594360" cy="594360"/>
          </a:xfrm>
          <a:prstGeom prst="ellipse">
            <a:avLst/>
          </a:prstGeom>
          <a:solidFill>
            <a:srgbClr val="0E4C7C"/>
          </a:solidFill>
          <a:ln w="12700">
            <a:solidFill>
              <a:srgbClr val="0E4C7C"/>
            </a:solidFill>
            <a:prstDash val="solid"/>
          </a:ln>
        </p:spPr>
      </p:sp>
      <p:sp>
        <p:nvSpPr>
          <p:cNvPr id="30" name="Text 28"/>
          <p:cNvSpPr txBox="1"/>
          <p:nvPr/>
        </p:nvSpPr>
        <p:spPr>
          <a:xfrm>
            <a:off x="3566160" y="42062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Tahoma" pitchFamily="34" charset="0"/>
                <a:ea typeface="Tahoma" pitchFamily="34" charset="-122"/>
                <a:cs typeface="Tahoma" pitchFamily="34" charset="-120"/>
              </a:rPr>
              <a:t>5</a:t>
            </a:r>
            <a:endParaRPr lang="en-US" sz="2000" dirty="0"/>
          </a:p>
        </p:txBody>
      </p:sp>
      <p:sp>
        <p:nvSpPr>
          <p:cNvPr id="31" name="Text 29"/>
          <p:cNvSpPr txBox="1"/>
          <p:nvPr/>
        </p:nvSpPr>
        <p:spPr>
          <a:xfrm>
            <a:off x="4251960" y="4206240"/>
            <a:ext cx="1691640" cy="594360"/>
          </a:xfrm>
          <a:prstGeom prst="rect">
            <a:avLst/>
          </a:prstGeom>
          <a:noFill/>
          <a:ln/>
        </p:spPr>
        <p:txBody>
          <a:bodyPr wrap="square" lIns="0" tIns="0" rIns="0" bIns="0" rtlCol="0" anchor="ctr"/>
          <a:lstStyle/>
          <a:p>
            <a:pPr indent="0" marL="0">
              <a:buNone/>
            </a:pPr>
            <a:r>
              <a:rPr lang="en-US" sz="1400" b="1" dirty="0">
                <a:solidFill>
                  <a:srgbClr val="0E4C7C"/>
                </a:solidFill>
                <a:latin typeface="Tahoma" pitchFamily="34" charset="0"/>
                <a:ea typeface="Tahoma" pitchFamily="34" charset="-122"/>
                <a:cs typeface="Tahoma" pitchFamily="34" charset="-120"/>
              </a:rPr>
              <a:t>En pantalla</a:t>
            </a:r>
            <a:endParaRPr lang="en-US" sz="1400" dirty="0"/>
          </a:p>
        </p:txBody>
      </p:sp>
      <p:sp>
        <p:nvSpPr>
          <p:cNvPr id="32" name="Text 30"/>
          <p:cNvSpPr txBox="1"/>
          <p:nvPr/>
        </p:nvSpPr>
        <p:spPr>
          <a:xfrm>
            <a:off x="3566160" y="4983480"/>
            <a:ext cx="2286000" cy="1005840"/>
          </a:xfrm>
          <a:prstGeom prst="rect">
            <a:avLst/>
          </a:prstGeom>
          <a:noFill/>
          <a:ln/>
        </p:spPr>
        <p:txBody>
          <a:bodyPr wrap="square" lIns="0" tIns="0" rIns="0" bIns="0" rtlCol="0" anchor="t"/>
          <a:lstStyle/>
          <a:p>
            <a:pPr indent="0" marL="0">
              <a:buNone/>
            </a:pPr>
            <a:r>
              <a:rPr lang="en-US" sz="1300" dirty="0">
                <a:solidFill>
                  <a:srgbClr val="222222"/>
                </a:solidFill>
                <a:latin typeface="Tahoma" pitchFamily="34" charset="0"/>
                <a:ea typeface="Tahoma" pitchFamily="34" charset="-122"/>
                <a:cs typeface="Tahoma" pitchFamily="34" charset="-120"/>
              </a:rPr>
              <a:t>Chat flotante, límite de consultas y 8 casos límite</a:t>
            </a:r>
            <a:endParaRPr lang="en-US" sz="1300" dirty="0"/>
          </a:p>
        </p:txBody>
      </p:sp>
      <p:sp>
        <p:nvSpPr>
          <p:cNvPr id="33" name="Shape 31"/>
          <p:cNvSpPr/>
          <p:nvPr/>
        </p:nvSpPr>
        <p:spPr>
          <a:xfrm>
            <a:off x="6217920" y="4023360"/>
            <a:ext cx="2606040" cy="2103120"/>
          </a:xfrm>
          <a:prstGeom prst="roundRect">
            <a:avLst>
              <a:gd name="adj" fmla="val 5217"/>
            </a:avLst>
          </a:prstGeom>
          <a:solidFill>
            <a:srgbClr val="FDF1E0"/>
          </a:solidFill>
          <a:ln w="12700">
            <a:solidFill>
              <a:srgbClr val="FDF1E0"/>
            </a:solidFill>
            <a:prstDash val="solid"/>
          </a:ln>
        </p:spPr>
      </p:sp>
      <p:sp>
        <p:nvSpPr>
          <p:cNvPr id="34" name="Shape 32"/>
          <p:cNvSpPr/>
          <p:nvPr/>
        </p:nvSpPr>
        <p:spPr>
          <a:xfrm>
            <a:off x="6400800" y="4206240"/>
            <a:ext cx="594360" cy="594360"/>
          </a:xfrm>
          <a:prstGeom prst="ellipse">
            <a:avLst/>
          </a:prstGeom>
          <a:solidFill>
            <a:srgbClr val="E8890C"/>
          </a:solidFill>
          <a:ln w="12700">
            <a:solidFill>
              <a:srgbClr val="E8890C"/>
            </a:solidFill>
            <a:prstDash val="solid"/>
          </a:ln>
        </p:spPr>
      </p:sp>
      <p:sp>
        <p:nvSpPr>
          <p:cNvPr id="35" name="Text 33"/>
          <p:cNvSpPr txBox="1"/>
          <p:nvPr/>
        </p:nvSpPr>
        <p:spPr>
          <a:xfrm>
            <a:off x="6400800" y="42062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Tahoma" pitchFamily="34" charset="0"/>
                <a:ea typeface="Tahoma" pitchFamily="34" charset="-122"/>
                <a:cs typeface="Tahoma" pitchFamily="34" charset="-120"/>
              </a:rPr>
              <a:t>6</a:t>
            </a:r>
            <a:endParaRPr lang="en-US" sz="2000" dirty="0"/>
          </a:p>
        </p:txBody>
      </p:sp>
      <p:sp>
        <p:nvSpPr>
          <p:cNvPr id="36" name="Text 34"/>
          <p:cNvSpPr txBox="1"/>
          <p:nvPr/>
        </p:nvSpPr>
        <p:spPr>
          <a:xfrm>
            <a:off x="7086600" y="4206240"/>
            <a:ext cx="1691640" cy="594360"/>
          </a:xfrm>
          <a:prstGeom prst="rect">
            <a:avLst/>
          </a:prstGeom>
          <a:noFill/>
          <a:ln/>
        </p:spPr>
        <p:txBody>
          <a:bodyPr wrap="square" lIns="0" tIns="0" rIns="0" bIns="0" rtlCol="0" anchor="ctr"/>
          <a:lstStyle/>
          <a:p>
            <a:pPr indent="0" marL="0">
              <a:buNone/>
            </a:pPr>
            <a:r>
              <a:rPr lang="en-US" sz="1400" b="1" dirty="0">
                <a:solidFill>
                  <a:srgbClr val="0E4C7C"/>
                </a:solidFill>
                <a:latin typeface="Tahoma" pitchFamily="34" charset="0"/>
                <a:ea typeface="Tahoma" pitchFamily="34" charset="-122"/>
                <a:cs typeface="Tahoma" pitchFamily="34" charset="-120"/>
              </a:rPr>
              <a:t>Apoyo (en curso)</a:t>
            </a:r>
            <a:endParaRPr lang="en-US" sz="1400" dirty="0"/>
          </a:p>
        </p:txBody>
      </p:sp>
      <p:sp>
        <p:nvSpPr>
          <p:cNvPr id="37" name="Text 35"/>
          <p:cNvSpPr txBox="1"/>
          <p:nvPr/>
        </p:nvSpPr>
        <p:spPr>
          <a:xfrm>
            <a:off x="6400800" y="4983480"/>
            <a:ext cx="2286000" cy="1005840"/>
          </a:xfrm>
          <a:prstGeom prst="rect">
            <a:avLst/>
          </a:prstGeom>
          <a:noFill/>
          <a:ln/>
        </p:spPr>
        <p:txBody>
          <a:bodyPr wrap="square" lIns="0" tIns="0" rIns="0" bIns="0" rtlCol="0" anchor="t"/>
          <a:lstStyle/>
          <a:p>
            <a:pPr indent="0" marL="0">
              <a:buNone/>
            </a:pPr>
            <a:r>
              <a:rPr lang="en-US" sz="1300" dirty="0">
                <a:solidFill>
                  <a:srgbClr val="222222"/>
                </a:solidFill>
                <a:latin typeface="Tahoma" pitchFamily="34" charset="0"/>
                <a:ea typeface="Tahoma" pitchFamily="34" charset="-122"/>
                <a:cs typeface="Tahoma" pitchFamily="34" charset="-120"/>
              </a:rPr>
              <a:t>Corrector, similares, demanda y 1.ª evaluación</a:t>
            </a:r>
            <a:endParaRPr lang="en-US" sz="1300" dirty="0"/>
          </a:p>
        </p:txBody>
      </p:sp>
      <p:sp>
        <p:nvSpPr>
          <p:cNvPr id="38" name="Shape 36"/>
          <p:cNvSpPr/>
          <p:nvPr/>
        </p:nvSpPr>
        <p:spPr>
          <a:xfrm>
            <a:off x="9052560" y="4023360"/>
            <a:ext cx="2606040" cy="2103120"/>
          </a:xfrm>
          <a:prstGeom prst="roundRect">
            <a:avLst>
              <a:gd name="adj" fmla="val 5217"/>
            </a:avLst>
          </a:prstGeom>
          <a:solidFill>
            <a:srgbClr val="FFFFFF"/>
          </a:solidFill>
          <a:ln w="12700">
            <a:solidFill>
              <a:srgbClr val="FFFFFF"/>
            </a:solidFill>
            <a:prstDash val="solid"/>
          </a:ln>
        </p:spPr>
      </p:sp>
      <p:sp>
        <p:nvSpPr>
          <p:cNvPr id="39" name="Shape 37"/>
          <p:cNvSpPr/>
          <p:nvPr/>
        </p:nvSpPr>
        <p:spPr>
          <a:xfrm>
            <a:off x="9052560" y="4023360"/>
            <a:ext cx="2606040" cy="2103120"/>
          </a:xfrm>
          <a:prstGeom prst="roundRect">
            <a:avLst>
              <a:gd name="adj" fmla="val 5217"/>
            </a:avLst>
          </a:prstGeom>
          <a:solidFill>
            <a:srgbClr val="FFFFFF"/>
          </a:solidFill>
          <a:ln w="19050">
            <a:solidFill>
              <a:srgbClr val="2E8B57"/>
            </a:solidFill>
            <a:prstDash val="solid"/>
          </a:ln>
        </p:spPr>
      </p:sp>
      <p:sp>
        <p:nvSpPr>
          <p:cNvPr id="40" name="Text 38"/>
          <p:cNvSpPr txBox="1"/>
          <p:nvPr/>
        </p:nvSpPr>
        <p:spPr>
          <a:xfrm>
            <a:off x="9052560" y="4206240"/>
            <a:ext cx="2606040" cy="1737360"/>
          </a:xfrm>
          <a:prstGeom prst="rect">
            <a:avLst/>
          </a:prstGeom>
          <a:noFill/>
          <a:ln/>
        </p:spPr>
        <p:txBody>
          <a:bodyPr wrap="square" lIns="0" tIns="0" rIns="0" bIns="0" rtlCol="0" anchor="ctr"/>
          <a:lstStyle/>
          <a:p>
            <a:pPr algn="ctr" indent="0" marL="0">
              <a:buNone/>
            </a:pPr>
            <a:r>
              <a:rPr lang="en-US" sz="3600" b="1" dirty="0">
                <a:solidFill>
                  <a:srgbClr val="2E8B57"/>
                </a:solidFill>
                <a:latin typeface="Tahoma" pitchFamily="34" charset="0"/>
                <a:ea typeface="Tahoma" pitchFamily="34" charset="-122"/>
                <a:cs typeface="Tahoma" pitchFamily="34" charset="-120"/>
              </a:rPr>
              <a:t>6 de 11</a:t>
            </a:r>
            <a:endParaRPr lang="en-US" sz="1600" dirty="0"/>
          </a:p>
          <a:p>
            <a:pPr algn="ctr" indent="0" marL="0">
              <a:buNone/>
            </a:pPr>
            <a:r>
              <a:rPr lang="en-US" sz="1400" dirty="0">
                <a:solidFill>
                  <a:srgbClr val="5A5A5A"/>
                </a:solidFill>
                <a:latin typeface="Tahoma" pitchFamily="34" charset="0"/>
                <a:ea typeface="Tahoma" pitchFamily="34" charset="-122"/>
                <a:cs typeface="Tahoma" pitchFamily="34" charset="-120"/>
              </a:rPr>
              <a:t>sprints terminados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¿Cómo responde una consulta?</a:t>
            </a:r>
            <a:endParaRPr lang="en-US" sz="2800" dirty="0"/>
          </a:p>
        </p:txBody>
      </p:sp>
      <p:pic>
        <p:nvPicPr>
          <p:cNvPr id="3" name="Image 0" descr="/tmp/claude-0/-home-claude/12d53fbb-18c3-5237-8e14-37f4c9bad302/scratchpad/slides/fig_pipeline.png">    </p:cNvPr>
          <p:cNvPicPr>
            <a:picLocks noChangeAspect="1"/>
          </p:cNvPicPr>
          <p:nvPr/>
        </p:nvPicPr>
        <p:blipFill>
          <a:blip r:embed="rId2"/>
          <a:stretch>
            <a:fillRect/>
          </a:stretch>
        </p:blipFill>
        <p:spPr>
          <a:xfrm>
            <a:off x="1281077" y="1645920"/>
            <a:ext cx="9599366" cy="4114800"/>
          </a:xfrm>
          <a:prstGeom prst="rect">
            <a:avLst/>
          </a:prstGeom>
        </p:spPr>
      </p:pic>
      <p:sp>
        <p:nvSpPr>
          <p:cNvPr id="4" name="Text 1"/>
          <p:cNvSpPr txBox="1"/>
          <p:nvPr/>
        </p:nvSpPr>
        <p:spPr>
          <a:xfrm>
            <a:off x="822960" y="5943600"/>
            <a:ext cx="10515600" cy="411480"/>
          </a:xfrm>
          <a:prstGeom prst="rect">
            <a:avLst/>
          </a:prstGeom>
          <a:noFill/>
          <a:ln/>
        </p:spPr>
        <p:txBody>
          <a:bodyPr wrap="square" lIns="0" tIns="0" rIns="0" bIns="0" rtlCol="0" anchor="t"/>
          <a:lstStyle/>
          <a:p>
            <a:pPr algn="ctr" indent="0" marL="0">
              <a:buNone/>
            </a:pPr>
            <a:r>
              <a:rPr lang="en-US" sz="1500" i="1" dirty="0">
                <a:solidFill>
                  <a:srgbClr val="5A5A5A"/>
                </a:solidFill>
                <a:latin typeface="Tahoma" pitchFamily="34" charset="0"/>
                <a:ea typeface="Tahoma" pitchFamily="34" charset="-122"/>
                <a:cs typeface="Tahoma" pitchFamily="34" charset="-120"/>
              </a:rPr>
              <a:t>En naranja, los pasos donde actúan modelos de IA propios.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El asistente funcionando</a:t>
            </a:r>
            <a:endParaRPr lang="en-US" sz="2800" dirty="0"/>
          </a:p>
        </p:txBody>
      </p:sp>
      <p:pic>
        <p:nvPicPr>
          <p:cNvPr id="3" name="Image 0" descr="/tmp/claude-0/-home-claude/12d53fbb-18c3-5237-8e14-37f4c9bad302/scratchpad/slides/cap_asistente.jpg">    </p:cNvPr>
          <p:cNvPicPr>
            <a:picLocks noChangeAspect="1"/>
          </p:cNvPicPr>
          <p:nvPr/>
        </p:nvPicPr>
        <p:blipFill>
          <a:blip r:embed="rId2"/>
          <a:stretch>
            <a:fillRect/>
          </a:stretch>
        </p:blipFill>
        <p:spPr>
          <a:xfrm>
            <a:off x="548640" y="1782166"/>
            <a:ext cx="7498080" cy="4573829"/>
          </a:xfrm>
          <a:prstGeom prst="rect">
            <a:avLst/>
          </a:prstGeom>
        </p:spPr>
      </p:pic>
      <p:sp>
        <p:nvSpPr>
          <p:cNvPr id="4" name="Shape 1"/>
          <p:cNvSpPr/>
          <p:nvPr/>
        </p:nvSpPr>
        <p:spPr>
          <a:xfrm>
            <a:off x="8412480" y="1828800"/>
            <a:ext cx="548640" cy="548640"/>
          </a:xfrm>
          <a:prstGeom prst="ellipse">
            <a:avLst/>
          </a:prstGeom>
          <a:solidFill>
            <a:srgbClr val="E8890C"/>
          </a:solidFill>
          <a:ln w="12700">
            <a:solidFill>
              <a:srgbClr val="E8890C"/>
            </a:solidFill>
            <a:prstDash val="solid"/>
          </a:ln>
        </p:spPr>
      </p:sp>
      <p:sp>
        <p:nvSpPr>
          <p:cNvPr id="5" name="Text 2"/>
          <p:cNvSpPr txBox="1"/>
          <p:nvPr/>
        </p:nvSpPr>
        <p:spPr>
          <a:xfrm>
            <a:off x="841248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1</a:t>
            </a:r>
            <a:endParaRPr lang="en-US" sz="1800" dirty="0"/>
          </a:p>
        </p:txBody>
      </p:sp>
      <p:sp>
        <p:nvSpPr>
          <p:cNvPr id="6" name="Text 3"/>
          <p:cNvSpPr txBox="1"/>
          <p:nvPr/>
        </p:nvSpPr>
        <p:spPr>
          <a:xfrm>
            <a:off x="9144000" y="1783080"/>
            <a:ext cx="2651760" cy="82296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El vendedor escribe en lenguaje natural</a:t>
            </a:r>
            <a:endParaRPr lang="en-US" sz="1500" dirty="0"/>
          </a:p>
        </p:txBody>
      </p:sp>
      <p:sp>
        <p:nvSpPr>
          <p:cNvPr id="7" name="Shape 4"/>
          <p:cNvSpPr/>
          <p:nvPr/>
        </p:nvSpPr>
        <p:spPr>
          <a:xfrm>
            <a:off x="8412480" y="2971800"/>
            <a:ext cx="548640" cy="548640"/>
          </a:xfrm>
          <a:prstGeom prst="ellipse">
            <a:avLst/>
          </a:prstGeom>
          <a:solidFill>
            <a:srgbClr val="E8890C"/>
          </a:solidFill>
          <a:ln w="12700">
            <a:solidFill>
              <a:srgbClr val="E8890C"/>
            </a:solidFill>
            <a:prstDash val="solid"/>
          </a:ln>
        </p:spPr>
      </p:sp>
      <p:sp>
        <p:nvSpPr>
          <p:cNvPr id="8" name="Text 5"/>
          <p:cNvSpPr txBox="1"/>
          <p:nvPr/>
        </p:nvSpPr>
        <p:spPr>
          <a:xfrm>
            <a:off x="8412480" y="2971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2</a:t>
            </a:r>
            <a:endParaRPr lang="en-US" sz="1800" dirty="0"/>
          </a:p>
        </p:txBody>
      </p:sp>
      <p:sp>
        <p:nvSpPr>
          <p:cNvPr id="9" name="Text 6"/>
          <p:cNvSpPr txBox="1"/>
          <p:nvPr/>
        </p:nvSpPr>
        <p:spPr>
          <a:xfrm>
            <a:off x="9144000" y="2926080"/>
            <a:ext cx="2651760" cy="82296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Reconoce Renault Duster 2.0 gasolina 2020</a:t>
            </a:r>
            <a:endParaRPr lang="en-US" sz="1500" dirty="0"/>
          </a:p>
        </p:txBody>
      </p:sp>
      <p:sp>
        <p:nvSpPr>
          <p:cNvPr id="10" name="Shape 7"/>
          <p:cNvSpPr/>
          <p:nvPr/>
        </p:nvSpPr>
        <p:spPr>
          <a:xfrm>
            <a:off x="8412480" y="4114800"/>
            <a:ext cx="548640" cy="548640"/>
          </a:xfrm>
          <a:prstGeom prst="ellipse">
            <a:avLst/>
          </a:prstGeom>
          <a:solidFill>
            <a:srgbClr val="E8890C"/>
          </a:solidFill>
          <a:ln w="12700">
            <a:solidFill>
              <a:srgbClr val="E8890C"/>
            </a:solidFill>
            <a:prstDash val="solid"/>
          </a:ln>
        </p:spPr>
      </p:sp>
      <p:sp>
        <p:nvSpPr>
          <p:cNvPr id="11" name="Text 8"/>
          <p:cNvSpPr txBox="1"/>
          <p:nvPr/>
        </p:nvSpPr>
        <p:spPr>
          <a:xfrm>
            <a:off x="8412480" y="4114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3</a:t>
            </a:r>
            <a:endParaRPr lang="en-US" sz="1800" dirty="0"/>
          </a:p>
        </p:txBody>
      </p:sp>
      <p:sp>
        <p:nvSpPr>
          <p:cNvPr id="12" name="Text 9"/>
          <p:cNvSpPr txBox="1"/>
          <p:nvPr/>
        </p:nvSpPr>
        <p:spPr>
          <a:xfrm>
            <a:off x="9144000" y="4069080"/>
            <a:ext cx="2651760" cy="82296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Muestra el repuesto compatible con stock y precio</a:t>
            </a:r>
            <a:endParaRPr lang="en-US" sz="1500" dirty="0"/>
          </a:p>
        </p:txBody>
      </p:sp>
      <p:sp>
        <p:nvSpPr>
          <p:cNvPr id="13" name="Shape 10"/>
          <p:cNvSpPr/>
          <p:nvPr/>
        </p:nvSpPr>
        <p:spPr>
          <a:xfrm>
            <a:off x="8412480" y="5257800"/>
            <a:ext cx="548640" cy="548640"/>
          </a:xfrm>
          <a:prstGeom prst="ellipse">
            <a:avLst/>
          </a:prstGeom>
          <a:solidFill>
            <a:srgbClr val="E8890C"/>
          </a:solidFill>
          <a:ln w="12700">
            <a:solidFill>
              <a:srgbClr val="E8890C"/>
            </a:solidFill>
            <a:prstDash val="solid"/>
          </a:ln>
        </p:spPr>
      </p:sp>
      <p:sp>
        <p:nvSpPr>
          <p:cNvPr id="14" name="Text 11"/>
          <p:cNvSpPr txBox="1"/>
          <p:nvPr/>
        </p:nvSpPr>
        <p:spPr>
          <a:xfrm>
            <a:off x="8412480" y="5257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4</a:t>
            </a:r>
            <a:endParaRPr lang="en-US" sz="1800" dirty="0"/>
          </a:p>
        </p:txBody>
      </p:sp>
      <p:sp>
        <p:nvSpPr>
          <p:cNvPr id="15" name="Text 12"/>
          <p:cNvSpPr txBox="1"/>
          <p:nvPr/>
        </p:nvSpPr>
        <p:spPr>
          <a:xfrm>
            <a:off x="9144000" y="5212080"/>
            <a:ext cx="2651760" cy="82296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Se agrega a la venta con un clic</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Capacidades de apoyo (sprint 6)</a:t>
            </a:r>
            <a:endParaRPr lang="en-US" sz="2800" dirty="0"/>
          </a:p>
        </p:txBody>
      </p:sp>
      <p:pic>
        <p:nvPicPr>
          <p:cNvPr id="3" name="Image 0" descr="/tmp/claude-0/-home-claude/12d53fbb-18c3-5237-8e14-37f4c9bad302/scratchpad/slides/cap_repuestos.jpg">    </p:cNvPr>
          <p:cNvPicPr>
            <a:picLocks noChangeAspect="1"/>
          </p:cNvPicPr>
          <p:nvPr/>
        </p:nvPicPr>
        <p:blipFill>
          <a:blip r:embed="rId2"/>
          <a:stretch>
            <a:fillRect/>
          </a:stretch>
        </p:blipFill>
        <p:spPr>
          <a:xfrm>
            <a:off x="548640" y="1737817"/>
            <a:ext cx="5394960" cy="3290926"/>
          </a:xfrm>
          <a:prstGeom prst="rect">
            <a:avLst/>
          </a:prstGeom>
        </p:spPr>
      </p:pic>
      <p:pic>
        <p:nvPicPr>
          <p:cNvPr id="4" name="Image 1" descr="/tmp/claude-0/-home-claude/12d53fbb-18c3-5237-8e14-37f4c9bad302/scratchpad/slides/cap_sugerencias.jpg">    </p:cNvPr>
          <p:cNvPicPr>
            <a:picLocks noChangeAspect="1"/>
          </p:cNvPicPr>
          <p:nvPr/>
        </p:nvPicPr>
        <p:blipFill>
          <a:blip r:embed="rId3"/>
          <a:stretch>
            <a:fillRect/>
          </a:stretch>
        </p:blipFill>
        <p:spPr>
          <a:xfrm>
            <a:off x="6263640" y="1737817"/>
            <a:ext cx="5394960" cy="3290926"/>
          </a:xfrm>
          <a:prstGeom prst="rect">
            <a:avLst/>
          </a:prstGeom>
        </p:spPr>
      </p:pic>
      <p:sp>
        <p:nvSpPr>
          <p:cNvPr id="5" name="Text 1"/>
          <p:cNvSpPr txBox="1"/>
          <p:nvPr/>
        </p:nvSpPr>
        <p:spPr>
          <a:xfrm>
            <a:off x="548640" y="5212080"/>
            <a:ext cx="5394960" cy="320040"/>
          </a:xfrm>
          <a:prstGeom prst="rect">
            <a:avLst/>
          </a:prstGeom>
          <a:noFill/>
          <a:ln/>
        </p:spPr>
        <p:txBody>
          <a:bodyPr wrap="square" lIns="0" tIns="0" rIns="0" bIns="0" rtlCol="0" anchor="t"/>
          <a:lstStyle/>
          <a:p>
            <a:pPr algn="ctr" indent="0" marL="0">
              <a:buNone/>
            </a:pPr>
            <a:r>
              <a:rPr lang="en-US" sz="1200" i="1" dirty="0">
                <a:solidFill>
                  <a:srgbClr val="5A5A5A"/>
                </a:solidFill>
                <a:latin typeface="Tahoma" pitchFamily="34" charset="0"/>
                <a:ea typeface="Tahoma" pitchFamily="34" charset="-122"/>
                <a:cs typeface="Tahoma" pitchFamily="34" charset="-120"/>
              </a:rPr>
              <a:t>Señales de demanda: «Rotación baja»</a:t>
            </a:r>
            <a:endParaRPr lang="en-US" sz="1200" dirty="0"/>
          </a:p>
        </p:txBody>
      </p:sp>
      <p:sp>
        <p:nvSpPr>
          <p:cNvPr id="6" name="Text 2"/>
          <p:cNvSpPr txBox="1"/>
          <p:nvPr/>
        </p:nvSpPr>
        <p:spPr>
          <a:xfrm>
            <a:off x="6263640" y="5212080"/>
            <a:ext cx="5394960" cy="320040"/>
          </a:xfrm>
          <a:prstGeom prst="rect">
            <a:avLst/>
          </a:prstGeom>
          <a:noFill/>
          <a:ln/>
        </p:spPr>
        <p:txBody>
          <a:bodyPr wrap="square" lIns="0" tIns="0" rIns="0" bIns="0" rtlCol="0" anchor="t"/>
          <a:lstStyle/>
          <a:p>
            <a:pPr algn="ctr" indent="0" marL="0">
              <a:buNone/>
            </a:pPr>
            <a:r>
              <a:rPr lang="en-US" sz="1200" i="1" dirty="0">
                <a:solidFill>
                  <a:srgbClr val="5A5A5A"/>
                </a:solidFill>
                <a:latin typeface="Tahoma" pitchFamily="34" charset="0"/>
                <a:ea typeface="Tahoma" pitchFamily="34" charset="-122"/>
                <a:cs typeface="Tahoma" pitchFamily="34" charset="-120"/>
              </a:rPr>
              <a:t>Productos similares por TF-IDF + coseno</a:t>
            </a:r>
            <a:endParaRPr lang="en-US" sz="1200" dirty="0"/>
          </a:p>
        </p:txBody>
      </p:sp>
      <p:sp>
        <p:nvSpPr>
          <p:cNvPr id="7" name="Text 3"/>
          <p:cNvSpPr txBox="1"/>
          <p:nvPr/>
        </p:nvSpPr>
        <p:spPr>
          <a:xfrm>
            <a:off x="548640" y="5715000"/>
            <a:ext cx="11109960" cy="457200"/>
          </a:xfrm>
          <a:prstGeom prst="rect">
            <a:avLst/>
          </a:prstGeom>
          <a:noFill/>
          <a:ln/>
        </p:spPr>
        <p:txBody>
          <a:bodyPr wrap="square" lIns="0" tIns="0" rIns="0" bIns="0" rtlCol="0" anchor="t"/>
          <a:lstStyle/>
          <a:p>
            <a:pPr algn="ctr" indent="0" marL="0">
              <a:buNone/>
            </a:pPr>
            <a:r>
              <a:rPr lang="en-US" sz="1500" b="1" dirty="0">
                <a:solidFill>
                  <a:srgbClr val="0E4C7C"/>
                </a:solidFill>
                <a:latin typeface="Tahoma" pitchFamily="34" charset="0"/>
                <a:ea typeface="Tahoma" pitchFamily="34" charset="-122"/>
                <a:cs typeface="Tahoma" pitchFamily="34" charset="-120"/>
              </a:rPr>
              <a:t>También: corrección de búsquedas con errores («filtro acite» → «filtro de aceite»).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Arquitectura</a:t>
            </a:r>
            <a:endParaRPr lang="en-US" sz="2800" dirty="0"/>
          </a:p>
        </p:txBody>
      </p:sp>
      <p:pic>
        <p:nvPicPr>
          <p:cNvPr id="3" name="Image 0" descr="/tmp/claude-0/-home-claude/12d53fbb-18c3-5237-8e14-37f4c9bad302/scratchpad/slides/fig_arquitectura.png">    </p:cNvPr>
          <p:cNvPicPr>
            <a:picLocks noChangeAspect="1"/>
          </p:cNvPicPr>
          <p:nvPr/>
        </p:nvPicPr>
        <p:blipFill>
          <a:blip r:embed="rId2"/>
          <a:stretch>
            <a:fillRect/>
          </a:stretch>
        </p:blipFill>
        <p:spPr>
          <a:xfrm>
            <a:off x="679762" y="1554480"/>
            <a:ext cx="5772797" cy="5120640"/>
          </a:xfrm>
          <a:prstGeom prst="rect">
            <a:avLst/>
          </a:prstGeom>
        </p:spPr>
      </p:pic>
      <p:sp>
        <p:nvSpPr>
          <p:cNvPr id="4" name="Shape 1"/>
          <p:cNvSpPr/>
          <p:nvPr/>
        </p:nvSpPr>
        <p:spPr>
          <a:xfrm>
            <a:off x="7040880" y="1783080"/>
            <a:ext cx="685800" cy="685800"/>
          </a:xfrm>
          <a:prstGeom prst="ellipse">
            <a:avLst/>
          </a:prstGeom>
          <a:solidFill>
            <a:srgbClr val="1B6FA8"/>
          </a:solidFill>
          <a:ln w="12700">
            <a:solidFill>
              <a:srgbClr val="1B6FA8"/>
            </a:solidFill>
            <a:prstDash val="solid"/>
          </a:ln>
        </p:spPr>
      </p:sp>
      <p:pic>
        <p:nvPicPr>
          <p:cNvPr id="5" name="Image 1" descr="preencoded.png">    </p:cNvPr>
          <p:cNvPicPr>
            <a:picLocks noChangeAspect="1"/>
          </p:cNvPicPr>
          <p:nvPr/>
        </p:nvPicPr>
        <p:blipFill>
          <a:blip r:embed="rId3"/>
          <a:stretch>
            <a:fillRect/>
          </a:stretch>
        </p:blipFill>
        <p:spPr>
          <a:xfrm>
            <a:off x="7205472" y="1947672"/>
            <a:ext cx="356616" cy="356616"/>
          </a:xfrm>
          <a:prstGeom prst="rect">
            <a:avLst/>
          </a:prstGeom>
        </p:spPr>
      </p:pic>
      <p:sp>
        <p:nvSpPr>
          <p:cNvPr id="6" name="Text 2"/>
          <p:cNvSpPr txBox="1"/>
          <p:nvPr/>
        </p:nvSpPr>
        <p:spPr>
          <a:xfrm>
            <a:off x="7909560" y="1764792"/>
            <a:ext cx="3840480" cy="365760"/>
          </a:xfrm>
          <a:prstGeom prst="rect">
            <a:avLst/>
          </a:prstGeom>
          <a:noFill/>
          <a:ln/>
        </p:spPr>
        <p:txBody>
          <a:bodyPr wrap="square" lIns="0" tIns="0" rIns="0" bIns="0" rtlCol="0" anchor="t"/>
          <a:lstStyle/>
          <a:p>
            <a:pPr indent="0" marL="0">
              <a:buNone/>
            </a:pPr>
            <a:r>
              <a:rPr lang="en-US" sz="1600" b="1" dirty="0">
                <a:solidFill>
                  <a:srgbClr val="0E4C7C"/>
                </a:solidFill>
                <a:latin typeface="Tahoma" pitchFamily="34" charset="0"/>
                <a:ea typeface="Tahoma" pitchFamily="34" charset="-122"/>
                <a:cs typeface="Tahoma" pitchFamily="34" charset="-120"/>
              </a:rPr>
              <a:t>Frontend React</a:t>
            </a:r>
            <a:endParaRPr lang="en-US" sz="1600" dirty="0"/>
          </a:p>
        </p:txBody>
      </p:sp>
      <p:sp>
        <p:nvSpPr>
          <p:cNvPr id="7" name="Text 3"/>
          <p:cNvSpPr txBox="1"/>
          <p:nvPr/>
        </p:nvSpPr>
        <p:spPr>
          <a:xfrm>
            <a:off x="7909560" y="2130552"/>
            <a:ext cx="3840480" cy="548640"/>
          </a:xfrm>
          <a:prstGeom prst="rect">
            <a:avLst/>
          </a:prstGeom>
          <a:noFill/>
          <a:ln/>
        </p:spPr>
        <p:txBody>
          <a:bodyPr wrap="square" lIns="0" tIns="0" rIns="0" bIns="0" rtlCol="0" anchor="t"/>
          <a:lstStyle/>
          <a:p>
            <a:pPr indent="0" marL="0">
              <a:buNone/>
            </a:pPr>
            <a:r>
              <a:rPr lang="en-US" sz="1400" dirty="0">
                <a:solidFill>
                  <a:srgbClr val="222222"/>
                </a:solidFill>
                <a:latin typeface="Tahoma" pitchFamily="34" charset="0"/>
                <a:ea typeface="Tahoma" pitchFamily="34" charset="-122"/>
                <a:cs typeface="Tahoma" pitchFamily="34" charset="-120"/>
              </a:rPr>
              <a:t>Solo habla con el backend</a:t>
            </a:r>
            <a:endParaRPr lang="en-US" sz="1400" dirty="0"/>
          </a:p>
        </p:txBody>
      </p:sp>
      <p:sp>
        <p:nvSpPr>
          <p:cNvPr id="8" name="Shape 4"/>
          <p:cNvSpPr/>
          <p:nvPr/>
        </p:nvSpPr>
        <p:spPr>
          <a:xfrm>
            <a:off x="7040880" y="2971800"/>
            <a:ext cx="685800" cy="685800"/>
          </a:xfrm>
          <a:prstGeom prst="ellipse">
            <a:avLst/>
          </a:prstGeom>
          <a:solidFill>
            <a:srgbClr val="1B6FA8"/>
          </a:solidFill>
          <a:ln w="12700">
            <a:solidFill>
              <a:srgbClr val="1B6FA8"/>
            </a:solidFill>
            <a:prstDash val="solid"/>
          </a:ln>
        </p:spPr>
      </p:sp>
      <p:pic>
        <p:nvPicPr>
          <p:cNvPr id="9" name="Image 2" descr="preencoded.png">    </p:cNvPr>
          <p:cNvPicPr>
            <a:picLocks noChangeAspect="1"/>
          </p:cNvPicPr>
          <p:nvPr/>
        </p:nvPicPr>
        <p:blipFill>
          <a:blip r:embed="rId4"/>
          <a:stretch>
            <a:fillRect/>
          </a:stretch>
        </p:blipFill>
        <p:spPr>
          <a:xfrm>
            <a:off x="7205472" y="3136392"/>
            <a:ext cx="356616" cy="356616"/>
          </a:xfrm>
          <a:prstGeom prst="rect">
            <a:avLst/>
          </a:prstGeom>
        </p:spPr>
      </p:pic>
      <p:sp>
        <p:nvSpPr>
          <p:cNvPr id="10" name="Text 5"/>
          <p:cNvSpPr txBox="1"/>
          <p:nvPr/>
        </p:nvSpPr>
        <p:spPr>
          <a:xfrm>
            <a:off x="7909560" y="2953512"/>
            <a:ext cx="3840480" cy="365760"/>
          </a:xfrm>
          <a:prstGeom prst="rect">
            <a:avLst/>
          </a:prstGeom>
          <a:noFill/>
          <a:ln/>
        </p:spPr>
        <p:txBody>
          <a:bodyPr wrap="square" lIns="0" tIns="0" rIns="0" bIns="0" rtlCol="0" anchor="t"/>
          <a:lstStyle/>
          <a:p>
            <a:pPr indent="0" marL="0">
              <a:buNone/>
            </a:pPr>
            <a:r>
              <a:rPr lang="en-US" sz="1600" b="1" dirty="0">
                <a:solidFill>
                  <a:srgbClr val="0E4C7C"/>
                </a:solidFill>
                <a:latin typeface="Tahoma" pitchFamily="34" charset="0"/>
                <a:ea typeface="Tahoma" pitchFamily="34" charset="-122"/>
                <a:cs typeface="Tahoma" pitchFamily="34" charset="-120"/>
              </a:rPr>
              <a:t>Backend PHP</a:t>
            </a:r>
            <a:endParaRPr lang="en-US" sz="1600" dirty="0"/>
          </a:p>
        </p:txBody>
      </p:sp>
      <p:sp>
        <p:nvSpPr>
          <p:cNvPr id="11" name="Text 6"/>
          <p:cNvSpPr txBox="1"/>
          <p:nvPr/>
        </p:nvSpPr>
        <p:spPr>
          <a:xfrm>
            <a:off x="7909560" y="3319272"/>
            <a:ext cx="3840480" cy="548640"/>
          </a:xfrm>
          <a:prstGeom prst="rect">
            <a:avLst/>
          </a:prstGeom>
          <a:noFill/>
          <a:ln/>
        </p:spPr>
        <p:txBody>
          <a:bodyPr wrap="square" lIns="0" tIns="0" rIns="0" bIns="0" rtlCol="0" anchor="t"/>
          <a:lstStyle/>
          <a:p>
            <a:pPr indent="0" marL="0">
              <a:buNone/>
            </a:pPr>
            <a:r>
              <a:rPr lang="en-US" sz="1400" dirty="0">
                <a:solidFill>
                  <a:srgbClr val="222222"/>
                </a:solidFill>
                <a:latin typeface="Tahoma" pitchFamily="34" charset="0"/>
                <a:ea typeface="Tahoma" pitchFamily="34" charset="-122"/>
                <a:cs typeface="Tahoma" pitchFamily="34" charset="-120"/>
              </a:rPr>
              <a:t>Único con acceso a Oracle; patrón Observer</a:t>
            </a:r>
            <a:endParaRPr lang="en-US" sz="1400" dirty="0"/>
          </a:p>
        </p:txBody>
      </p:sp>
      <p:sp>
        <p:nvSpPr>
          <p:cNvPr id="12" name="Shape 7"/>
          <p:cNvSpPr/>
          <p:nvPr/>
        </p:nvSpPr>
        <p:spPr>
          <a:xfrm>
            <a:off x="7040880" y="4160520"/>
            <a:ext cx="685800" cy="685800"/>
          </a:xfrm>
          <a:prstGeom prst="ellipse">
            <a:avLst/>
          </a:prstGeom>
          <a:solidFill>
            <a:srgbClr val="E8890C"/>
          </a:solidFill>
          <a:ln w="12700">
            <a:solidFill>
              <a:srgbClr val="E8890C"/>
            </a:solidFill>
            <a:prstDash val="solid"/>
          </a:ln>
        </p:spPr>
      </p:sp>
      <p:pic>
        <p:nvPicPr>
          <p:cNvPr id="13" name="Image 3" descr="preencoded.png">    </p:cNvPr>
          <p:cNvPicPr>
            <a:picLocks noChangeAspect="1"/>
          </p:cNvPicPr>
          <p:nvPr/>
        </p:nvPicPr>
        <p:blipFill>
          <a:blip r:embed="rId5"/>
          <a:stretch>
            <a:fillRect/>
          </a:stretch>
        </p:blipFill>
        <p:spPr>
          <a:xfrm>
            <a:off x="7205472" y="4325112"/>
            <a:ext cx="356616" cy="356616"/>
          </a:xfrm>
          <a:prstGeom prst="rect">
            <a:avLst/>
          </a:prstGeom>
        </p:spPr>
      </p:pic>
      <p:sp>
        <p:nvSpPr>
          <p:cNvPr id="14" name="Text 8"/>
          <p:cNvSpPr txBox="1"/>
          <p:nvPr/>
        </p:nvSpPr>
        <p:spPr>
          <a:xfrm>
            <a:off x="7909560" y="4142232"/>
            <a:ext cx="3840480" cy="365760"/>
          </a:xfrm>
          <a:prstGeom prst="rect">
            <a:avLst/>
          </a:prstGeom>
          <a:noFill/>
          <a:ln/>
        </p:spPr>
        <p:txBody>
          <a:bodyPr wrap="square" lIns="0" tIns="0" rIns="0" bIns="0" rtlCol="0" anchor="t"/>
          <a:lstStyle/>
          <a:p>
            <a:pPr indent="0" marL="0">
              <a:buNone/>
            </a:pPr>
            <a:r>
              <a:rPr lang="en-US" sz="1600" b="1" dirty="0">
                <a:solidFill>
                  <a:srgbClr val="0E4C7C"/>
                </a:solidFill>
                <a:latin typeface="Tahoma" pitchFamily="34" charset="0"/>
                <a:ea typeface="Tahoma" pitchFamily="34" charset="-122"/>
                <a:cs typeface="Tahoma" pitchFamily="34" charset="-120"/>
              </a:rPr>
              <a:t>Microservicio NLP</a:t>
            </a:r>
            <a:endParaRPr lang="en-US" sz="1600" dirty="0"/>
          </a:p>
        </p:txBody>
      </p:sp>
      <p:sp>
        <p:nvSpPr>
          <p:cNvPr id="15" name="Text 9"/>
          <p:cNvSpPr txBox="1"/>
          <p:nvPr/>
        </p:nvSpPr>
        <p:spPr>
          <a:xfrm>
            <a:off x="7909560" y="4507992"/>
            <a:ext cx="3840480" cy="548640"/>
          </a:xfrm>
          <a:prstGeom prst="rect">
            <a:avLst/>
          </a:prstGeom>
          <a:noFill/>
          <a:ln/>
        </p:spPr>
        <p:txBody>
          <a:bodyPr wrap="square" lIns="0" tIns="0" rIns="0" bIns="0" rtlCol="0" anchor="t"/>
          <a:lstStyle/>
          <a:p>
            <a:pPr indent="0" marL="0">
              <a:buNone/>
            </a:pPr>
            <a:r>
              <a:rPr lang="en-US" sz="1400" dirty="0">
                <a:solidFill>
                  <a:srgbClr val="222222"/>
                </a:solidFill>
                <a:latin typeface="Tahoma" pitchFamily="34" charset="0"/>
                <a:ea typeface="Tahoma" pitchFamily="34" charset="-122"/>
                <a:cs typeface="Tahoma" pitchFamily="34" charset="-120"/>
              </a:rPr>
              <a:t>Python + FastAPI, protegido con clave interna</a:t>
            </a:r>
            <a:endParaRPr lang="en-US" sz="1400" dirty="0"/>
          </a:p>
        </p:txBody>
      </p:sp>
      <p:sp>
        <p:nvSpPr>
          <p:cNvPr id="16" name="Shape 10"/>
          <p:cNvSpPr/>
          <p:nvPr/>
        </p:nvSpPr>
        <p:spPr>
          <a:xfrm>
            <a:off x="7040880" y="5349240"/>
            <a:ext cx="685800" cy="685800"/>
          </a:xfrm>
          <a:prstGeom prst="ellipse">
            <a:avLst/>
          </a:prstGeom>
          <a:solidFill>
            <a:srgbClr val="1B6FA8"/>
          </a:solidFill>
          <a:ln w="12700">
            <a:solidFill>
              <a:srgbClr val="1B6FA8"/>
            </a:solidFill>
            <a:prstDash val="solid"/>
          </a:ln>
        </p:spPr>
      </p:sp>
      <p:pic>
        <p:nvPicPr>
          <p:cNvPr id="17" name="Image 4" descr="preencoded.png">    </p:cNvPr>
          <p:cNvPicPr>
            <a:picLocks noChangeAspect="1"/>
          </p:cNvPicPr>
          <p:nvPr/>
        </p:nvPicPr>
        <p:blipFill>
          <a:blip r:embed="rId6"/>
          <a:stretch>
            <a:fillRect/>
          </a:stretch>
        </p:blipFill>
        <p:spPr>
          <a:xfrm>
            <a:off x="7205472" y="5513832"/>
            <a:ext cx="356616" cy="356616"/>
          </a:xfrm>
          <a:prstGeom prst="rect">
            <a:avLst/>
          </a:prstGeom>
        </p:spPr>
      </p:pic>
      <p:sp>
        <p:nvSpPr>
          <p:cNvPr id="18" name="Text 11"/>
          <p:cNvSpPr txBox="1"/>
          <p:nvPr/>
        </p:nvSpPr>
        <p:spPr>
          <a:xfrm>
            <a:off x="7909560" y="5330952"/>
            <a:ext cx="3840480" cy="365760"/>
          </a:xfrm>
          <a:prstGeom prst="rect">
            <a:avLst/>
          </a:prstGeom>
          <a:noFill/>
          <a:ln/>
        </p:spPr>
        <p:txBody>
          <a:bodyPr wrap="square" lIns="0" tIns="0" rIns="0" bIns="0" rtlCol="0" anchor="t"/>
          <a:lstStyle/>
          <a:p>
            <a:pPr indent="0" marL="0">
              <a:buNone/>
            </a:pPr>
            <a:r>
              <a:rPr lang="en-US" sz="1600" b="1" dirty="0">
                <a:solidFill>
                  <a:srgbClr val="0E4C7C"/>
                </a:solidFill>
                <a:latin typeface="Tahoma" pitchFamily="34" charset="0"/>
                <a:ea typeface="Tahoma" pitchFamily="34" charset="-122"/>
                <a:cs typeface="Tahoma" pitchFamily="34" charset="-120"/>
              </a:rPr>
              <a:t>Despliegue</a:t>
            </a:r>
            <a:endParaRPr lang="en-US" sz="1600" dirty="0"/>
          </a:p>
        </p:txBody>
      </p:sp>
      <p:sp>
        <p:nvSpPr>
          <p:cNvPr id="19" name="Text 12"/>
          <p:cNvSpPr txBox="1"/>
          <p:nvPr/>
        </p:nvSpPr>
        <p:spPr>
          <a:xfrm>
            <a:off x="7909560" y="5696712"/>
            <a:ext cx="3840480" cy="548640"/>
          </a:xfrm>
          <a:prstGeom prst="rect">
            <a:avLst/>
          </a:prstGeom>
          <a:noFill/>
          <a:ln/>
        </p:spPr>
        <p:txBody>
          <a:bodyPr wrap="square" lIns="0" tIns="0" rIns="0" bIns="0" rtlCol="0" anchor="t"/>
          <a:lstStyle/>
          <a:p>
            <a:pPr indent="0" marL="0">
              <a:buNone/>
            </a:pPr>
            <a:r>
              <a:rPr lang="en-US" sz="1400" dirty="0">
                <a:solidFill>
                  <a:srgbClr val="222222"/>
                </a:solidFill>
                <a:latin typeface="Tahoma" pitchFamily="34" charset="0"/>
                <a:ea typeface="Tahoma" pitchFamily="34" charset="-122"/>
                <a:cs typeface="Tahoma" pitchFamily="34" charset="-120"/>
              </a:rPr>
              <a:t>Docker en una máquina virtual de Azure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Capas del modelo</a:t>
            </a:r>
            <a:endParaRPr lang="en-US" sz="2800" dirty="0"/>
          </a:p>
        </p:txBody>
      </p:sp>
      <p:pic>
        <p:nvPicPr>
          <p:cNvPr id="3" name="Image 0" descr="/tmp/claude-0/-home-claude/12d53fbb-18c3-5237-8e14-37f4c9bad302/scratchpad/slides/fig_red.png">    </p:cNvPr>
          <p:cNvPicPr>
            <a:picLocks noChangeAspect="1"/>
          </p:cNvPicPr>
          <p:nvPr/>
        </p:nvPicPr>
        <p:blipFill>
          <a:blip r:embed="rId2"/>
          <a:stretch>
            <a:fillRect/>
          </a:stretch>
        </p:blipFill>
        <p:spPr>
          <a:xfrm>
            <a:off x="643697" y="1554480"/>
            <a:ext cx="4930526" cy="5029200"/>
          </a:xfrm>
          <a:prstGeom prst="rect">
            <a:avLst/>
          </a:prstGeom>
        </p:spPr>
      </p:pic>
      <p:sp>
        <p:nvSpPr>
          <p:cNvPr id="4" name="Shape 1"/>
          <p:cNvSpPr/>
          <p:nvPr/>
        </p:nvSpPr>
        <p:spPr>
          <a:xfrm>
            <a:off x="6126480" y="1691640"/>
            <a:ext cx="5486400" cy="1188720"/>
          </a:xfrm>
          <a:prstGeom prst="roundRect">
            <a:avLst>
              <a:gd name="adj" fmla="val 9231"/>
            </a:avLst>
          </a:prstGeom>
          <a:solidFill>
            <a:srgbClr val="EEF4FA"/>
          </a:solidFill>
          <a:ln w="12700">
            <a:solidFill>
              <a:srgbClr val="EEF4FA"/>
            </a:solidFill>
            <a:prstDash val="solid"/>
          </a:ln>
        </p:spPr>
      </p:sp>
      <p:sp>
        <p:nvSpPr>
          <p:cNvPr id="5" name="Text 2"/>
          <p:cNvSpPr txBox="1"/>
          <p:nvPr/>
        </p:nvSpPr>
        <p:spPr>
          <a:xfrm>
            <a:off x="6217920" y="1691640"/>
            <a:ext cx="1463040" cy="1188720"/>
          </a:xfrm>
          <a:prstGeom prst="rect">
            <a:avLst/>
          </a:prstGeom>
          <a:noFill/>
          <a:ln/>
        </p:spPr>
        <p:txBody>
          <a:bodyPr wrap="square" lIns="0" tIns="0" rIns="0" bIns="0" rtlCol="0" anchor="ctr"/>
          <a:lstStyle/>
          <a:p>
            <a:pPr algn="ctr" indent="0" marL="0">
              <a:buNone/>
            </a:pPr>
            <a:r>
              <a:rPr lang="en-US" sz="4400" b="1" dirty="0">
                <a:solidFill>
                  <a:srgbClr val="1B6FA8"/>
                </a:solidFill>
                <a:latin typeface="Tahoma" pitchFamily="34" charset="0"/>
                <a:ea typeface="Tahoma" pitchFamily="34" charset="-122"/>
                <a:cs typeface="Tahoma" pitchFamily="34" charset="-120"/>
              </a:rPr>
              <a:t>194</a:t>
            </a:r>
            <a:endParaRPr lang="en-US" sz="4400" dirty="0"/>
          </a:p>
        </p:txBody>
      </p:sp>
      <p:sp>
        <p:nvSpPr>
          <p:cNvPr id="6" name="Text 3"/>
          <p:cNvSpPr txBox="1"/>
          <p:nvPr/>
        </p:nvSpPr>
        <p:spPr>
          <a:xfrm>
            <a:off x="7772400" y="1856232"/>
            <a:ext cx="3657600" cy="411480"/>
          </a:xfrm>
          <a:prstGeom prst="rect">
            <a:avLst/>
          </a:prstGeom>
          <a:noFill/>
          <a:ln/>
        </p:spPr>
        <p:txBody>
          <a:bodyPr wrap="square" lIns="0" tIns="0" rIns="0" bIns="0" rtlCol="0" anchor="t"/>
          <a:lstStyle/>
          <a:p>
            <a:pPr indent="0" marL="0">
              <a:buNone/>
            </a:pPr>
            <a:r>
              <a:rPr lang="en-US" sz="1700" b="1" dirty="0">
                <a:solidFill>
                  <a:srgbClr val="222222"/>
                </a:solidFill>
                <a:latin typeface="Tahoma" pitchFamily="34" charset="0"/>
                <a:ea typeface="Tahoma" pitchFamily="34" charset="-122"/>
                <a:cs typeface="Tahoma" pitchFamily="34" charset="-120"/>
              </a:rPr>
              <a:t>neuronas de entrada</a:t>
            </a:r>
            <a:endParaRPr lang="en-US" sz="1700" dirty="0"/>
          </a:p>
        </p:txBody>
      </p:sp>
      <p:sp>
        <p:nvSpPr>
          <p:cNvPr id="7" name="Text 4"/>
          <p:cNvSpPr txBox="1"/>
          <p:nvPr/>
        </p:nvSpPr>
        <p:spPr>
          <a:xfrm>
            <a:off x="7772400" y="2286000"/>
            <a:ext cx="3657600" cy="457200"/>
          </a:xfrm>
          <a:prstGeom prst="rect">
            <a:avLst/>
          </a:prstGeom>
          <a:noFill/>
          <a:ln/>
        </p:spPr>
        <p:txBody>
          <a:bodyPr wrap="square" lIns="0" tIns="0" rIns="0" bIns="0" rtlCol="0" anchor="t"/>
          <a:lstStyle/>
          <a:p>
            <a:pPr indent="0" marL="0">
              <a:buNone/>
            </a:pPr>
            <a:r>
              <a:rPr lang="en-US" sz="1400" dirty="0">
                <a:solidFill>
                  <a:srgbClr val="5A5A5A"/>
                </a:solidFill>
                <a:latin typeface="Tahoma" pitchFamily="34" charset="0"/>
                <a:ea typeface="Tahoma" pitchFamily="34" charset="-122"/>
                <a:cs typeface="Tahoma" pitchFamily="34" charset="-120"/>
              </a:rPr>
              <a:t>una por palabra del vocabulario (TF-IDF)</a:t>
            </a:r>
            <a:endParaRPr lang="en-US" sz="1400" dirty="0"/>
          </a:p>
        </p:txBody>
      </p:sp>
      <p:sp>
        <p:nvSpPr>
          <p:cNvPr id="8" name="Shape 5"/>
          <p:cNvSpPr/>
          <p:nvPr/>
        </p:nvSpPr>
        <p:spPr>
          <a:xfrm>
            <a:off x="6126480" y="3063240"/>
            <a:ext cx="5486400" cy="1188720"/>
          </a:xfrm>
          <a:prstGeom prst="roundRect">
            <a:avLst>
              <a:gd name="adj" fmla="val 9231"/>
            </a:avLst>
          </a:prstGeom>
          <a:solidFill>
            <a:srgbClr val="FDF1E0"/>
          </a:solidFill>
          <a:ln w="12700">
            <a:solidFill>
              <a:srgbClr val="FDF1E0"/>
            </a:solidFill>
            <a:prstDash val="solid"/>
          </a:ln>
        </p:spPr>
      </p:sp>
      <p:sp>
        <p:nvSpPr>
          <p:cNvPr id="9" name="Text 6"/>
          <p:cNvSpPr txBox="1"/>
          <p:nvPr/>
        </p:nvSpPr>
        <p:spPr>
          <a:xfrm>
            <a:off x="6217920" y="3063240"/>
            <a:ext cx="1463040" cy="1188720"/>
          </a:xfrm>
          <a:prstGeom prst="rect">
            <a:avLst/>
          </a:prstGeom>
          <a:noFill/>
          <a:ln/>
        </p:spPr>
        <p:txBody>
          <a:bodyPr wrap="square" lIns="0" tIns="0" rIns="0" bIns="0" rtlCol="0" anchor="ctr"/>
          <a:lstStyle/>
          <a:p>
            <a:pPr algn="ctr" indent="0" marL="0">
              <a:buNone/>
            </a:pPr>
            <a:r>
              <a:rPr lang="en-US" sz="4400" b="1" dirty="0">
                <a:solidFill>
                  <a:srgbClr val="E8890C"/>
                </a:solidFill>
                <a:latin typeface="Tahoma" pitchFamily="34" charset="0"/>
                <a:ea typeface="Tahoma" pitchFamily="34" charset="-122"/>
                <a:cs typeface="Tahoma" pitchFamily="34" charset="-120"/>
              </a:rPr>
              <a:t>0</a:t>
            </a:r>
            <a:endParaRPr lang="en-US" sz="4400" dirty="0"/>
          </a:p>
        </p:txBody>
      </p:sp>
      <p:sp>
        <p:nvSpPr>
          <p:cNvPr id="10" name="Text 7"/>
          <p:cNvSpPr txBox="1"/>
          <p:nvPr/>
        </p:nvSpPr>
        <p:spPr>
          <a:xfrm>
            <a:off x="7772400" y="3227832"/>
            <a:ext cx="3657600" cy="411480"/>
          </a:xfrm>
          <a:prstGeom prst="rect">
            <a:avLst/>
          </a:prstGeom>
          <a:noFill/>
          <a:ln/>
        </p:spPr>
        <p:txBody>
          <a:bodyPr wrap="square" lIns="0" tIns="0" rIns="0" bIns="0" rtlCol="0" anchor="t"/>
          <a:lstStyle/>
          <a:p>
            <a:pPr indent="0" marL="0">
              <a:buNone/>
            </a:pPr>
            <a:r>
              <a:rPr lang="en-US" sz="1700" b="1" dirty="0">
                <a:solidFill>
                  <a:srgbClr val="222222"/>
                </a:solidFill>
                <a:latin typeface="Tahoma" pitchFamily="34" charset="0"/>
                <a:ea typeface="Tahoma" pitchFamily="34" charset="-122"/>
                <a:cs typeface="Tahoma" pitchFamily="34" charset="-120"/>
              </a:rPr>
              <a:t>capas ocultas</a:t>
            </a:r>
            <a:endParaRPr lang="en-US" sz="1700" dirty="0"/>
          </a:p>
        </p:txBody>
      </p:sp>
      <p:sp>
        <p:nvSpPr>
          <p:cNvPr id="11" name="Text 8"/>
          <p:cNvSpPr txBox="1"/>
          <p:nvPr/>
        </p:nvSpPr>
        <p:spPr>
          <a:xfrm>
            <a:off x="7772400" y="3657600"/>
            <a:ext cx="3657600" cy="457200"/>
          </a:xfrm>
          <a:prstGeom prst="rect">
            <a:avLst/>
          </a:prstGeom>
          <a:noFill/>
          <a:ln/>
        </p:spPr>
        <p:txBody>
          <a:bodyPr wrap="square" lIns="0" tIns="0" rIns="0" bIns="0" rtlCol="0" anchor="t"/>
          <a:lstStyle/>
          <a:p>
            <a:pPr indent="0" marL="0">
              <a:buNone/>
            </a:pPr>
            <a:r>
              <a:rPr lang="en-US" sz="1400" dirty="0">
                <a:solidFill>
                  <a:srgbClr val="5A5A5A"/>
                </a:solidFill>
                <a:latin typeface="Tahoma" pitchFamily="34" charset="0"/>
                <a:ea typeface="Tahoma" pitchFamily="34" charset="-122"/>
                <a:cs typeface="Tahoma" pitchFamily="34" charset="-120"/>
              </a:rPr>
              <a:t>regresión logística = red de una capa</a:t>
            </a:r>
            <a:endParaRPr lang="en-US" sz="1400" dirty="0"/>
          </a:p>
        </p:txBody>
      </p:sp>
      <p:sp>
        <p:nvSpPr>
          <p:cNvPr id="12" name="Shape 9"/>
          <p:cNvSpPr/>
          <p:nvPr/>
        </p:nvSpPr>
        <p:spPr>
          <a:xfrm>
            <a:off x="6126480" y="4434840"/>
            <a:ext cx="5486400" cy="1188720"/>
          </a:xfrm>
          <a:prstGeom prst="roundRect">
            <a:avLst>
              <a:gd name="adj" fmla="val 9231"/>
            </a:avLst>
          </a:prstGeom>
          <a:solidFill>
            <a:srgbClr val="EEF4FA"/>
          </a:solidFill>
          <a:ln w="12700">
            <a:solidFill>
              <a:srgbClr val="EEF4FA"/>
            </a:solidFill>
            <a:prstDash val="solid"/>
          </a:ln>
        </p:spPr>
      </p:sp>
      <p:sp>
        <p:nvSpPr>
          <p:cNvPr id="13" name="Text 10"/>
          <p:cNvSpPr txBox="1"/>
          <p:nvPr/>
        </p:nvSpPr>
        <p:spPr>
          <a:xfrm>
            <a:off x="6217920" y="4434840"/>
            <a:ext cx="1463040" cy="1188720"/>
          </a:xfrm>
          <a:prstGeom prst="rect">
            <a:avLst/>
          </a:prstGeom>
          <a:noFill/>
          <a:ln/>
        </p:spPr>
        <p:txBody>
          <a:bodyPr wrap="square" lIns="0" tIns="0" rIns="0" bIns="0" rtlCol="0" anchor="ctr"/>
          <a:lstStyle/>
          <a:p>
            <a:pPr algn="ctr" indent="0" marL="0">
              <a:buNone/>
            </a:pPr>
            <a:r>
              <a:rPr lang="en-US" sz="4400" b="1" dirty="0">
                <a:solidFill>
                  <a:srgbClr val="1B6FA8"/>
                </a:solidFill>
                <a:latin typeface="Tahoma" pitchFamily="34" charset="0"/>
                <a:ea typeface="Tahoma" pitchFamily="34" charset="-122"/>
                <a:cs typeface="Tahoma" pitchFamily="34" charset="-120"/>
              </a:rPr>
              <a:t>7</a:t>
            </a:r>
            <a:endParaRPr lang="en-US" sz="4400" dirty="0"/>
          </a:p>
        </p:txBody>
      </p:sp>
      <p:sp>
        <p:nvSpPr>
          <p:cNvPr id="14" name="Text 11"/>
          <p:cNvSpPr txBox="1"/>
          <p:nvPr/>
        </p:nvSpPr>
        <p:spPr>
          <a:xfrm>
            <a:off x="7772400" y="4599432"/>
            <a:ext cx="3657600" cy="411480"/>
          </a:xfrm>
          <a:prstGeom prst="rect">
            <a:avLst/>
          </a:prstGeom>
          <a:noFill/>
          <a:ln/>
        </p:spPr>
        <p:txBody>
          <a:bodyPr wrap="square" lIns="0" tIns="0" rIns="0" bIns="0" rtlCol="0" anchor="t"/>
          <a:lstStyle/>
          <a:p>
            <a:pPr indent="0" marL="0">
              <a:buNone/>
            </a:pPr>
            <a:r>
              <a:rPr lang="en-US" sz="1700" b="1" dirty="0">
                <a:solidFill>
                  <a:srgbClr val="222222"/>
                </a:solidFill>
                <a:latin typeface="Tahoma" pitchFamily="34" charset="0"/>
                <a:ea typeface="Tahoma" pitchFamily="34" charset="-122"/>
                <a:cs typeface="Tahoma" pitchFamily="34" charset="-120"/>
              </a:rPr>
              <a:t>neuronas de salida</a:t>
            </a:r>
            <a:endParaRPr lang="en-US" sz="1700" dirty="0"/>
          </a:p>
        </p:txBody>
      </p:sp>
      <p:sp>
        <p:nvSpPr>
          <p:cNvPr id="15" name="Text 12"/>
          <p:cNvSpPr txBox="1"/>
          <p:nvPr/>
        </p:nvSpPr>
        <p:spPr>
          <a:xfrm>
            <a:off x="7772400" y="5029200"/>
            <a:ext cx="3657600" cy="457200"/>
          </a:xfrm>
          <a:prstGeom prst="rect">
            <a:avLst/>
          </a:prstGeom>
          <a:noFill/>
          <a:ln/>
        </p:spPr>
        <p:txBody>
          <a:bodyPr wrap="square" lIns="0" tIns="0" rIns="0" bIns="0" rtlCol="0" anchor="t"/>
          <a:lstStyle/>
          <a:p>
            <a:pPr indent="0" marL="0">
              <a:buNone/>
            </a:pPr>
            <a:r>
              <a:rPr lang="en-US" sz="1400" dirty="0">
                <a:solidFill>
                  <a:srgbClr val="5A5A5A"/>
                </a:solidFill>
                <a:latin typeface="Tahoma" pitchFamily="34" charset="0"/>
                <a:ea typeface="Tahoma" pitchFamily="34" charset="-122"/>
                <a:cs typeface="Tahoma" pitchFamily="34" charset="-120"/>
              </a:rPr>
              <a:t>una por intención; umbral de confianza 0.35</a:t>
            </a:r>
            <a:endParaRPr lang="en-US" sz="1400" dirty="0"/>
          </a:p>
        </p:txBody>
      </p:sp>
      <p:sp>
        <p:nvSpPr>
          <p:cNvPr id="16" name="Text 13"/>
          <p:cNvSpPr txBox="1"/>
          <p:nvPr/>
        </p:nvSpPr>
        <p:spPr>
          <a:xfrm>
            <a:off x="6126480" y="5852160"/>
            <a:ext cx="5486400" cy="777240"/>
          </a:xfrm>
          <a:prstGeom prst="rect">
            <a:avLst/>
          </a:prstGeom>
          <a:noFill/>
          <a:ln/>
        </p:spPr>
        <p:txBody>
          <a:bodyPr wrap="square" lIns="0" tIns="0" rIns="0" bIns="0" rtlCol="0" anchor="t"/>
          <a:lstStyle/>
          <a:p>
            <a:pPr indent="0" marL="0">
              <a:buNone/>
            </a:pPr>
            <a:r>
              <a:rPr lang="en-US" sz="1300" i="1" dirty="0">
                <a:solidFill>
                  <a:srgbClr val="0E4C7C"/>
                </a:solidFill>
                <a:latin typeface="Tahoma" pitchFamily="34" charset="0"/>
                <a:ea typeface="Tahoma" pitchFamily="34" charset="-122"/>
                <a:cs typeface="Tahoma" pitchFamily="34" charset="-120"/>
              </a:rPr>
              <a:t>¿Por qué sin capas ocultas? Con 65 ejemplos, una red profunda memoriza en vez de aprender. El modelo lineal generaliza mejor y es explicable.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¿Cómo lo entrenamos?</a:t>
            </a:r>
            <a:endParaRPr lang="en-US" sz="2800" dirty="0"/>
          </a:p>
        </p:txBody>
      </p:sp>
      <p:graphicFrame>
        <p:nvGraphicFramePr>
          <p:cNvPr id="3" name="Chart 0" descr=""/>
          <p:cNvGraphicFramePr/>
          <p:nvPr/>
        </p:nvGraphicFramePr>
        <p:xfrm>
          <a:off x="457200" y="1600200"/>
          <a:ext cx="6309360" cy="4846320"/>
        </p:xfrm>
        <a:graphic xmlns:a="http://schemas.openxmlformats.org/drawingml/2006/main">
          <a:graphicData uri="http://schemas.openxmlformats.org/drawingml/2006/chart">
            <c:chart xmlns:c="http://schemas.openxmlformats.org/drawingml/2006/chart" r:id="rId2"/>
          </a:graphicData>
        </a:graphic>
      </p:graphicFrame>
      <p:sp>
        <p:nvSpPr>
          <p:cNvPr id="4" name="Shape 1"/>
          <p:cNvSpPr/>
          <p:nvPr/>
        </p:nvSpPr>
        <p:spPr>
          <a:xfrm>
            <a:off x="7132320" y="1828800"/>
            <a:ext cx="548640" cy="548640"/>
          </a:xfrm>
          <a:prstGeom prst="ellipse">
            <a:avLst/>
          </a:prstGeom>
          <a:solidFill>
            <a:srgbClr val="E8890C"/>
          </a:solidFill>
          <a:ln w="12700">
            <a:solidFill>
              <a:srgbClr val="E8890C"/>
            </a:solidFill>
            <a:prstDash val="solid"/>
          </a:ln>
        </p:spPr>
      </p:sp>
      <p:sp>
        <p:nvSpPr>
          <p:cNvPr id="5" name="Text 2"/>
          <p:cNvSpPr txBox="1"/>
          <p:nvPr/>
        </p:nvSpPr>
        <p:spPr>
          <a:xfrm>
            <a:off x="713232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1</a:t>
            </a:r>
            <a:endParaRPr lang="en-US" sz="1800" dirty="0"/>
          </a:p>
        </p:txBody>
      </p:sp>
      <p:sp>
        <p:nvSpPr>
          <p:cNvPr id="6" name="Text 3"/>
          <p:cNvSpPr txBox="1"/>
          <p:nvPr/>
        </p:nvSpPr>
        <p:spPr>
          <a:xfrm>
            <a:off x="7863840" y="1737360"/>
            <a:ext cx="393192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Preprocesar: minúsculas, sin tildes, sin palabras vacías</a:t>
            </a:r>
            <a:endParaRPr lang="en-US" sz="1500" dirty="0"/>
          </a:p>
        </p:txBody>
      </p:sp>
      <p:sp>
        <p:nvSpPr>
          <p:cNvPr id="7" name="Shape 4"/>
          <p:cNvSpPr/>
          <p:nvPr/>
        </p:nvSpPr>
        <p:spPr>
          <a:xfrm>
            <a:off x="7132320" y="2926080"/>
            <a:ext cx="548640" cy="548640"/>
          </a:xfrm>
          <a:prstGeom prst="ellipse">
            <a:avLst/>
          </a:prstGeom>
          <a:solidFill>
            <a:srgbClr val="E8890C"/>
          </a:solidFill>
          <a:ln w="12700">
            <a:solidFill>
              <a:srgbClr val="E8890C"/>
            </a:solidFill>
            <a:prstDash val="solid"/>
          </a:ln>
        </p:spPr>
      </p:sp>
      <p:sp>
        <p:nvSpPr>
          <p:cNvPr id="8" name="Text 5"/>
          <p:cNvSpPr txBox="1"/>
          <p:nvPr/>
        </p:nvSpPr>
        <p:spPr>
          <a:xfrm>
            <a:off x="7132320" y="2926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2</a:t>
            </a:r>
            <a:endParaRPr lang="en-US" sz="1800" dirty="0"/>
          </a:p>
        </p:txBody>
      </p:sp>
      <p:sp>
        <p:nvSpPr>
          <p:cNvPr id="9" name="Text 6"/>
          <p:cNvSpPr txBox="1"/>
          <p:nvPr/>
        </p:nvSpPr>
        <p:spPr>
          <a:xfrm>
            <a:off x="7863840" y="2834640"/>
            <a:ext cx="393192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TF-IDF convierte cada frase en 194 números</a:t>
            </a:r>
            <a:endParaRPr lang="en-US" sz="1500" dirty="0"/>
          </a:p>
        </p:txBody>
      </p:sp>
      <p:sp>
        <p:nvSpPr>
          <p:cNvPr id="10" name="Shape 7"/>
          <p:cNvSpPr/>
          <p:nvPr/>
        </p:nvSpPr>
        <p:spPr>
          <a:xfrm>
            <a:off x="7132320" y="4023360"/>
            <a:ext cx="548640" cy="548640"/>
          </a:xfrm>
          <a:prstGeom prst="ellipse">
            <a:avLst/>
          </a:prstGeom>
          <a:solidFill>
            <a:srgbClr val="E8890C"/>
          </a:solidFill>
          <a:ln w="12700">
            <a:solidFill>
              <a:srgbClr val="E8890C"/>
            </a:solidFill>
            <a:prstDash val="solid"/>
          </a:ln>
        </p:spPr>
      </p:sp>
      <p:sp>
        <p:nvSpPr>
          <p:cNvPr id="11" name="Text 8"/>
          <p:cNvSpPr txBox="1"/>
          <p:nvPr/>
        </p:nvSpPr>
        <p:spPr>
          <a:xfrm>
            <a:off x="7132320" y="4023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3</a:t>
            </a:r>
            <a:endParaRPr lang="en-US" sz="1800" dirty="0"/>
          </a:p>
        </p:txBody>
      </p:sp>
      <p:sp>
        <p:nvSpPr>
          <p:cNvPr id="12" name="Text 9"/>
          <p:cNvSpPr txBox="1"/>
          <p:nvPr/>
        </p:nvSpPr>
        <p:spPr>
          <a:xfrm>
            <a:off x="7863840" y="3931920"/>
            <a:ext cx="393192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Regresión logística aprende el peso de cada palabra por intención</a:t>
            </a:r>
            <a:endParaRPr lang="en-US" sz="1500" dirty="0"/>
          </a:p>
        </p:txBody>
      </p:sp>
      <p:sp>
        <p:nvSpPr>
          <p:cNvPr id="13" name="Shape 10"/>
          <p:cNvSpPr/>
          <p:nvPr/>
        </p:nvSpPr>
        <p:spPr>
          <a:xfrm>
            <a:off x="7132320" y="5120640"/>
            <a:ext cx="548640" cy="548640"/>
          </a:xfrm>
          <a:prstGeom prst="ellipse">
            <a:avLst/>
          </a:prstGeom>
          <a:solidFill>
            <a:srgbClr val="E8890C"/>
          </a:solidFill>
          <a:ln w="12700">
            <a:solidFill>
              <a:srgbClr val="E8890C"/>
            </a:solidFill>
            <a:prstDash val="solid"/>
          </a:ln>
        </p:spPr>
      </p:sp>
      <p:sp>
        <p:nvSpPr>
          <p:cNvPr id="14" name="Text 11"/>
          <p:cNvSpPr txBox="1"/>
          <p:nvPr/>
        </p:nvSpPr>
        <p:spPr>
          <a:xfrm>
            <a:off x="7132320" y="5120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ahoma" pitchFamily="34" charset="0"/>
                <a:ea typeface="Tahoma" pitchFamily="34" charset="-122"/>
                <a:cs typeface="Tahoma" pitchFamily="34" charset="-120"/>
              </a:rPr>
              <a:t>4</a:t>
            </a:r>
            <a:endParaRPr lang="en-US" sz="1800" dirty="0"/>
          </a:p>
        </p:txBody>
      </p:sp>
      <p:sp>
        <p:nvSpPr>
          <p:cNvPr id="15" name="Text 12"/>
          <p:cNvSpPr txBox="1"/>
          <p:nvPr/>
        </p:nvSpPr>
        <p:spPr>
          <a:xfrm>
            <a:off x="7863840" y="5029200"/>
            <a:ext cx="393192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Validación cruzada de 5 partes y modelo final con las 65 frases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Métricas de la primera evaluación</a:t>
            </a:r>
            <a:endParaRPr lang="en-US" sz="2800" dirty="0"/>
          </a:p>
        </p:txBody>
      </p:sp>
      <p:sp>
        <p:nvSpPr>
          <p:cNvPr id="3" name="Shape 1"/>
          <p:cNvSpPr/>
          <p:nvPr/>
        </p:nvSpPr>
        <p:spPr>
          <a:xfrm>
            <a:off x="548640" y="1783080"/>
            <a:ext cx="2606040" cy="2377440"/>
          </a:xfrm>
          <a:prstGeom prst="roundRect">
            <a:avLst>
              <a:gd name="adj" fmla="val 4615"/>
            </a:avLst>
          </a:prstGeom>
          <a:solidFill>
            <a:srgbClr val="EEF4FA"/>
          </a:solidFill>
          <a:ln w="12700">
            <a:solidFill>
              <a:srgbClr val="EEF4FA"/>
            </a:solidFill>
            <a:prstDash val="solid"/>
          </a:ln>
        </p:spPr>
      </p:sp>
      <p:sp>
        <p:nvSpPr>
          <p:cNvPr id="4" name="Text 2"/>
          <p:cNvSpPr txBox="1"/>
          <p:nvPr/>
        </p:nvSpPr>
        <p:spPr>
          <a:xfrm>
            <a:off x="548640" y="1965960"/>
            <a:ext cx="2606040" cy="914400"/>
          </a:xfrm>
          <a:prstGeom prst="rect">
            <a:avLst/>
          </a:prstGeom>
          <a:noFill/>
          <a:ln/>
        </p:spPr>
        <p:txBody>
          <a:bodyPr wrap="square" lIns="0" tIns="0" rIns="0" bIns="0" rtlCol="0" anchor="ctr"/>
          <a:lstStyle/>
          <a:p>
            <a:pPr algn="ctr" indent="0" marL="0">
              <a:buNone/>
            </a:pPr>
            <a:r>
              <a:rPr lang="en-US" sz="4000" b="1" dirty="0">
                <a:solidFill>
                  <a:srgbClr val="1B6FA8"/>
                </a:solidFill>
                <a:latin typeface="Tahoma" pitchFamily="34" charset="0"/>
                <a:ea typeface="Tahoma" pitchFamily="34" charset="-122"/>
                <a:cs typeface="Tahoma" pitchFamily="34" charset="-120"/>
              </a:rPr>
              <a:t>82.1 %</a:t>
            </a:r>
            <a:endParaRPr lang="en-US" sz="4000" dirty="0"/>
          </a:p>
        </p:txBody>
      </p:sp>
      <p:sp>
        <p:nvSpPr>
          <p:cNvPr id="5" name="Text 3"/>
          <p:cNvSpPr txBox="1"/>
          <p:nvPr/>
        </p:nvSpPr>
        <p:spPr>
          <a:xfrm>
            <a:off x="548640" y="2926080"/>
            <a:ext cx="2606040" cy="411480"/>
          </a:xfrm>
          <a:prstGeom prst="rect">
            <a:avLst/>
          </a:prstGeom>
          <a:noFill/>
          <a:ln/>
        </p:spPr>
        <p:txBody>
          <a:bodyPr wrap="square" lIns="0" tIns="0" rIns="0" bIns="0" rtlCol="0" anchor="t"/>
          <a:lstStyle/>
          <a:p>
            <a:pPr algn="ctr" indent="0" marL="0">
              <a:buNone/>
            </a:pPr>
            <a:r>
              <a:rPr lang="en-US" sz="1700" b="1" dirty="0">
                <a:solidFill>
                  <a:srgbClr val="222222"/>
                </a:solidFill>
                <a:latin typeface="Tahoma" pitchFamily="34" charset="0"/>
                <a:ea typeface="Tahoma" pitchFamily="34" charset="-122"/>
                <a:cs typeface="Tahoma" pitchFamily="34" charset="-120"/>
              </a:rPr>
              <a:t>Exactitud</a:t>
            </a:r>
            <a:endParaRPr lang="en-US" sz="1700" dirty="0"/>
          </a:p>
        </p:txBody>
      </p:sp>
      <p:sp>
        <p:nvSpPr>
          <p:cNvPr id="6" name="Text 4"/>
          <p:cNvSpPr txBox="1"/>
          <p:nvPr/>
        </p:nvSpPr>
        <p:spPr>
          <a:xfrm>
            <a:off x="685800" y="3383280"/>
            <a:ext cx="2331720" cy="548640"/>
          </a:xfrm>
          <a:prstGeom prst="rect">
            <a:avLst/>
          </a:prstGeom>
          <a:noFill/>
          <a:ln/>
        </p:spPr>
        <p:txBody>
          <a:bodyPr wrap="square" lIns="0" tIns="0" rIns="0" bIns="0" rtlCol="0" anchor="t"/>
          <a:lstStyle/>
          <a:p>
            <a:pPr algn="ctr" indent="0" marL="0">
              <a:buNone/>
            </a:pPr>
            <a:r>
              <a:rPr lang="en-US" sz="1300" dirty="0">
                <a:solidFill>
                  <a:srgbClr val="5A5A5A"/>
                </a:solidFill>
                <a:latin typeface="Tahoma" pitchFamily="34" charset="0"/>
                <a:ea typeface="Tahoma" pitchFamily="34" charset="-122"/>
                <a:cs typeface="Tahoma" pitchFamily="34" charset="-120"/>
              </a:rPr>
              <a:t>intención, 28 frases nuevas</a:t>
            </a:r>
            <a:endParaRPr lang="en-US" sz="1300" dirty="0"/>
          </a:p>
        </p:txBody>
      </p:sp>
      <p:sp>
        <p:nvSpPr>
          <p:cNvPr id="7" name="Shape 5"/>
          <p:cNvSpPr/>
          <p:nvPr/>
        </p:nvSpPr>
        <p:spPr>
          <a:xfrm>
            <a:off x="3383280" y="1783080"/>
            <a:ext cx="2606040" cy="2377440"/>
          </a:xfrm>
          <a:prstGeom prst="roundRect">
            <a:avLst>
              <a:gd name="adj" fmla="val 4615"/>
            </a:avLst>
          </a:prstGeom>
          <a:solidFill>
            <a:srgbClr val="EEF4FA"/>
          </a:solidFill>
          <a:ln w="12700">
            <a:solidFill>
              <a:srgbClr val="EEF4FA"/>
            </a:solidFill>
            <a:prstDash val="solid"/>
          </a:ln>
        </p:spPr>
      </p:sp>
      <p:sp>
        <p:nvSpPr>
          <p:cNvPr id="8" name="Text 6"/>
          <p:cNvSpPr txBox="1"/>
          <p:nvPr/>
        </p:nvSpPr>
        <p:spPr>
          <a:xfrm>
            <a:off x="3383280" y="1965960"/>
            <a:ext cx="2606040" cy="914400"/>
          </a:xfrm>
          <a:prstGeom prst="rect">
            <a:avLst/>
          </a:prstGeom>
          <a:noFill/>
          <a:ln/>
        </p:spPr>
        <p:txBody>
          <a:bodyPr wrap="square" lIns="0" tIns="0" rIns="0" bIns="0" rtlCol="0" anchor="ctr"/>
          <a:lstStyle/>
          <a:p>
            <a:pPr algn="ctr" indent="0" marL="0">
              <a:buNone/>
            </a:pPr>
            <a:r>
              <a:rPr lang="en-US" sz="4000" b="1" dirty="0">
                <a:solidFill>
                  <a:srgbClr val="1B6FA8"/>
                </a:solidFill>
                <a:latin typeface="Tahoma" pitchFamily="34" charset="0"/>
                <a:ea typeface="Tahoma" pitchFamily="34" charset="-122"/>
                <a:cs typeface="Tahoma" pitchFamily="34" charset="-120"/>
              </a:rPr>
              <a:t>81.3 %</a:t>
            </a:r>
            <a:endParaRPr lang="en-US" sz="4000" dirty="0"/>
          </a:p>
        </p:txBody>
      </p:sp>
      <p:sp>
        <p:nvSpPr>
          <p:cNvPr id="9" name="Text 7"/>
          <p:cNvSpPr txBox="1"/>
          <p:nvPr/>
        </p:nvSpPr>
        <p:spPr>
          <a:xfrm>
            <a:off x="3383280" y="2926080"/>
            <a:ext cx="2606040" cy="411480"/>
          </a:xfrm>
          <a:prstGeom prst="rect">
            <a:avLst/>
          </a:prstGeom>
          <a:noFill/>
          <a:ln/>
        </p:spPr>
        <p:txBody>
          <a:bodyPr wrap="square" lIns="0" tIns="0" rIns="0" bIns="0" rtlCol="0" anchor="t"/>
          <a:lstStyle/>
          <a:p>
            <a:pPr algn="ctr" indent="0" marL="0">
              <a:buNone/>
            </a:pPr>
            <a:r>
              <a:rPr lang="en-US" sz="1700" b="1" dirty="0">
                <a:solidFill>
                  <a:srgbClr val="222222"/>
                </a:solidFill>
                <a:latin typeface="Tahoma" pitchFamily="34" charset="0"/>
                <a:ea typeface="Tahoma" pitchFamily="34" charset="-122"/>
                <a:cs typeface="Tahoma" pitchFamily="34" charset="-120"/>
              </a:rPr>
              <a:t>F1 macro</a:t>
            </a:r>
            <a:endParaRPr lang="en-US" sz="1700" dirty="0"/>
          </a:p>
        </p:txBody>
      </p:sp>
      <p:sp>
        <p:nvSpPr>
          <p:cNvPr id="10" name="Text 8"/>
          <p:cNvSpPr txBox="1"/>
          <p:nvPr/>
        </p:nvSpPr>
        <p:spPr>
          <a:xfrm>
            <a:off x="3520440" y="3383280"/>
            <a:ext cx="2331720" cy="548640"/>
          </a:xfrm>
          <a:prstGeom prst="rect">
            <a:avLst/>
          </a:prstGeom>
          <a:noFill/>
          <a:ln/>
        </p:spPr>
        <p:txBody>
          <a:bodyPr wrap="square" lIns="0" tIns="0" rIns="0" bIns="0" rtlCol="0" anchor="t"/>
          <a:lstStyle/>
          <a:p>
            <a:pPr algn="ctr" indent="0" marL="0">
              <a:buNone/>
            </a:pPr>
            <a:r>
              <a:rPr lang="en-US" sz="1300" dirty="0">
                <a:solidFill>
                  <a:srgbClr val="5A5A5A"/>
                </a:solidFill>
                <a:latin typeface="Tahoma" pitchFamily="34" charset="0"/>
                <a:ea typeface="Tahoma" pitchFamily="34" charset="-122"/>
                <a:cs typeface="Tahoma" pitchFamily="34" charset="-120"/>
              </a:rPr>
              <a:t>intención, 28 frases nuevas</a:t>
            </a:r>
            <a:endParaRPr lang="en-US" sz="1300" dirty="0"/>
          </a:p>
        </p:txBody>
      </p:sp>
      <p:sp>
        <p:nvSpPr>
          <p:cNvPr id="11" name="Shape 9"/>
          <p:cNvSpPr/>
          <p:nvPr/>
        </p:nvSpPr>
        <p:spPr>
          <a:xfrm>
            <a:off x="6217920" y="1783080"/>
            <a:ext cx="2606040" cy="2377440"/>
          </a:xfrm>
          <a:prstGeom prst="roundRect">
            <a:avLst>
              <a:gd name="adj" fmla="val 4615"/>
            </a:avLst>
          </a:prstGeom>
          <a:solidFill>
            <a:srgbClr val="EEF4FA"/>
          </a:solidFill>
          <a:ln w="12700">
            <a:solidFill>
              <a:srgbClr val="EEF4FA"/>
            </a:solidFill>
            <a:prstDash val="solid"/>
          </a:ln>
        </p:spPr>
      </p:sp>
      <p:sp>
        <p:nvSpPr>
          <p:cNvPr id="12" name="Text 10"/>
          <p:cNvSpPr txBox="1"/>
          <p:nvPr/>
        </p:nvSpPr>
        <p:spPr>
          <a:xfrm>
            <a:off x="6217920" y="1965960"/>
            <a:ext cx="2606040" cy="914400"/>
          </a:xfrm>
          <a:prstGeom prst="rect">
            <a:avLst/>
          </a:prstGeom>
          <a:noFill/>
          <a:ln/>
        </p:spPr>
        <p:txBody>
          <a:bodyPr wrap="square" lIns="0" tIns="0" rIns="0" bIns="0" rtlCol="0" anchor="ctr"/>
          <a:lstStyle/>
          <a:p>
            <a:pPr algn="ctr" indent="0" marL="0">
              <a:buNone/>
            </a:pPr>
            <a:r>
              <a:rPr lang="en-US" sz="4000" b="1" dirty="0">
                <a:solidFill>
                  <a:srgbClr val="2E8B57"/>
                </a:solidFill>
                <a:latin typeface="Tahoma" pitchFamily="34" charset="0"/>
                <a:ea typeface="Tahoma" pitchFamily="34" charset="-122"/>
                <a:cs typeface="Tahoma" pitchFamily="34" charset="-120"/>
              </a:rPr>
              <a:t>95 %</a:t>
            </a:r>
            <a:endParaRPr lang="en-US" sz="4000" dirty="0"/>
          </a:p>
        </p:txBody>
      </p:sp>
      <p:sp>
        <p:nvSpPr>
          <p:cNvPr id="13" name="Text 11"/>
          <p:cNvSpPr txBox="1"/>
          <p:nvPr/>
        </p:nvSpPr>
        <p:spPr>
          <a:xfrm>
            <a:off x="6217920" y="2926080"/>
            <a:ext cx="2606040" cy="411480"/>
          </a:xfrm>
          <a:prstGeom prst="rect">
            <a:avLst/>
          </a:prstGeom>
          <a:noFill/>
          <a:ln/>
        </p:spPr>
        <p:txBody>
          <a:bodyPr wrap="square" lIns="0" tIns="0" rIns="0" bIns="0" rtlCol="0" anchor="t"/>
          <a:lstStyle/>
          <a:p>
            <a:pPr algn="ctr" indent="0" marL="0">
              <a:buNone/>
            </a:pPr>
            <a:r>
              <a:rPr lang="en-US" sz="1700" b="1" dirty="0">
                <a:solidFill>
                  <a:srgbClr val="222222"/>
                </a:solidFill>
                <a:latin typeface="Tahoma" pitchFamily="34" charset="0"/>
                <a:ea typeface="Tahoma" pitchFamily="34" charset="-122"/>
                <a:cs typeface="Tahoma" pitchFamily="34" charset="-120"/>
              </a:rPr>
              <a:t>Precisión NER</a:t>
            </a:r>
            <a:endParaRPr lang="en-US" sz="1700" dirty="0"/>
          </a:p>
        </p:txBody>
      </p:sp>
      <p:sp>
        <p:nvSpPr>
          <p:cNvPr id="14" name="Text 12"/>
          <p:cNvSpPr txBox="1"/>
          <p:nvPr/>
        </p:nvSpPr>
        <p:spPr>
          <a:xfrm>
            <a:off x="6355080" y="3383280"/>
            <a:ext cx="2331720" cy="548640"/>
          </a:xfrm>
          <a:prstGeom prst="rect">
            <a:avLst/>
          </a:prstGeom>
          <a:noFill/>
          <a:ln/>
        </p:spPr>
        <p:txBody>
          <a:bodyPr wrap="square" lIns="0" tIns="0" rIns="0" bIns="0" rtlCol="0" anchor="t"/>
          <a:lstStyle/>
          <a:p>
            <a:pPr algn="ctr" indent="0" marL="0">
              <a:buNone/>
            </a:pPr>
            <a:r>
              <a:rPr lang="en-US" sz="1300" dirty="0">
                <a:solidFill>
                  <a:srgbClr val="5A5A5A"/>
                </a:solidFill>
                <a:latin typeface="Tahoma" pitchFamily="34" charset="0"/>
                <a:ea typeface="Tahoma" pitchFamily="34" charset="-122"/>
                <a:cs typeface="Tahoma" pitchFamily="34" charset="-120"/>
              </a:rPr>
              <a:t>12 frases de prueba</a:t>
            </a:r>
            <a:endParaRPr lang="en-US" sz="1300" dirty="0"/>
          </a:p>
        </p:txBody>
      </p:sp>
      <p:sp>
        <p:nvSpPr>
          <p:cNvPr id="15" name="Shape 13"/>
          <p:cNvSpPr/>
          <p:nvPr/>
        </p:nvSpPr>
        <p:spPr>
          <a:xfrm>
            <a:off x="9052560" y="1783080"/>
            <a:ext cx="2606040" cy="2377440"/>
          </a:xfrm>
          <a:prstGeom prst="roundRect">
            <a:avLst>
              <a:gd name="adj" fmla="val 4615"/>
            </a:avLst>
          </a:prstGeom>
          <a:solidFill>
            <a:srgbClr val="EEF4FA"/>
          </a:solidFill>
          <a:ln w="12700">
            <a:solidFill>
              <a:srgbClr val="EEF4FA"/>
            </a:solidFill>
            <a:prstDash val="solid"/>
          </a:ln>
        </p:spPr>
      </p:sp>
      <p:sp>
        <p:nvSpPr>
          <p:cNvPr id="16" name="Text 14"/>
          <p:cNvSpPr txBox="1"/>
          <p:nvPr/>
        </p:nvSpPr>
        <p:spPr>
          <a:xfrm>
            <a:off x="9052560" y="1965960"/>
            <a:ext cx="2606040" cy="914400"/>
          </a:xfrm>
          <a:prstGeom prst="rect">
            <a:avLst/>
          </a:prstGeom>
          <a:noFill/>
          <a:ln/>
        </p:spPr>
        <p:txBody>
          <a:bodyPr wrap="square" lIns="0" tIns="0" rIns="0" bIns="0" rtlCol="0" anchor="ctr"/>
          <a:lstStyle/>
          <a:p>
            <a:pPr algn="ctr" indent="0" marL="0">
              <a:buNone/>
            </a:pPr>
            <a:r>
              <a:rPr lang="en-US" sz="4000" b="1" dirty="0">
                <a:solidFill>
                  <a:srgbClr val="2E8B57"/>
                </a:solidFill>
                <a:latin typeface="Tahoma" pitchFamily="34" charset="0"/>
                <a:ea typeface="Tahoma" pitchFamily="34" charset="-122"/>
                <a:cs typeface="Tahoma" pitchFamily="34" charset="-120"/>
              </a:rPr>
              <a:t>100 %</a:t>
            </a:r>
            <a:endParaRPr lang="en-US" sz="4000" dirty="0"/>
          </a:p>
        </p:txBody>
      </p:sp>
      <p:sp>
        <p:nvSpPr>
          <p:cNvPr id="17" name="Text 15"/>
          <p:cNvSpPr txBox="1"/>
          <p:nvPr/>
        </p:nvSpPr>
        <p:spPr>
          <a:xfrm>
            <a:off x="9052560" y="2926080"/>
            <a:ext cx="2606040" cy="411480"/>
          </a:xfrm>
          <a:prstGeom prst="rect">
            <a:avLst/>
          </a:prstGeom>
          <a:noFill/>
          <a:ln/>
        </p:spPr>
        <p:txBody>
          <a:bodyPr wrap="square" lIns="0" tIns="0" rIns="0" bIns="0" rtlCol="0" anchor="t"/>
          <a:lstStyle/>
          <a:p>
            <a:pPr algn="ctr" indent="0" marL="0">
              <a:buNone/>
            </a:pPr>
            <a:r>
              <a:rPr lang="en-US" sz="1700" b="1" dirty="0">
                <a:solidFill>
                  <a:srgbClr val="222222"/>
                </a:solidFill>
                <a:latin typeface="Tahoma" pitchFamily="34" charset="0"/>
                <a:ea typeface="Tahoma" pitchFamily="34" charset="-122"/>
                <a:cs typeface="Tahoma" pitchFamily="34" charset="-120"/>
              </a:rPr>
              <a:t>Precisión@3</a:t>
            </a:r>
            <a:endParaRPr lang="en-US" sz="1700" dirty="0"/>
          </a:p>
        </p:txBody>
      </p:sp>
      <p:sp>
        <p:nvSpPr>
          <p:cNvPr id="18" name="Text 16"/>
          <p:cNvSpPr txBox="1"/>
          <p:nvPr/>
        </p:nvSpPr>
        <p:spPr>
          <a:xfrm>
            <a:off x="9189720" y="3383280"/>
            <a:ext cx="2331720" cy="548640"/>
          </a:xfrm>
          <a:prstGeom prst="rect">
            <a:avLst/>
          </a:prstGeom>
          <a:noFill/>
          <a:ln/>
        </p:spPr>
        <p:txBody>
          <a:bodyPr wrap="square" lIns="0" tIns="0" rIns="0" bIns="0" rtlCol="0" anchor="t"/>
          <a:lstStyle/>
          <a:p>
            <a:pPr algn="ctr" indent="0" marL="0">
              <a:buNone/>
            </a:pPr>
            <a:r>
              <a:rPr lang="en-US" sz="1300" dirty="0">
                <a:solidFill>
                  <a:srgbClr val="5A5A5A"/>
                </a:solidFill>
                <a:latin typeface="Tahoma" pitchFamily="34" charset="0"/>
                <a:ea typeface="Tahoma" pitchFamily="34" charset="-122"/>
                <a:cs typeface="Tahoma" pitchFamily="34" charset="-120"/>
              </a:rPr>
              <a:t>recomendador, 6 casos</a:t>
            </a:r>
            <a:endParaRPr lang="en-US" sz="1300" dirty="0"/>
          </a:p>
        </p:txBody>
      </p:sp>
      <p:sp>
        <p:nvSpPr>
          <p:cNvPr id="19" name="Shape 17"/>
          <p:cNvSpPr/>
          <p:nvPr/>
        </p:nvSpPr>
        <p:spPr>
          <a:xfrm>
            <a:off x="548640" y="4480560"/>
            <a:ext cx="11109960" cy="1645920"/>
          </a:xfrm>
          <a:prstGeom prst="roundRect">
            <a:avLst>
              <a:gd name="adj" fmla="val 6667"/>
            </a:avLst>
          </a:prstGeom>
          <a:solidFill>
            <a:srgbClr val="FDF1E0"/>
          </a:solidFill>
          <a:ln w="12700">
            <a:solidFill>
              <a:srgbClr val="FDF1E0"/>
            </a:solidFill>
            <a:prstDash val="solid"/>
          </a:ln>
        </p:spPr>
      </p:sp>
      <p:sp>
        <p:nvSpPr>
          <p:cNvPr id="20" name="Shape 18"/>
          <p:cNvSpPr/>
          <p:nvPr/>
        </p:nvSpPr>
        <p:spPr>
          <a:xfrm>
            <a:off x="868680" y="4892040"/>
            <a:ext cx="777240" cy="777240"/>
          </a:xfrm>
          <a:prstGeom prst="ellipse">
            <a:avLst/>
          </a:prstGeom>
          <a:solidFill>
            <a:srgbClr val="E8890C"/>
          </a:solidFill>
          <a:ln w="12700">
            <a:solidFill>
              <a:srgbClr val="E8890C"/>
            </a:solidFill>
            <a:prstDash val="solid"/>
          </a:ln>
        </p:spPr>
      </p:sp>
      <p:pic>
        <p:nvPicPr>
          <p:cNvPr id="21" name="Image 0" descr="preencoded.png">    </p:cNvPr>
          <p:cNvPicPr>
            <a:picLocks noChangeAspect="1"/>
          </p:cNvPicPr>
          <p:nvPr/>
        </p:nvPicPr>
        <p:blipFill>
          <a:blip r:embed="rId2"/>
          <a:stretch>
            <a:fillRect/>
          </a:stretch>
        </p:blipFill>
        <p:spPr>
          <a:xfrm>
            <a:off x="1055218" y="5078578"/>
            <a:ext cx="404165" cy="404165"/>
          </a:xfrm>
          <a:prstGeom prst="rect">
            <a:avLst/>
          </a:prstGeom>
        </p:spPr>
      </p:pic>
      <p:sp>
        <p:nvSpPr>
          <p:cNvPr id="22" name="Text 19"/>
          <p:cNvSpPr txBox="1"/>
          <p:nvPr/>
        </p:nvSpPr>
        <p:spPr>
          <a:xfrm>
            <a:off x="1874520" y="4663440"/>
            <a:ext cx="9509760" cy="1325880"/>
          </a:xfrm>
          <a:prstGeom prst="rect">
            <a:avLst/>
          </a:prstGeom>
          <a:noFill/>
          <a:ln/>
        </p:spPr>
        <p:txBody>
          <a:bodyPr wrap="square" lIns="0" tIns="0" rIns="0" bIns="0" rtlCol="0" anchor="ctr"/>
          <a:lstStyle/>
          <a:p>
            <a:pPr indent="0" marL="0">
              <a:buNone/>
            </a:pPr>
            <a:r>
              <a:rPr lang="en-US" sz="1600" b="1" dirty="0">
                <a:solidFill>
                  <a:srgbClr val="9A5400"/>
                </a:solidFill>
                <a:latin typeface="Tahoma" pitchFamily="34" charset="0"/>
                <a:ea typeface="Tahoma" pitchFamily="34" charset="-122"/>
                <a:cs typeface="Tahoma" pitchFamily="34" charset="-120"/>
              </a:rPr>
              <a:t>Hallazgo: validación cruzada de 33.8 %</a:t>
            </a:r>
            <a:endParaRPr lang="en-US" sz="1600" dirty="0"/>
          </a:p>
          <a:p>
            <a:pPr indent="0" marL="0">
              <a:buNone/>
            </a:pPr>
            <a:r>
              <a:rPr lang="en-US" sz="1600" dirty="0">
                <a:solidFill>
                  <a:srgbClr val="222222"/>
                </a:solidFill>
                <a:latin typeface="Tahoma" pitchFamily="34" charset="0"/>
                <a:ea typeface="Tahoma" pitchFamily="34" charset="-122"/>
                <a:cs typeface="Tahoma" pitchFamily="34" charset="-120"/>
              </a:rPr>
              <a:t>El modelo acierta con frases nuevas, pero con solo 65 ejemplos todavía es inestable. Por eso el sprint 7 amplía el dataset a más de 200 frases.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Lo que falta (semanas 8 a 13)</a:t>
            </a:r>
            <a:endParaRPr lang="en-US" sz="2800" dirty="0"/>
          </a:p>
        </p:txBody>
      </p:sp>
      <p:sp>
        <p:nvSpPr>
          <p:cNvPr id="3" name="Shape 1"/>
          <p:cNvSpPr/>
          <p:nvPr/>
        </p:nvSpPr>
        <p:spPr>
          <a:xfrm>
            <a:off x="960120" y="2011680"/>
            <a:ext cx="0" cy="3931920"/>
          </a:xfrm>
          <a:prstGeom prst="line">
            <a:avLst/>
          </a:prstGeom>
          <a:noFill/>
          <a:ln w="25400">
            <a:solidFill>
              <a:srgbClr val="BFBFBF"/>
            </a:solidFill>
            <a:prstDash val="solid"/>
          </a:ln>
        </p:spPr>
      </p:sp>
      <p:sp>
        <p:nvSpPr>
          <p:cNvPr id="4" name="Shape 2"/>
          <p:cNvSpPr/>
          <p:nvPr/>
        </p:nvSpPr>
        <p:spPr>
          <a:xfrm>
            <a:off x="731520" y="1892808"/>
            <a:ext cx="457200" cy="457200"/>
          </a:xfrm>
          <a:prstGeom prst="ellipse">
            <a:avLst/>
          </a:prstGeom>
          <a:solidFill>
            <a:srgbClr val="E8890C"/>
          </a:solidFill>
          <a:ln w="25400">
            <a:solidFill>
              <a:srgbClr val="FFFFFF"/>
            </a:solidFill>
            <a:prstDash val="solid"/>
          </a:ln>
        </p:spPr>
      </p:sp>
      <p:sp>
        <p:nvSpPr>
          <p:cNvPr id="5" name="Shape 3"/>
          <p:cNvSpPr/>
          <p:nvPr/>
        </p:nvSpPr>
        <p:spPr>
          <a:xfrm>
            <a:off x="1463040" y="1783080"/>
            <a:ext cx="10149840" cy="868680"/>
          </a:xfrm>
          <a:prstGeom prst="roundRect">
            <a:avLst>
              <a:gd name="adj" fmla="val 12632"/>
            </a:avLst>
          </a:prstGeom>
          <a:solidFill>
            <a:srgbClr val="FDF1E0"/>
          </a:solidFill>
          <a:ln w="12700">
            <a:solidFill>
              <a:srgbClr val="FDF1E0"/>
            </a:solidFill>
            <a:prstDash val="solid"/>
          </a:ln>
        </p:spPr>
      </p:sp>
      <p:sp>
        <p:nvSpPr>
          <p:cNvPr id="6" name="Text 4"/>
          <p:cNvSpPr txBox="1"/>
          <p:nvPr/>
        </p:nvSpPr>
        <p:spPr>
          <a:xfrm>
            <a:off x="1691640" y="1783080"/>
            <a:ext cx="1371600" cy="86868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Sprint 7</a:t>
            </a:r>
            <a:endParaRPr lang="en-US" sz="1700" dirty="0"/>
          </a:p>
        </p:txBody>
      </p:sp>
      <p:sp>
        <p:nvSpPr>
          <p:cNvPr id="7" name="Text 5"/>
          <p:cNvSpPr txBox="1"/>
          <p:nvPr/>
        </p:nvSpPr>
        <p:spPr>
          <a:xfrm>
            <a:off x="3063240" y="1783080"/>
            <a:ext cx="1371600" cy="868680"/>
          </a:xfrm>
          <a:prstGeom prst="rect">
            <a:avLst/>
          </a:prstGeom>
          <a:noFill/>
          <a:ln/>
        </p:spPr>
        <p:txBody>
          <a:bodyPr wrap="square" lIns="0" tIns="0" rIns="0" bIns="0" rtlCol="0" anchor="ctr"/>
          <a:lstStyle/>
          <a:p>
            <a:pPr indent="0" marL="0">
              <a:buNone/>
            </a:pPr>
            <a:r>
              <a:rPr lang="en-US" sz="1400" dirty="0">
                <a:solidFill>
                  <a:srgbClr val="5A5A5A"/>
                </a:solidFill>
                <a:latin typeface="Tahoma" pitchFamily="34" charset="0"/>
                <a:ea typeface="Tahoma" pitchFamily="34" charset="-122"/>
                <a:cs typeface="Tahoma" pitchFamily="34" charset="-120"/>
              </a:rPr>
              <a:t>Sem. 8–9</a:t>
            </a:r>
            <a:endParaRPr lang="en-US" sz="1400" dirty="0"/>
          </a:p>
        </p:txBody>
      </p:sp>
      <p:sp>
        <p:nvSpPr>
          <p:cNvPr id="8" name="Text 6"/>
          <p:cNvSpPr txBox="1"/>
          <p:nvPr/>
        </p:nvSpPr>
        <p:spPr>
          <a:xfrm>
            <a:off x="4480560" y="1783080"/>
            <a:ext cx="694944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Dataset de 65 → 200+ frases, reentrenar y sugerencia de pedido en Pedidos</a:t>
            </a:r>
            <a:endParaRPr lang="en-US" sz="1500" dirty="0"/>
          </a:p>
        </p:txBody>
      </p:sp>
      <p:sp>
        <p:nvSpPr>
          <p:cNvPr id="9" name="Shape 7"/>
          <p:cNvSpPr/>
          <p:nvPr/>
        </p:nvSpPr>
        <p:spPr>
          <a:xfrm>
            <a:off x="731520" y="2990088"/>
            <a:ext cx="457200" cy="457200"/>
          </a:xfrm>
          <a:prstGeom prst="ellipse">
            <a:avLst/>
          </a:prstGeom>
          <a:solidFill>
            <a:srgbClr val="BFBFBF"/>
          </a:solidFill>
          <a:ln w="25400">
            <a:solidFill>
              <a:srgbClr val="FFFFFF"/>
            </a:solidFill>
            <a:prstDash val="solid"/>
          </a:ln>
        </p:spPr>
      </p:sp>
      <p:sp>
        <p:nvSpPr>
          <p:cNvPr id="10" name="Shape 8"/>
          <p:cNvSpPr/>
          <p:nvPr/>
        </p:nvSpPr>
        <p:spPr>
          <a:xfrm>
            <a:off x="1463040" y="2880360"/>
            <a:ext cx="10149840" cy="868680"/>
          </a:xfrm>
          <a:prstGeom prst="roundRect">
            <a:avLst>
              <a:gd name="adj" fmla="val 12632"/>
            </a:avLst>
          </a:prstGeom>
          <a:solidFill>
            <a:srgbClr val="EEF4FA"/>
          </a:solidFill>
          <a:ln w="12700">
            <a:solidFill>
              <a:srgbClr val="EEF4FA"/>
            </a:solidFill>
            <a:prstDash val="solid"/>
          </a:ln>
        </p:spPr>
      </p:sp>
      <p:sp>
        <p:nvSpPr>
          <p:cNvPr id="11" name="Text 9"/>
          <p:cNvSpPr txBox="1"/>
          <p:nvPr/>
        </p:nvSpPr>
        <p:spPr>
          <a:xfrm>
            <a:off x="1691640" y="2880360"/>
            <a:ext cx="1371600" cy="86868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Sprint 8</a:t>
            </a:r>
            <a:endParaRPr lang="en-US" sz="1700" dirty="0"/>
          </a:p>
        </p:txBody>
      </p:sp>
      <p:sp>
        <p:nvSpPr>
          <p:cNvPr id="12" name="Text 10"/>
          <p:cNvSpPr txBox="1"/>
          <p:nvPr/>
        </p:nvSpPr>
        <p:spPr>
          <a:xfrm>
            <a:off x="3063240" y="2880360"/>
            <a:ext cx="1371600" cy="868680"/>
          </a:xfrm>
          <a:prstGeom prst="rect">
            <a:avLst/>
          </a:prstGeom>
          <a:noFill/>
          <a:ln/>
        </p:spPr>
        <p:txBody>
          <a:bodyPr wrap="square" lIns="0" tIns="0" rIns="0" bIns="0" rtlCol="0" anchor="ctr"/>
          <a:lstStyle/>
          <a:p>
            <a:pPr indent="0" marL="0">
              <a:buNone/>
            </a:pPr>
            <a:r>
              <a:rPr lang="en-US" sz="1400" dirty="0">
                <a:solidFill>
                  <a:srgbClr val="5A5A5A"/>
                </a:solidFill>
                <a:latin typeface="Tahoma" pitchFamily="34" charset="0"/>
                <a:ea typeface="Tahoma" pitchFamily="34" charset="-122"/>
                <a:cs typeface="Tahoma" pitchFamily="34" charset="-120"/>
              </a:rPr>
              <a:t>Sem. 10–11</a:t>
            </a:r>
            <a:endParaRPr lang="en-US" sz="1400" dirty="0"/>
          </a:p>
        </p:txBody>
      </p:sp>
      <p:sp>
        <p:nvSpPr>
          <p:cNvPr id="13" name="Text 11"/>
          <p:cNvSpPr txBox="1"/>
          <p:nvPr/>
        </p:nvSpPr>
        <p:spPr>
          <a:xfrm>
            <a:off x="4480560" y="2880360"/>
            <a:ext cx="694944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Venta cruzada en Ventas y Cotizaciones, aviso «¿Quisiste decir…?» y más categorías en el NER</a:t>
            </a:r>
            <a:endParaRPr lang="en-US" sz="1500" dirty="0"/>
          </a:p>
        </p:txBody>
      </p:sp>
      <p:sp>
        <p:nvSpPr>
          <p:cNvPr id="14" name="Shape 12"/>
          <p:cNvSpPr/>
          <p:nvPr/>
        </p:nvSpPr>
        <p:spPr>
          <a:xfrm>
            <a:off x="731520" y="4087368"/>
            <a:ext cx="457200" cy="457200"/>
          </a:xfrm>
          <a:prstGeom prst="ellipse">
            <a:avLst/>
          </a:prstGeom>
          <a:solidFill>
            <a:srgbClr val="BFBFBF"/>
          </a:solidFill>
          <a:ln w="25400">
            <a:solidFill>
              <a:srgbClr val="FFFFFF"/>
            </a:solidFill>
            <a:prstDash val="solid"/>
          </a:ln>
        </p:spPr>
      </p:sp>
      <p:sp>
        <p:nvSpPr>
          <p:cNvPr id="15" name="Shape 13"/>
          <p:cNvSpPr/>
          <p:nvPr/>
        </p:nvSpPr>
        <p:spPr>
          <a:xfrm>
            <a:off x="1463040" y="3977640"/>
            <a:ext cx="10149840" cy="868680"/>
          </a:xfrm>
          <a:prstGeom prst="roundRect">
            <a:avLst>
              <a:gd name="adj" fmla="val 12632"/>
            </a:avLst>
          </a:prstGeom>
          <a:solidFill>
            <a:srgbClr val="EEF4FA"/>
          </a:solidFill>
          <a:ln w="12700">
            <a:solidFill>
              <a:srgbClr val="EEF4FA"/>
            </a:solidFill>
            <a:prstDash val="solid"/>
          </a:ln>
        </p:spPr>
      </p:sp>
      <p:sp>
        <p:nvSpPr>
          <p:cNvPr id="16" name="Text 14"/>
          <p:cNvSpPr txBox="1"/>
          <p:nvPr/>
        </p:nvSpPr>
        <p:spPr>
          <a:xfrm>
            <a:off x="1691640" y="3977640"/>
            <a:ext cx="1371600" cy="86868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Sprint 9</a:t>
            </a:r>
            <a:endParaRPr lang="en-US" sz="1700" dirty="0"/>
          </a:p>
        </p:txBody>
      </p:sp>
      <p:sp>
        <p:nvSpPr>
          <p:cNvPr id="17" name="Text 15"/>
          <p:cNvSpPr txBox="1"/>
          <p:nvPr/>
        </p:nvSpPr>
        <p:spPr>
          <a:xfrm>
            <a:off x="3063240" y="3977640"/>
            <a:ext cx="1371600" cy="868680"/>
          </a:xfrm>
          <a:prstGeom prst="rect">
            <a:avLst/>
          </a:prstGeom>
          <a:noFill/>
          <a:ln/>
        </p:spPr>
        <p:txBody>
          <a:bodyPr wrap="square" lIns="0" tIns="0" rIns="0" bIns="0" rtlCol="0" anchor="ctr"/>
          <a:lstStyle/>
          <a:p>
            <a:pPr indent="0" marL="0">
              <a:buNone/>
            </a:pPr>
            <a:r>
              <a:rPr lang="en-US" sz="1400" dirty="0">
                <a:solidFill>
                  <a:srgbClr val="5A5A5A"/>
                </a:solidFill>
                <a:latin typeface="Tahoma" pitchFamily="34" charset="0"/>
                <a:ea typeface="Tahoma" pitchFamily="34" charset="-122"/>
                <a:cs typeface="Tahoma" pitchFamily="34" charset="-120"/>
              </a:rPr>
              <a:t>Sem. 12</a:t>
            </a:r>
            <a:endParaRPr lang="en-US" sz="1400" dirty="0"/>
          </a:p>
        </p:txBody>
      </p:sp>
      <p:sp>
        <p:nvSpPr>
          <p:cNvPr id="18" name="Text 16"/>
          <p:cNvSpPr txBox="1"/>
          <p:nvPr/>
        </p:nvSpPr>
        <p:spPr>
          <a:xfrm>
            <a:off x="4480560" y="3977640"/>
            <a:ext cx="694944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Pruebas integrales y evaluación final comparada con el sprint 6</a:t>
            </a:r>
            <a:endParaRPr lang="en-US" sz="1500" dirty="0"/>
          </a:p>
        </p:txBody>
      </p:sp>
      <p:sp>
        <p:nvSpPr>
          <p:cNvPr id="19" name="Shape 17"/>
          <p:cNvSpPr/>
          <p:nvPr/>
        </p:nvSpPr>
        <p:spPr>
          <a:xfrm>
            <a:off x="731520" y="5184648"/>
            <a:ext cx="457200" cy="457200"/>
          </a:xfrm>
          <a:prstGeom prst="ellipse">
            <a:avLst/>
          </a:prstGeom>
          <a:solidFill>
            <a:srgbClr val="BFBFBF"/>
          </a:solidFill>
          <a:ln w="25400">
            <a:solidFill>
              <a:srgbClr val="FFFFFF"/>
            </a:solidFill>
            <a:prstDash val="solid"/>
          </a:ln>
        </p:spPr>
      </p:sp>
      <p:sp>
        <p:nvSpPr>
          <p:cNvPr id="20" name="Shape 18"/>
          <p:cNvSpPr/>
          <p:nvPr/>
        </p:nvSpPr>
        <p:spPr>
          <a:xfrm>
            <a:off x="1463040" y="5074920"/>
            <a:ext cx="10149840" cy="868680"/>
          </a:xfrm>
          <a:prstGeom prst="roundRect">
            <a:avLst>
              <a:gd name="adj" fmla="val 12632"/>
            </a:avLst>
          </a:prstGeom>
          <a:solidFill>
            <a:srgbClr val="EEF4FA"/>
          </a:solidFill>
          <a:ln w="12700">
            <a:solidFill>
              <a:srgbClr val="EEF4FA"/>
            </a:solidFill>
            <a:prstDash val="solid"/>
          </a:ln>
        </p:spPr>
      </p:sp>
      <p:sp>
        <p:nvSpPr>
          <p:cNvPr id="21" name="Text 19"/>
          <p:cNvSpPr txBox="1"/>
          <p:nvPr/>
        </p:nvSpPr>
        <p:spPr>
          <a:xfrm>
            <a:off x="1691640" y="5074920"/>
            <a:ext cx="1371600" cy="86868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Sprint 10</a:t>
            </a:r>
            <a:endParaRPr lang="en-US" sz="1700" dirty="0"/>
          </a:p>
        </p:txBody>
      </p:sp>
      <p:sp>
        <p:nvSpPr>
          <p:cNvPr id="22" name="Text 20"/>
          <p:cNvSpPr txBox="1"/>
          <p:nvPr/>
        </p:nvSpPr>
        <p:spPr>
          <a:xfrm>
            <a:off x="3063240" y="5074920"/>
            <a:ext cx="1371600" cy="868680"/>
          </a:xfrm>
          <a:prstGeom prst="rect">
            <a:avLst/>
          </a:prstGeom>
          <a:noFill/>
          <a:ln/>
        </p:spPr>
        <p:txBody>
          <a:bodyPr wrap="square" lIns="0" tIns="0" rIns="0" bIns="0" rtlCol="0" anchor="ctr"/>
          <a:lstStyle/>
          <a:p>
            <a:pPr indent="0" marL="0">
              <a:buNone/>
            </a:pPr>
            <a:r>
              <a:rPr lang="en-US" sz="1400" dirty="0">
                <a:solidFill>
                  <a:srgbClr val="5A5A5A"/>
                </a:solidFill>
                <a:latin typeface="Tahoma" pitchFamily="34" charset="0"/>
                <a:ea typeface="Tahoma" pitchFamily="34" charset="-122"/>
                <a:cs typeface="Tahoma" pitchFamily="34" charset="-120"/>
              </a:rPr>
              <a:t>Sem. 13</a:t>
            </a:r>
            <a:endParaRPr lang="en-US" sz="1400" dirty="0"/>
          </a:p>
        </p:txBody>
      </p:sp>
      <p:sp>
        <p:nvSpPr>
          <p:cNvPr id="23" name="Text 21"/>
          <p:cNvSpPr txBox="1"/>
          <p:nvPr/>
        </p:nvSpPr>
        <p:spPr>
          <a:xfrm>
            <a:off x="4480560" y="5074920"/>
            <a:ext cx="6949440" cy="868680"/>
          </a:xfrm>
          <a:prstGeom prst="rect">
            <a:avLst/>
          </a:prstGeom>
          <a:noFill/>
          <a:ln/>
        </p:spPr>
        <p:txBody>
          <a:bodyPr wrap="square" lIns="0" tIns="0" rIns="0" bIns="0" rtlCol="0" anchor="ctr"/>
          <a:lstStyle/>
          <a:p>
            <a:pPr indent="0" marL="0">
              <a:buNone/>
            </a:pPr>
            <a:r>
              <a:rPr lang="en-US" sz="1500" dirty="0">
                <a:solidFill>
                  <a:srgbClr val="222222"/>
                </a:solidFill>
                <a:latin typeface="Tahoma" pitchFamily="34" charset="0"/>
                <a:ea typeface="Tahoma" pitchFamily="34" charset="-122"/>
                <a:cs typeface="Tahoma" pitchFamily="34" charset="-120"/>
              </a:rPr>
              <a:t>Documentación final y sustentación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Limitaciones y riesgos</a:t>
            </a:r>
            <a:endParaRPr lang="en-US" sz="2800" dirty="0"/>
          </a:p>
        </p:txBody>
      </p:sp>
      <p:sp>
        <p:nvSpPr>
          <p:cNvPr id="3" name="Shape 1"/>
          <p:cNvSpPr/>
          <p:nvPr/>
        </p:nvSpPr>
        <p:spPr>
          <a:xfrm>
            <a:off x="548640" y="1783080"/>
            <a:ext cx="5440680" cy="1965960"/>
          </a:xfrm>
          <a:prstGeom prst="roundRect">
            <a:avLst>
              <a:gd name="adj" fmla="val 5581"/>
            </a:avLst>
          </a:prstGeom>
          <a:solidFill>
            <a:srgbClr val="EEF4FA"/>
          </a:solidFill>
          <a:ln w="12700">
            <a:solidFill>
              <a:srgbClr val="EEF4FA"/>
            </a:solidFill>
            <a:prstDash val="solid"/>
          </a:ln>
        </p:spPr>
      </p:sp>
      <p:sp>
        <p:nvSpPr>
          <p:cNvPr id="4" name="Shape 2"/>
          <p:cNvSpPr/>
          <p:nvPr/>
        </p:nvSpPr>
        <p:spPr>
          <a:xfrm>
            <a:off x="822960" y="2103120"/>
            <a:ext cx="731520" cy="731520"/>
          </a:xfrm>
          <a:prstGeom prst="ellipse">
            <a:avLst/>
          </a:prstGeom>
          <a:solidFill>
            <a:srgbClr val="E8890C"/>
          </a:solidFill>
          <a:ln w="12700">
            <a:solidFill>
              <a:srgbClr val="E8890C"/>
            </a:solidFill>
            <a:prstDash val="solid"/>
          </a:ln>
        </p:spPr>
      </p:sp>
      <p:pic>
        <p:nvPicPr>
          <p:cNvPr id="5" name="Image 0" descr="preencoded.png">    </p:cNvPr>
          <p:cNvPicPr>
            <a:picLocks noChangeAspect="1"/>
          </p:cNvPicPr>
          <p:nvPr/>
        </p:nvPicPr>
        <p:blipFill>
          <a:blip r:embed="rId2"/>
          <a:stretch>
            <a:fillRect/>
          </a:stretch>
        </p:blipFill>
        <p:spPr>
          <a:xfrm>
            <a:off x="998525" y="2278685"/>
            <a:ext cx="380390" cy="380390"/>
          </a:xfrm>
          <a:prstGeom prst="rect">
            <a:avLst/>
          </a:prstGeom>
        </p:spPr>
      </p:pic>
      <p:sp>
        <p:nvSpPr>
          <p:cNvPr id="6" name="Text 3"/>
          <p:cNvSpPr txBox="1"/>
          <p:nvPr/>
        </p:nvSpPr>
        <p:spPr>
          <a:xfrm>
            <a:off x="1783080" y="2057400"/>
            <a:ext cx="4023360" cy="73152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Dataset pequeño (65 frases)</a:t>
            </a:r>
            <a:endParaRPr lang="en-US" sz="1700" dirty="0"/>
          </a:p>
        </p:txBody>
      </p:sp>
      <p:sp>
        <p:nvSpPr>
          <p:cNvPr id="7" name="Text 4"/>
          <p:cNvSpPr txBox="1"/>
          <p:nvPr/>
        </p:nvSpPr>
        <p:spPr>
          <a:xfrm>
            <a:off x="1783080" y="2834640"/>
            <a:ext cx="4023360" cy="731520"/>
          </a:xfrm>
          <a:prstGeom prst="rect">
            <a:avLst/>
          </a:prstGeom>
          <a:noFill/>
          <a:ln/>
        </p:spPr>
        <p:txBody>
          <a:bodyPr wrap="square" lIns="0" tIns="0" rIns="0" bIns="0" rtlCol="0" anchor="t"/>
          <a:lstStyle/>
          <a:p>
            <a:pPr indent="0" marL="0">
              <a:buNone/>
            </a:pPr>
            <a:r>
              <a:rPr lang="en-US" sz="1400" b="1" dirty="0">
                <a:solidFill>
                  <a:srgbClr val="222222"/>
                </a:solidFill>
                <a:latin typeface="Tahoma" pitchFamily="34" charset="0"/>
                <a:ea typeface="Tahoma" pitchFamily="34" charset="-122"/>
                <a:cs typeface="Tahoma" pitchFamily="34" charset="-120"/>
              </a:rPr>
              <a:t>Medida: </a:t>
            </a:r>
            <a:pPr indent="0" marL="0">
              <a:buNone/>
            </a:pPr>
            <a:r>
              <a:rPr lang="en-US" sz="1400" dirty="0">
                <a:solidFill>
                  <a:srgbClr val="222222"/>
                </a:solidFill>
                <a:latin typeface="Tahoma" pitchFamily="34" charset="0"/>
                <a:ea typeface="Tahoma" pitchFamily="34" charset="-122"/>
                <a:cs typeface="Tahoma" pitchFamily="34" charset="-120"/>
              </a:rPr>
              <a:t>Ampliación en el sprint 7</a:t>
            </a:r>
            <a:endParaRPr lang="en-US" sz="1400" dirty="0"/>
          </a:p>
        </p:txBody>
      </p:sp>
      <p:sp>
        <p:nvSpPr>
          <p:cNvPr id="8" name="Shape 5"/>
          <p:cNvSpPr/>
          <p:nvPr/>
        </p:nvSpPr>
        <p:spPr>
          <a:xfrm>
            <a:off x="6217920" y="1783080"/>
            <a:ext cx="5440680" cy="1965960"/>
          </a:xfrm>
          <a:prstGeom prst="roundRect">
            <a:avLst>
              <a:gd name="adj" fmla="val 5581"/>
            </a:avLst>
          </a:prstGeom>
          <a:solidFill>
            <a:srgbClr val="EEF4FA"/>
          </a:solidFill>
          <a:ln w="12700">
            <a:solidFill>
              <a:srgbClr val="EEF4FA"/>
            </a:solidFill>
            <a:prstDash val="solid"/>
          </a:ln>
        </p:spPr>
      </p:sp>
      <p:sp>
        <p:nvSpPr>
          <p:cNvPr id="9" name="Shape 6"/>
          <p:cNvSpPr/>
          <p:nvPr/>
        </p:nvSpPr>
        <p:spPr>
          <a:xfrm>
            <a:off x="6492240" y="2103120"/>
            <a:ext cx="731520" cy="731520"/>
          </a:xfrm>
          <a:prstGeom prst="ellipse">
            <a:avLst/>
          </a:prstGeom>
          <a:solidFill>
            <a:srgbClr val="1B6FA8"/>
          </a:solidFill>
          <a:ln w="12700">
            <a:solidFill>
              <a:srgbClr val="1B6FA8"/>
            </a:solidFill>
            <a:prstDash val="solid"/>
          </a:ln>
        </p:spPr>
      </p:sp>
      <p:pic>
        <p:nvPicPr>
          <p:cNvPr id="10" name="Image 1" descr="preencoded.png">    </p:cNvPr>
          <p:cNvPicPr>
            <a:picLocks noChangeAspect="1"/>
          </p:cNvPicPr>
          <p:nvPr/>
        </p:nvPicPr>
        <p:blipFill>
          <a:blip r:embed="rId3"/>
          <a:stretch>
            <a:fillRect/>
          </a:stretch>
        </p:blipFill>
        <p:spPr>
          <a:xfrm>
            <a:off x="6667805" y="2278685"/>
            <a:ext cx="380390" cy="380390"/>
          </a:xfrm>
          <a:prstGeom prst="rect">
            <a:avLst/>
          </a:prstGeom>
        </p:spPr>
      </p:pic>
      <p:sp>
        <p:nvSpPr>
          <p:cNvPr id="11" name="Text 7"/>
          <p:cNvSpPr txBox="1"/>
          <p:nvPr/>
        </p:nvSpPr>
        <p:spPr>
          <a:xfrm>
            <a:off x="7452360" y="2057400"/>
            <a:ext cx="4023360" cy="73152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El chat solo recuerda un turno</a:t>
            </a:r>
            <a:endParaRPr lang="en-US" sz="1700" dirty="0"/>
          </a:p>
        </p:txBody>
      </p:sp>
      <p:sp>
        <p:nvSpPr>
          <p:cNvPr id="12" name="Text 8"/>
          <p:cNvSpPr txBox="1"/>
          <p:nvPr/>
        </p:nvSpPr>
        <p:spPr>
          <a:xfrm>
            <a:off x="7452360" y="2834640"/>
            <a:ext cx="4023360" cy="731520"/>
          </a:xfrm>
          <a:prstGeom prst="rect">
            <a:avLst/>
          </a:prstGeom>
          <a:noFill/>
          <a:ln/>
        </p:spPr>
        <p:txBody>
          <a:bodyPr wrap="square" lIns="0" tIns="0" rIns="0" bIns="0" rtlCol="0" anchor="t"/>
          <a:lstStyle/>
          <a:p>
            <a:pPr indent="0" marL="0">
              <a:buNone/>
            </a:pPr>
            <a:r>
              <a:rPr lang="en-US" sz="1400" b="1" dirty="0">
                <a:solidFill>
                  <a:srgbClr val="222222"/>
                </a:solidFill>
                <a:latin typeface="Tahoma" pitchFamily="34" charset="0"/>
                <a:ea typeface="Tahoma" pitchFamily="34" charset="-122"/>
                <a:cs typeface="Tahoma" pitchFamily="34" charset="-120"/>
              </a:rPr>
              <a:t>Medida: </a:t>
            </a:r>
            <a:pPr indent="0" marL="0">
              <a:buNone/>
            </a:pPr>
            <a:r>
              <a:rPr lang="en-US" sz="1400" dirty="0">
                <a:solidFill>
                  <a:srgbClr val="222222"/>
                </a:solidFill>
                <a:latin typeface="Tahoma" pitchFamily="34" charset="0"/>
                <a:ea typeface="Tahoma" pitchFamily="34" charset="-122"/>
                <a:cs typeface="Tahoma" pitchFamily="34" charset="-120"/>
              </a:rPr>
              <a:t>Documentado; se puede reiniciar la conversación</a:t>
            </a:r>
            <a:endParaRPr lang="en-US" sz="1400" dirty="0"/>
          </a:p>
        </p:txBody>
      </p:sp>
      <p:sp>
        <p:nvSpPr>
          <p:cNvPr id="13" name="Shape 9"/>
          <p:cNvSpPr/>
          <p:nvPr/>
        </p:nvSpPr>
        <p:spPr>
          <a:xfrm>
            <a:off x="548640" y="4023360"/>
            <a:ext cx="5440680" cy="1965960"/>
          </a:xfrm>
          <a:prstGeom prst="roundRect">
            <a:avLst>
              <a:gd name="adj" fmla="val 5581"/>
            </a:avLst>
          </a:prstGeom>
          <a:solidFill>
            <a:srgbClr val="EEF4FA"/>
          </a:solidFill>
          <a:ln w="12700">
            <a:solidFill>
              <a:srgbClr val="EEF4FA"/>
            </a:solidFill>
            <a:prstDash val="solid"/>
          </a:ln>
        </p:spPr>
      </p:sp>
      <p:sp>
        <p:nvSpPr>
          <p:cNvPr id="14" name="Shape 10"/>
          <p:cNvSpPr/>
          <p:nvPr/>
        </p:nvSpPr>
        <p:spPr>
          <a:xfrm>
            <a:off x="822960" y="4343400"/>
            <a:ext cx="731520" cy="731520"/>
          </a:xfrm>
          <a:prstGeom prst="ellipse">
            <a:avLst/>
          </a:prstGeom>
          <a:solidFill>
            <a:srgbClr val="1B6FA8"/>
          </a:solidFill>
          <a:ln w="12700">
            <a:solidFill>
              <a:srgbClr val="1B6FA8"/>
            </a:solidFill>
            <a:prstDash val="solid"/>
          </a:ln>
        </p:spPr>
      </p:sp>
      <p:pic>
        <p:nvPicPr>
          <p:cNvPr id="15" name="Image 2" descr="preencoded.png">    </p:cNvPr>
          <p:cNvPicPr>
            <a:picLocks noChangeAspect="1"/>
          </p:cNvPicPr>
          <p:nvPr/>
        </p:nvPicPr>
        <p:blipFill>
          <a:blip r:embed="rId4"/>
          <a:stretch>
            <a:fillRect/>
          </a:stretch>
        </p:blipFill>
        <p:spPr>
          <a:xfrm>
            <a:off x="998525" y="4518965"/>
            <a:ext cx="380390" cy="380390"/>
          </a:xfrm>
          <a:prstGeom prst="rect">
            <a:avLst/>
          </a:prstGeom>
        </p:spPr>
      </p:pic>
      <p:sp>
        <p:nvSpPr>
          <p:cNvPr id="16" name="Text 11"/>
          <p:cNvSpPr txBox="1"/>
          <p:nvPr/>
        </p:nvSpPr>
        <p:spPr>
          <a:xfrm>
            <a:off x="1783080" y="4297680"/>
            <a:ext cx="4023360" cy="73152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El feedback no reentrena solo</a:t>
            </a:r>
            <a:endParaRPr lang="en-US" sz="1700" dirty="0"/>
          </a:p>
        </p:txBody>
      </p:sp>
      <p:sp>
        <p:nvSpPr>
          <p:cNvPr id="17" name="Text 12"/>
          <p:cNvSpPr txBox="1"/>
          <p:nvPr/>
        </p:nvSpPr>
        <p:spPr>
          <a:xfrm>
            <a:off x="1783080" y="5074920"/>
            <a:ext cx="4023360" cy="731520"/>
          </a:xfrm>
          <a:prstGeom prst="rect">
            <a:avLst/>
          </a:prstGeom>
          <a:noFill/>
          <a:ln/>
        </p:spPr>
        <p:txBody>
          <a:bodyPr wrap="square" lIns="0" tIns="0" rIns="0" bIns="0" rtlCol="0" anchor="t"/>
          <a:lstStyle/>
          <a:p>
            <a:pPr indent="0" marL="0">
              <a:buNone/>
            </a:pPr>
            <a:r>
              <a:rPr lang="en-US" sz="1400" b="1" dirty="0">
                <a:solidFill>
                  <a:srgbClr val="222222"/>
                </a:solidFill>
                <a:latin typeface="Tahoma" pitchFamily="34" charset="0"/>
                <a:ea typeface="Tahoma" pitchFamily="34" charset="-122"/>
                <a:cs typeface="Tahoma" pitchFamily="34" charset="-120"/>
              </a:rPr>
              <a:t>Medida: </a:t>
            </a:r>
            <a:pPr indent="0" marL="0">
              <a:buNone/>
            </a:pPr>
            <a:r>
              <a:rPr lang="en-US" sz="1400" dirty="0">
                <a:solidFill>
                  <a:srgbClr val="222222"/>
                </a:solidFill>
                <a:latin typeface="Tahoma" pitchFamily="34" charset="0"/>
                <a:ea typeface="Tahoma" pitchFamily="34" charset="-122"/>
                <a:cs typeface="Tahoma" pitchFamily="34" charset="-120"/>
              </a:rPr>
              <a:t>Revisión manual e ingreso al dataset</a:t>
            </a:r>
            <a:endParaRPr lang="en-US" sz="1400" dirty="0"/>
          </a:p>
        </p:txBody>
      </p:sp>
      <p:sp>
        <p:nvSpPr>
          <p:cNvPr id="18" name="Shape 13"/>
          <p:cNvSpPr/>
          <p:nvPr/>
        </p:nvSpPr>
        <p:spPr>
          <a:xfrm>
            <a:off x="6217920" y="4023360"/>
            <a:ext cx="5440680" cy="1965960"/>
          </a:xfrm>
          <a:prstGeom prst="roundRect">
            <a:avLst>
              <a:gd name="adj" fmla="val 5581"/>
            </a:avLst>
          </a:prstGeom>
          <a:solidFill>
            <a:srgbClr val="EEF4FA"/>
          </a:solidFill>
          <a:ln w="12700">
            <a:solidFill>
              <a:srgbClr val="EEF4FA"/>
            </a:solidFill>
            <a:prstDash val="solid"/>
          </a:ln>
        </p:spPr>
      </p:sp>
      <p:sp>
        <p:nvSpPr>
          <p:cNvPr id="19" name="Shape 14"/>
          <p:cNvSpPr/>
          <p:nvPr/>
        </p:nvSpPr>
        <p:spPr>
          <a:xfrm>
            <a:off x="6492240" y="4343400"/>
            <a:ext cx="731520" cy="731520"/>
          </a:xfrm>
          <a:prstGeom prst="ellipse">
            <a:avLst/>
          </a:prstGeom>
          <a:solidFill>
            <a:srgbClr val="1B6FA8"/>
          </a:solidFill>
          <a:ln w="12700">
            <a:solidFill>
              <a:srgbClr val="1B6FA8"/>
            </a:solidFill>
            <a:prstDash val="solid"/>
          </a:ln>
        </p:spPr>
      </p:sp>
      <p:pic>
        <p:nvPicPr>
          <p:cNvPr id="20" name="Image 3" descr="preencoded.png">    </p:cNvPr>
          <p:cNvPicPr>
            <a:picLocks noChangeAspect="1"/>
          </p:cNvPicPr>
          <p:nvPr/>
        </p:nvPicPr>
        <p:blipFill>
          <a:blip r:embed="rId5"/>
          <a:stretch>
            <a:fillRect/>
          </a:stretch>
        </p:blipFill>
        <p:spPr>
          <a:xfrm>
            <a:off x="6667805" y="4518965"/>
            <a:ext cx="380390" cy="380390"/>
          </a:xfrm>
          <a:prstGeom prst="rect">
            <a:avLst/>
          </a:prstGeom>
        </p:spPr>
      </p:pic>
      <p:sp>
        <p:nvSpPr>
          <p:cNvPr id="21" name="Text 15"/>
          <p:cNvSpPr txBox="1"/>
          <p:nvPr/>
        </p:nvSpPr>
        <p:spPr>
          <a:xfrm>
            <a:off x="7452360" y="4297680"/>
            <a:ext cx="4023360" cy="731520"/>
          </a:xfrm>
          <a:prstGeom prst="rect">
            <a:avLst/>
          </a:prstGeom>
          <a:noFill/>
          <a:ln/>
        </p:spPr>
        <p:txBody>
          <a:bodyPr wrap="square" lIns="0" tIns="0" rIns="0" bIns="0" rtlCol="0" anchor="ctr"/>
          <a:lstStyle/>
          <a:p>
            <a:pPr indent="0" marL="0">
              <a:buNone/>
            </a:pPr>
            <a:r>
              <a:rPr lang="en-US" sz="1700" b="1" dirty="0">
                <a:solidFill>
                  <a:srgbClr val="0E4C7C"/>
                </a:solidFill>
                <a:latin typeface="Tahoma" pitchFamily="34" charset="0"/>
                <a:ea typeface="Tahoma" pitchFamily="34" charset="-122"/>
                <a:cs typeface="Tahoma" pitchFamily="34" charset="-120"/>
              </a:rPr>
              <a:t>Si el microservicio cae, no hay asistente</a:t>
            </a:r>
            <a:endParaRPr lang="en-US" sz="1700" dirty="0"/>
          </a:p>
        </p:txBody>
      </p:sp>
      <p:sp>
        <p:nvSpPr>
          <p:cNvPr id="22" name="Text 16"/>
          <p:cNvSpPr txBox="1"/>
          <p:nvPr/>
        </p:nvSpPr>
        <p:spPr>
          <a:xfrm>
            <a:off x="7452360" y="5074920"/>
            <a:ext cx="4023360" cy="731520"/>
          </a:xfrm>
          <a:prstGeom prst="rect">
            <a:avLst/>
          </a:prstGeom>
          <a:noFill/>
          <a:ln/>
        </p:spPr>
        <p:txBody>
          <a:bodyPr wrap="square" lIns="0" tIns="0" rIns="0" bIns="0" rtlCol="0" anchor="t"/>
          <a:lstStyle/>
          <a:p>
            <a:pPr indent="0" marL="0">
              <a:buNone/>
            </a:pPr>
            <a:r>
              <a:rPr lang="en-US" sz="1400" b="1" dirty="0">
                <a:solidFill>
                  <a:srgbClr val="222222"/>
                </a:solidFill>
                <a:latin typeface="Tahoma" pitchFamily="34" charset="0"/>
                <a:ea typeface="Tahoma" pitchFamily="34" charset="-122"/>
                <a:cs typeface="Tahoma" pitchFamily="34" charset="-120"/>
              </a:rPr>
              <a:t>Medida: </a:t>
            </a:r>
            <a:pPr indent="0" marL="0">
              <a:buNone/>
            </a:pPr>
            <a:r>
              <a:rPr lang="en-US" sz="1400" dirty="0">
                <a:solidFill>
                  <a:srgbClr val="222222"/>
                </a:solidFill>
                <a:latin typeface="Tahoma" pitchFamily="34" charset="0"/>
                <a:ea typeface="Tahoma" pitchFamily="34" charset="-122"/>
                <a:cs typeface="Tahoma" pitchFamily="34" charset="-120"/>
              </a:rPr>
              <a:t>El resto del sistema sigue funcionando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indent="0" marL="0">
              <a:buNone/>
            </a:pPr>
            <a:r>
              <a:rPr lang="en-US" sz="2800" b="1" dirty="0">
                <a:solidFill>
                  <a:srgbClr val="FFFFFF"/>
                </a:solidFill>
                <a:latin typeface="Tahoma" pitchFamily="34" charset="0"/>
                <a:ea typeface="Tahoma" pitchFamily="34" charset="-122"/>
                <a:cs typeface="Tahoma" pitchFamily="34" charset="-120"/>
              </a:rPr>
              <a:t>Conclusiones</a:t>
            </a:r>
            <a:endParaRPr lang="en-US" sz="2800" dirty="0"/>
          </a:p>
        </p:txBody>
      </p:sp>
      <p:sp>
        <p:nvSpPr>
          <p:cNvPr id="3" name="Shape 1"/>
          <p:cNvSpPr/>
          <p:nvPr/>
        </p:nvSpPr>
        <p:spPr>
          <a:xfrm>
            <a:off x="822960" y="1828800"/>
            <a:ext cx="868680" cy="868680"/>
          </a:xfrm>
          <a:prstGeom prst="ellipse">
            <a:avLst/>
          </a:prstGeom>
          <a:solidFill>
            <a:srgbClr val="1B6FA8"/>
          </a:solidFill>
          <a:ln w="12700">
            <a:solidFill>
              <a:srgbClr val="1B6FA8"/>
            </a:solidFill>
            <a:prstDash val="solid"/>
          </a:ln>
        </p:spPr>
      </p:sp>
      <p:pic>
        <p:nvPicPr>
          <p:cNvPr id="4" name="Image 0" descr="preencoded.png">    </p:cNvPr>
          <p:cNvPicPr>
            <a:picLocks noChangeAspect="1"/>
          </p:cNvPicPr>
          <p:nvPr/>
        </p:nvPicPr>
        <p:blipFill>
          <a:blip r:embed="rId2"/>
          <a:stretch>
            <a:fillRect/>
          </a:stretch>
        </p:blipFill>
        <p:spPr>
          <a:xfrm>
            <a:off x="1031443" y="2037283"/>
            <a:ext cx="451714" cy="451714"/>
          </a:xfrm>
          <a:prstGeom prst="rect">
            <a:avLst/>
          </a:prstGeom>
        </p:spPr>
      </p:pic>
      <p:sp>
        <p:nvSpPr>
          <p:cNvPr id="5" name="Text 2"/>
          <p:cNvSpPr txBox="1"/>
          <p:nvPr/>
        </p:nvSpPr>
        <p:spPr>
          <a:xfrm>
            <a:off x="2011680" y="1737360"/>
            <a:ext cx="9418320" cy="1051560"/>
          </a:xfrm>
          <a:prstGeom prst="rect">
            <a:avLst/>
          </a:prstGeom>
          <a:noFill/>
          <a:ln/>
        </p:spPr>
        <p:txBody>
          <a:bodyPr wrap="square" lIns="0" tIns="0" rIns="0" bIns="0" rtlCol="0" anchor="ctr"/>
          <a:lstStyle/>
          <a:p>
            <a:pPr indent="0" marL="0">
              <a:buNone/>
            </a:pPr>
            <a:r>
              <a:rPr lang="en-US" sz="1900" dirty="0">
                <a:solidFill>
                  <a:srgbClr val="222222"/>
                </a:solidFill>
                <a:latin typeface="Tahoma" pitchFamily="34" charset="0"/>
                <a:ea typeface="Tahoma" pitchFamily="34" charset="-122"/>
                <a:cs typeface="Tahoma" pitchFamily="34" charset="-120"/>
              </a:rPr>
              <a:t>El asistente ya funciona en producción: entiende la consulta, identifica el vehículo y recomienda repuestos reales.</a:t>
            </a:r>
            <a:endParaRPr lang="en-US" sz="1900" dirty="0"/>
          </a:p>
        </p:txBody>
      </p:sp>
      <p:sp>
        <p:nvSpPr>
          <p:cNvPr id="6" name="Shape 3"/>
          <p:cNvSpPr/>
          <p:nvPr/>
        </p:nvSpPr>
        <p:spPr>
          <a:xfrm>
            <a:off x="822960" y="3291840"/>
            <a:ext cx="868680" cy="868680"/>
          </a:xfrm>
          <a:prstGeom prst="ellipse">
            <a:avLst/>
          </a:prstGeom>
          <a:solidFill>
            <a:srgbClr val="1B6FA8"/>
          </a:solidFill>
          <a:ln w="12700">
            <a:solidFill>
              <a:srgbClr val="1B6FA8"/>
            </a:solidFill>
            <a:prstDash val="solid"/>
          </a:ln>
        </p:spPr>
      </p:sp>
      <p:pic>
        <p:nvPicPr>
          <p:cNvPr id="7" name="Image 1" descr="preencoded.png">    </p:cNvPr>
          <p:cNvPicPr>
            <a:picLocks noChangeAspect="1"/>
          </p:cNvPicPr>
          <p:nvPr/>
        </p:nvPicPr>
        <p:blipFill>
          <a:blip r:embed="rId3"/>
          <a:stretch>
            <a:fillRect/>
          </a:stretch>
        </p:blipFill>
        <p:spPr>
          <a:xfrm>
            <a:off x="1031443" y="3500323"/>
            <a:ext cx="451714" cy="451714"/>
          </a:xfrm>
          <a:prstGeom prst="rect">
            <a:avLst/>
          </a:prstGeom>
        </p:spPr>
      </p:pic>
      <p:sp>
        <p:nvSpPr>
          <p:cNvPr id="8" name="Text 4"/>
          <p:cNvSpPr txBox="1"/>
          <p:nvPr/>
        </p:nvSpPr>
        <p:spPr>
          <a:xfrm>
            <a:off x="2011680" y="3200400"/>
            <a:ext cx="9418320" cy="1051560"/>
          </a:xfrm>
          <a:prstGeom prst="rect">
            <a:avLst/>
          </a:prstGeom>
          <a:noFill/>
          <a:ln/>
        </p:spPr>
        <p:txBody>
          <a:bodyPr wrap="square" lIns="0" tIns="0" rIns="0" bIns="0" rtlCol="0" anchor="ctr"/>
          <a:lstStyle/>
          <a:p>
            <a:pPr indent="0" marL="0">
              <a:buNone/>
            </a:pPr>
            <a:r>
              <a:rPr lang="en-US" sz="1900" dirty="0">
                <a:solidFill>
                  <a:srgbClr val="222222"/>
                </a:solidFill>
                <a:latin typeface="Tahoma" pitchFamily="34" charset="0"/>
                <a:ea typeface="Tahoma" pitchFamily="34" charset="-122"/>
                <a:cs typeface="Tahoma" pitchFamily="34" charset="-120"/>
              </a:rPr>
              <a:t>Un modelo propio y explicable, sin LLM externo, logra 82.1 % de exactitud y 100 % de precisión@3.</a:t>
            </a:r>
            <a:endParaRPr lang="en-US" sz="1900" dirty="0"/>
          </a:p>
        </p:txBody>
      </p:sp>
      <p:sp>
        <p:nvSpPr>
          <p:cNvPr id="9" name="Shape 5"/>
          <p:cNvSpPr/>
          <p:nvPr/>
        </p:nvSpPr>
        <p:spPr>
          <a:xfrm>
            <a:off x="822960" y="4754880"/>
            <a:ext cx="868680" cy="868680"/>
          </a:xfrm>
          <a:prstGeom prst="ellipse">
            <a:avLst/>
          </a:prstGeom>
          <a:solidFill>
            <a:srgbClr val="E8890C"/>
          </a:solidFill>
          <a:ln w="12700">
            <a:solidFill>
              <a:srgbClr val="E8890C"/>
            </a:solidFill>
            <a:prstDash val="solid"/>
          </a:ln>
        </p:spPr>
      </p:sp>
      <p:pic>
        <p:nvPicPr>
          <p:cNvPr id="10" name="Image 2" descr="preencoded.png">    </p:cNvPr>
          <p:cNvPicPr>
            <a:picLocks noChangeAspect="1"/>
          </p:cNvPicPr>
          <p:nvPr/>
        </p:nvPicPr>
        <p:blipFill>
          <a:blip r:embed="rId4"/>
          <a:stretch>
            <a:fillRect/>
          </a:stretch>
        </p:blipFill>
        <p:spPr>
          <a:xfrm>
            <a:off x="1031443" y="4963363"/>
            <a:ext cx="451714" cy="451714"/>
          </a:xfrm>
          <a:prstGeom prst="rect">
            <a:avLst/>
          </a:prstGeom>
        </p:spPr>
      </p:pic>
      <p:sp>
        <p:nvSpPr>
          <p:cNvPr id="11" name="Text 6"/>
          <p:cNvSpPr txBox="1"/>
          <p:nvPr/>
        </p:nvSpPr>
        <p:spPr>
          <a:xfrm>
            <a:off x="2011680" y="4663440"/>
            <a:ext cx="9418320" cy="1051560"/>
          </a:xfrm>
          <a:prstGeom prst="rect">
            <a:avLst/>
          </a:prstGeom>
          <a:noFill/>
          <a:ln/>
        </p:spPr>
        <p:txBody>
          <a:bodyPr wrap="square" lIns="0" tIns="0" rIns="0" bIns="0" rtlCol="0" anchor="ctr"/>
          <a:lstStyle/>
          <a:p>
            <a:pPr indent="0" marL="0">
              <a:buNone/>
            </a:pPr>
            <a:r>
              <a:rPr lang="en-US" sz="1900" dirty="0">
                <a:solidFill>
                  <a:srgbClr val="222222"/>
                </a:solidFill>
                <a:latin typeface="Tahoma" pitchFamily="34" charset="0"/>
                <a:ea typeface="Tahoma" pitchFamily="34" charset="-122"/>
                <a:cs typeface="Tahoma" pitchFamily="34" charset="-120"/>
              </a:rPr>
              <a:t>La evaluación mostró el límite actual, el tamaño del dataset, y eso guía los sprints que faltan.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194560" y="2926080"/>
            <a:ext cx="7772400" cy="1828800"/>
          </a:xfrm>
          <a:prstGeom prst="rect">
            <a:avLst/>
          </a:prstGeom>
          <a:noFill/>
          <a:ln/>
        </p:spPr>
        <p:txBody>
          <a:bodyPr wrap="square" lIns="0" tIns="0" rIns="0" bIns="0" rtlCol="0" anchor="ctr"/>
          <a:lstStyle/>
          <a:p>
            <a:pPr algn="ctr" indent="0" marL="0">
              <a:buNone/>
            </a:pPr>
            <a:r>
              <a:rPr lang="en-US" sz="4400" b="1" dirty="0">
                <a:solidFill>
                  <a:srgbClr val="FFFFFF"/>
                </a:solidFill>
                <a:latin typeface="Tahoma" pitchFamily="34" charset="0"/>
                <a:ea typeface="Tahoma" pitchFamily="34" charset="-122"/>
                <a:cs typeface="Tahoma" pitchFamily="34" charset="-120"/>
              </a:rPr>
              <a:t>¡Gracias!</a:t>
            </a:r>
            <a:endParaRPr lang="en-US" sz="4400" dirty="0"/>
          </a:p>
          <a:p>
            <a:pPr algn="ctr" indent="0" marL="0">
              <a:buNone/>
            </a:pPr>
            <a:r>
              <a:rPr lang="en-US" sz="2600" dirty="0">
                <a:solidFill>
                  <a:srgbClr val="FFFFFF"/>
                </a:solidFill>
                <a:latin typeface="Tahoma" pitchFamily="34" charset="0"/>
                <a:ea typeface="Tahoma" pitchFamily="34" charset="-122"/>
                <a:cs typeface="Tahoma" pitchFamily="34" charset="-120"/>
              </a:rPr>
              <a:t>¿Preguntas?</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2 – Asistente NLP ElectriSys</dc:title>
  <dc:subject>PptxGenJS Presentation</dc:subject>
  <dc:creator>PptxGenJS</dc:creator>
  <cp:lastModifiedBy>PptxGenJS</cp:lastModifiedBy>
  <cp:revision>1</cp:revision>
  <dcterms:created xsi:type="dcterms:W3CDTF">2026-09-28T17:07:28Z</dcterms:created>
  <dcterms:modified xsi:type="dcterms:W3CDTF">2026-09-28T17:07:28Z</dcterms:modified>
</cp:coreProperties>
</file>