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E4C7C"/>
                </a:solidFill>
                <a:latin typeface="Calibri"/>
              </a:rPr>
              <a:t>1 error de tipeo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E8890C"/>
            </a:solidFill>
          </c:spPr>
          <c:cat>
            <c:strRef>
              <c:f>Sheet1!$A$2:$A$4</c:f>
              <c:strCache>
                <c:ptCount val="3"/>
                <c:pt idx="0">
                  <c:v>Marca</c:v>
                </c:pt>
                <c:pt idx="1">
                  <c:v>Modelo</c:v>
                </c:pt>
                <c:pt idx="2">
                  <c:v>Categoría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48</c:v>
                </c:pt>
                <c:pt idx="2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0E4C7C"/>
            </a:solidFill>
          </c:spPr>
          <c:cat>
            <c:strRef>
              <c:f>Sheet1!$A$2:$A$4</c:f>
              <c:strCache>
                <c:ptCount val="3"/>
                <c:pt idx="0">
                  <c:v>Marca</c:v>
                </c:pt>
                <c:pt idx="1">
                  <c:v>Modelo</c:v>
                </c:pt>
                <c:pt idx="2">
                  <c:v>Categoría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91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Gridlines>
          <c:spPr>
            <a:ln>
              <a:solidFill>
                <a:srgbClr val="D5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E4C7C"/>
                </a:solidFill>
                <a:latin typeface="Calibri"/>
              </a:rPr>
              <a:t>2 errores de tipeo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E8890C"/>
            </a:solidFill>
          </c:spPr>
          <c:cat>
            <c:strRef>
              <c:f>Sheet1!$A$2:$A$4</c:f>
              <c:strCache>
                <c:ptCount val="3"/>
                <c:pt idx="0">
                  <c:v>Marca</c:v>
                </c:pt>
                <c:pt idx="1">
                  <c:v>Modelo</c:v>
                </c:pt>
                <c:pt idx="2">
                  <c:v>Categoría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</c:v>
                </c:pt>
                <c:pt idx="2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0E4C7C"/>
            </a:solidFill>
          </c:spPr>
          <c:cat>
            <c:strRef>
              <c:f>Sheet1!$A$2:$A$4</c:f>
              <c:strCache>
                <c:ptCount val="3"/>
                <c:pt idx="0">
                  <c:v>Marca</c:v>
                </c:pt>
                <c:pt idx="1">
                  <c:v>Modelo</c:v>
                </c:pt>
                <c:pt idx="2">
                  <c:v>Categoría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89</c:v>
                </c:pt>
                <c:pt idx="2">
                  <c:v>86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Gridlines>
          <c:spPr>
            <a:ln>
              <a:solidFill>
                <a:srgbClr val="D5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E4C7C"/>
                </a:solidFill>
                <a:latin typeface="Calibri"/>
              </a:rPr>
              <a:t>Acierto por tipo de error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E8890C"/>
            </a:solidFill>
          </c:spPr>
          <c:cat>
            <c:strRef>
              <c:f>Sheet1!$A$2:$A$6</c:f>
              <c:strCache>
                <c:ptCount val="5"/>
                <c:pt idx="0">
                  <c:v>Letra repetida</c:v>
                </c:pt>
                <c:pt idx="1">
                  <c:v>Falta una letra</c:v>
                </c:pt>
                <c:pt idx="2">
                  <c:v>Intercambiadas</c:v>
                </c:pt>
                <c:pt idx="3">
                  <c:v>Letra cambiada</c:v>
                </c:pt>
                <c:pt idx="4">
                  <c:v>Nombres cortos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78</c:v>
                </c:pt>
                <c:pt idx="2">
                  <c:v>25</c:v>
                </c:pt>
                <c:pt idx="3">
                  <c:v>5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0E4C7C"/>
            </a:solidFill>
          </c:spPr>
          <c:cat>
            <c:strRef>
              <c:f>Sheet1!$A$2:$A$6</c:f>
              <c:strCache>
                <c:ptCount val="5"/>
                <c:pt idx="0">
                  <c:v>Letra repetida</c:v>
                </c:pt>
                <c:pt idx="1">
                  <c:v>Falta una letra</c:v>
                </c:pt>
                <c:pt idx="2">
                  <c:v>Intercambiadas</c:v>
                </c:pt>
                <c:pt idx="3">
                  <c:v>Letra cambiada</c:v>
                </c:pt>
                <c:pt idx="4">
                  <c:v>Nombres cortos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94</c:v>
                </c:pt>
                <c:pt idx="2">
                  <c:v>99</c:v>
                </c:pt>
                <c:pt idx="3">
                  <c:v>96</c:v>
                </c:pt>
                <c:pt idx="4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Gridlines>
          <c:spPr>
            <a:ln>
              <a:solidFill>
                <a:srgbClr val="D5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Presento una mejora al asistente de IA de ElectriSys: ahora entiende marcas y modelos aunque el usuario los escriba con errores. La solución es una tabla de posibles errores y un agente que la mantiene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práctica los usuarios escriben rápido y con errores. Si el asistente no reconoce la marca o el modelo, no puede recomendar el repuesto correcto y pide repetir la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RapidFuzz compara letras, no intención. Entre “jilus” y “hilux” la similitud es solo 60, por debajo del umbral, así que se rechaza aunque para una persona sea obvio.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dos piezas: una tabla que guarda cada forma errónea junto a su nombre correcto, y un agente que la llena automáticamente para cualquier marca o modelo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Clasifiqué los errores en cuatro niveles, del más simple al más extremo. Los tres primeros se guardan en la tabla y el cuarto se resuelve con similitud como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agente toma una marca o modelo y produce sus variantes erróneas. Aquí se ven tres columnas: el nombre correcto, algunos errores generados y el resultado que recibe el asistente.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Agregar muchos errores tiene un riesgo: que una palabra común del español se confunda con un modelo. Por eso se filtran contra un diccionario y los modelos ambiguos no se asumen.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llega una frase, primero se busca en la tabla. Si no aparece, se usa RapidFuzz como respaldo. Este orden hace la búsqueda rápida y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Uso el patrón Observer: cuando se crea o actualiza una marca o modelo, el agente se entera y escribe todos los errores en la tabla sin intervención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barras naranjas son el sistema anterior y las azules el actual. Con uno y con dos errores de tipeo el acierto sube con fuerza, sobre todo en marca y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errores con letras intercambiadas o cambiadas eran los peores, con 25 y 5 por ciento. Ahora superan el 95 por ciento. Los nombres cortos también mejoran.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consulta a la tabla es una búsqueda directa, por lo que no añade espera perceptible. La calidad se comprobó con pruebas automáticas sobre un conjunto amplio de 58 833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demo registro un modelo nuevo, Geely Coolray. El agente agrega sus errores a la tabla y enseguida el asistente lo reconoce aunque se escriba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importante ser claro con los límites: la tabla no cubre todo y hay casos que aún no resuelve. Estas son las líneas de mejora que siguen.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mejora convierte un punto débil en una fortaleza: el asistente tolera errores de escritura y se mantiene actualizado solo. Es el paso más importante para el uso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C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Que el asistente entienda “jilus”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F6C37A"/>
                </a:solidFill>
                <a:latin typeface="Calibri"/>
              </a:rPr>
              <a:t>Tabla de posibles errores y agente automático para RapidFuzz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5DEE8"/>
                </a:solidFill>
                <a:latin typeface="Calibri"/>
              </a:rPr>
              <a:t>ElectriSys · Aplicación de la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El problema: la gente escribe mal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E8890C"/>
                </a:solidFill>
                <a:latin typeface="Calibri"/>
              </a:rPr>
              <a:t>toyta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debería 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0E4C7C"/>
                </a:solidFill>
                <a:latin typeface="Calibri"/>
              </a:rPr>
              <a:t>Toyota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E8890C"/>
                </a:solidFill>
                <a:latin typeface="Calibri"/>
              </a:rPr>
              <a:t>jilus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debería 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3832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0E4C7C"/>
                </a:solidFill>
                <a:latin typeface="Calibri"/>
              </a:rPr>
              <a:t>Hilux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0116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E8890C"/>
                </a:solidFill>
                <a:latin typeface="Calibri"/>
              </a:rPr>
              <a:t>chebrolet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debería 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38328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0E4C7C"/>
                </a:solidFill>
                <a:latin typeface="Calibri"/>
              </a:rPr>
              <a:t>Chevrolet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54880"/>
            <a:ext cx="10195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Sin marca y modelo no hay recomendación de repuestos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7667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303520"/>
            <a:ext cx="10195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Antes de la mejora, muchos errores de tipeo no se reconocían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Por qué falla RapidFuzz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2926080" cy="82296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E8890C"/>
                </a:solidFill>
                <a:latin typeface="Calibri"/>
              </a:rPr>
              <a:t>jilus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920240"/>
            <a:ext cx="2926080" cy="82296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0E4C7C"/>
                </a:solidFill>
                <a:latin typeface="Calibri"/>
              </a:rPr>
              <a:t>hilux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920240"/>
            <a:ext cx="2926080" cy="82296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60 / 100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31920" y="2148840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726679" y="2148840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lo que escribe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lo que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similitud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22191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10195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Umbral de aceptación: 85 (88 en el tipeo)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1655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10195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60 &lt; 85: se descarta y el asistente no entiende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1091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59"/>
            <a:ext cx="10195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Las letras intercambiadas o cambiadas penalizan doble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La solución en dos partes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 · Tabla de posibles errores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828800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 · Agente automático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69748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9992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Cada error conocido apunta al nombre correcto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6850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Se consulta antes de la similitud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9992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92608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Se dispara al registrar una marca o modelo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6850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61188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Genera todos los errores posibles al instante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4C7C"/>
                </a:solidFill>
                <a:latin typeface="Calibri"/>
              </a:rPr>
              <a:t>Resultado: “jilus” → Hilux, por búsqueda directa en la tabla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Los niveles de error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840480"/>
                <a:gridCol w="2926080"/>
                <a:gridCol w="2468880"/>
              </a:tblGrid>
              <a:tr h="6949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anchor="ctr">
                    <a:solidFill>
                      <a:srgbClr val="0E4C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Tipo de error</a:t>
                      </a:r>
                    </a:p>
                  </a:txBody>
                  <a:tcPr anchor="ctr">
                    <a:solidFill>
                      <a:srgbClr val="0E4C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>
                    <a:solidFill>
                      <a:srgbClr val="0E4C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Dónde se resuelve</a:t>
                      </a:r>
                    </a:p>
                  </a:txBody>
                  <a:tcPr anchor="ctr">
                    <a:solidFill>
                      <a:srgbClr val="0E4C7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Letra repetida o faltante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toyyota · toyta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Letras intercambiadas o cambiadas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toyota → tyooda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Fonético y combinaciones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jilus · chebrolet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Error extremo o desconocido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cualquier otro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Similitud (respaldo)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Ejemplo: Chevrolet, Toyota, Hilux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Chevrolet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20440" y="222199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9080" y="1920240"/>
            <a:ext cx="4480560" cy="96012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E8890C"/>
                </a:solidFill>
                <a:latin typeface="Calibri"/>
              </a:rPr>
              <a:t>chebrolet · chevrolett · chevrolt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686800" y="222199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192024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E4C7C"/>
                </a:solidFill>
                <a:latin typeface="Calibri"/>
              </a:rPr>
              <a:t>Chevrolet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Toyota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354787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69080" y="3246120"/>
            <a:ext cx="4480560" cy="96012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E8890C"/>
                </a:solidFill>
                <a:latin typeface="Calibri"/>
              </a:rPr>
              <a:t>toyta · toyyota · tyota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86800" y="354787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324612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E4C7C"/>
                </a:solidFill>
                <a:latin typeface="Calibri"/>
              </a:rPr>
              <a:t>Toyota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Hilux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0440" y="487375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69080" y="4572000"/>
            <a:ext cx="4480560" cy="96012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E8890C"/>
                </a:solidFill>
                <a:latin typeface="Calibri"/>
              </a:rPr>
              <a:t>jilus · hilus · hiluz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86800" y="4873752"/>
            <a:ext cx="41148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457200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E4C7C"/>
                </a:solidFill>
                <a:latin typeface="Calibri"/>
              </a:rPr>
              <a:t>Hilux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Correcto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14173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Errores generados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Calibri"/>
              </a:rPr>
              <a:t>Reconocido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Control de falsos positivos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99339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6080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Se excluyen palabras comunes del español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1635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6080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Modelos ambiguos (Fortuner, Frontier) no se adivinan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63931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66160"/>
            <a:ext cx="6080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Ante la duda, el asistente pide aclarar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01168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E8890C"/>
                </a:solidFill>
                <a:latin typeface="Calibri"/>
              </a:rPr>
              <a:t>“frontera”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918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No se convierte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5720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0E4C7C"/>
                </a:solidFill>
                <a:latin typeface="Calibri"/>
              </a:rPr>
              <a:t>en Frontier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4C7C"/>
                </a:solidFill>
                <a:latin typeface="Calibri"/>
              </a:rPr>
              <a:t>Mejor no reconocer que reconocer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Arquitectura de búsqueda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Frase del usuario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Tabla de posibles errores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RapidFuzz (respaldo)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968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Marca y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Si está en la tabla, responde directo. Si no, compara por similitud.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8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Búsqueda exacta primero: rápida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7667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30352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Similitud solo cuando hace falta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Alta automática con Observer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Nuevo modelo registrado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Evento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Agente generador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9680" y="283464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0" y="2377440"/>
            <a:ext cx="2286000" cy="128016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Tabla actualizada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6227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389120"/>
            <a:ext cx="9738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Sin pasos manuales: el modelo nuevo se puede buscar de inmediato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566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83480"/>
            <a:ext cx="9738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El generador es determinista: mismo nombre, mismos errores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Resultados: antes y después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371600"/>
          <a:ext cx="5669280" cy="5029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Mejora por tipo de error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1106424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Rendimiento y calidad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0E4C7C"/>
                </a:solidFill>
                <a:latin typeface="Calibri"/>
              </a:rPr>
              <a:t>58 833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casos de prueba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0E4C7C"/>
                </a:solidFill>
                <a:latin typeface="Calibri"/>
              </a:rPr>
              <a:t>85 / 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83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umbrales de similitud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2860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0E4C7C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niveles de error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4515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72000"/>
            <a:ext cx="10195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Búsqueda directa en tabla: sin costo extra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23951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166360"/>
            <a:ext cx="10195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Pruebas automáticas aprobadas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Demo: marca nueva, Geely Coolray</a:t>
            </a:r>
          </a:p>
        </p:txBody>
      </p:sp>
      <p:sp>
        <p:nvSpPr>
          <p:cNvPr id="3" name="Oval 2"/>
          <p:cNvSpPr/>
          <p:nvPr/>
        </p:nvSpPr>
        <p:spPr>
          <a:xfrm>
            <a:off x="1417319" y="1920240"/>
            <a:ext cx="731520" cy="73152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Registrar Geely Coolray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333756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43400" y="1920240"/>
            <a:ext cx="731520" cy="73152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9260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El agente genera los errores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33756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69480" y="1920240"/>
            <a:ext cx="731520" cy="73152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 guardan en la tabla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69680" y="3337560"/>
            <a:ext cx="457200" cy="365760"/>
          </a:xfrm>
          <a:prstGeom prst="rightArrow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1920240"/>
            <a:ext cx="731520" cy="73152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9260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0E4C7C"/>
          </a:solidFill>
          <a:ln>
            <a:solidFill>
              <a:srgbClr val="0E4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Buscar “yili culray”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754880"/>
            <a:ext cx="5760720" cy="91440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E8890C"/>
                </a:solidFill>
                <a:latin typeface="Calibri"/>
              </a:rPr>
              <a:t>Reconocido: Geely Coolray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C7C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FDF1E0"/>
          </a:solidFill>
          <a:ln>
            <a:solidFill>
              <a:srgbClr val="FDF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solidFill>
              <a:srgbClr val="EE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890C"/>
                </a:solidFill>
                <a:latin typeface="Calibri"/>
              </a:rPr>
              <a:t>Limitaciones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45059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23774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Niveles 1 a 3 en tabla; el 4 por similitud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2278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315468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Nombres cortos: 90 %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00507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393192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Modelos fuera del catálogo no se reconocen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78231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470916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Requiere marca y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4C7C"/>
                </a:solidFill>
                <a:latin typeface="Calibri"/>
              </a:rPr>
              <a:t>Trabajo futuro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45059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3774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Aprender de consultas reales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322783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315468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Sugerir aclaraciones inteligentes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4005072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393192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Ampliar el catálogo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C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La tabla de posibles errores resuelve lo que la similitud no podía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El agente mantiene la tabla sin trabajo manual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El acierto con un error sube a 98 % en marca y modelo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E8890C"/>
          </a:solidFill>
          <a:ln>
            <a:solidFill>
              <a:srgbClr val="E88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1772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Seguimos mejorando con datos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