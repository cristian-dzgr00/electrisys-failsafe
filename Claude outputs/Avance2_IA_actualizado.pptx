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charts/chart1.xml" ContentType="application/vnd.openxmlformats-officedocument.drawingml.chart+xml"/>
  <Override PartName="/ppt/charts/chart2.xml" ContentType="application/vnd.openxmlformats-officedocument.drawingml.chart+xml"/>
  <Override PartName="/ppt/media/image19.jpeg" ContentType="image/jpeg"/>
  <Override PartName="/ppt/media/image20.jpeg" ContentType="image/jpeg"/>
  <Override PartName="/ppt/media/image21.jpeg" ContentType="image/jpe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85" r:id="rId37"/>
    <p:sldId id="265" r:id="rId10"/>
    <p:sldId id="264" r:id="rId11"/>
    <p:sldId id="266" r:id="rId12"/>
    <p:sldId id="274" r:id="rId26"/>
    <p:sldId id="275" r:id="rId27"/>
    <p:sldId id="276" r:id="rId28"/>
    <p:sldId id="277" r:id="rId29"/>
    <p:sldId id="278" r:id="rId30"/>
    <p:sldId id="279" r:id="rId31"/>
    <p:sldId id="280" r:id="rId32"/>
    <p:sldId id="267" r:id="rId13"/>
    <p:sldId id="281" r:id="rId33"/>
    <p:sldId id="268" r:id="rId14"/>
    <p:sldId id="282" r:id="rId34"/>
    <p:sldId id="269" r:id="rId15"/>
    <p:sldId id="283" r:id="rId35"/>
    <p:sldId id="284" r:id="rId36"/>
    <p:sldId id="286" r:id="rId38"/>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6" d="100"/>
          <a:sy n="96" d="100"/>
        </p:scale>
        <p:origin x="72"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 Id="rId25" Type="http://schemas.microsoft.com/office/2016/11/relationships/changesInfo" Target="changesInfos/changesInfo1.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ristian pesillo" userId="45e96d6bfac32bbe" providerId="LiveId" clId="{012DA9A7-07F6-44AF-88C9-153B4DF87EF6}"/>
    <pc:docChg chg="modSld sldOrd">
      <pc:chgData name="cristian pesillo" userId="45e96d6bfac32bbe" providerId="LiveId" clId="{012DA9A7-07F6-44AF-88C9-153B4DF87EF6}" dt="2026-09-29T22:09:53.400" v="2" actId="1035"/>
      <pc:docMkLst>
        <pc:docMk/>
      </pc:docMkLst>
      <pc:sldChg chg="ord">
        <pc:chgData name="cristian pesillo" userId="45e96d6bfac32bbe" providerId="LiveId" clId="{012DA9A7-07F6-44AF-88C9-153B4DF87EF6}" dt="2026-09-29T22:02:52.680" v="1"/>
        <pc:sldMkLst>
          <pc:docMk/>
          <pc:sldMk cId="0" sldId="264"/>
        </pc:sldMkLst>
      </pc:sldChg>
      <pc:sldChg chg="modSp mod">
        <pc:chgData name="cristian pesillo" userId="45e96d6bfac32bbe" providerId="LiveId" clId="{012DA9A7-07F6-44AF-88C9-153B4DF87EF6}" dt="2026-09-29T22:09:53.400" v="2" actId="1035"/>
        <pc:sldMkLst>
          <pc:docMk/>
          <pc:sldMk cId="0" sldId="268"/>
        </pc:sldMkLst>
        <pc:spChg chg="mod">
          <ac:chgData name="cristian pesillo" userId="45e96d6bfac32bbe" providerId="LiveId" clId="{012DA9A7-07F6-44AF-88C9-153B4DF87EF6}" dt="2026-09-29T22:09:53.400" v="2" actId="1035"/>
          <ac:spMkLst>
            <pc:docMk/>
            <pc:sldMk cId="0" sldId="268"/>
            <ac:spMk id="6" creationId="{00000000-0000-0000-0000-000000000000}"/>
          </ac:spMkLst>
        </pc:spChg>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pPr>
              <a:defRPr sz="1400" b="0" i="0" u="none" strike="noStrike">
                <a:solidFill>
                  <a:srgbClr val="222222"/>
                </a:solidFill>
                <a:latin typeface="Tahoma"/>
              </a:defRPr>
            </a:pPr>
            <a:r>
              <a:rPr lang="es-ES" sz="1400" b="0" i="0" u="none" strike="noStrike">
                <a:solidFill>
                  <a:srgbClr val="222222"/>
                </a:solidFill>
                <a:latin typeface="Tahoma"/>
              </a:rPr>
              <a:t>Dataset: 65 frases etiquetadas en 7 intenciones</a:t>
            </a:r>
          </a:p>
        </c:rich>
      </c:tx>
      <c:overlay val="0"/>
    </c:title>
    <c:autoTitleDeleted val="0"/>
    <c:plotArea>
      <c:layout/>
      <c:barChart>
        <c:barDir val="bar"/>
        <c:grouping val="clustered"/>
        <c:varyColors val="0"/>
        <c:ser>
          <c:idx val="0"/>
          <c:order val="0"/>
          <c:tx>
            <c:strRef>
              <c:f>Sheet1!$B$1</c:f>
              <c:strCache>
                <c:ptCount val="1"/>
                <c:pt idx="0">
                  <c:v>Frases</c:v>
                </c:pt>
              </c:strCache>
            </c:strRef>
          </c:tx>
          <c:spPr>
            <a:solidFill>
              <a:srgbClr val="1B6FA8"/>
            </a:solidFill>
            <a:effectLst/>
          </c:spPr>
          <c:invertIfNegative val="0"/>
          <c:dLbls>
            <c:numFmt formatCode="#,##0" sourceLinked="0"/>
            <c:spPr>
              <a:noFill/>
              <a:ln>
                <a:noFill/>
              </a:ln>
              <a:effectLst/>
            </c:spPr>
            <c:txPr>
              <a:bodyPr/>
              <a:lstStyle/>
              <a:p>
                <a:pPr>
                  <a:defRPr sz="1200" b="0" i="0" u="none" strike="noStrike">
                    <a:solidFill>
                      <a:srgbClr val="222222"/>
                    </a:solidFill>
                    <a:latin typeface="Arial"/>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recomendar_sustituto</c:v>
                </c:pt>
                <c:pt idx="1">
                  <c:v>buscar_repuesto</c:v>
                </c:pt>
                <c:pt idx="2">
                  <c:v>saludo_despedida</c:v>
                </c:pt>
                <c:pt idx="3">
                  <c:v>consultar_stock</c:v>
                </c:pt>
                <c:pt idx="4">
                  <c:v>consultar_precio</c:v>
                </c:pt>
                <c:pt idx="5">
                  <c:v>consultar_compatibilidad</c:v>
                </c:pt>
                <c:pt idx="6">
                  <c:v>fuera_de_dominio</c:v>
                </c:pt>
              </c:strCache>
            </c:strRef>
          </c:cat>
          <c:val>
            <c:numRef>
              <c:f>Sheet1!$B$2:$B$8</c:f>
              <c:numCache>
                <c:formatCode>General</c:formatCode>
                <c:ptCount val="7"/>
                <c:pt idx="0">
                  <c:v>14</c:v>
                </c:pt>
                <c:pt idx="1">
                  <c:v>12</c:v>
                </c:pt>
                <c:pt idx="2">
                  <c:v>10</c:v>
                </c:pt>
                <c:pt idx="3">
                  <c:v>8</c:v>
                </c:pt>
                <c:pt idx="4">
                  <c:v>7</c:v>
                </c:pt>
                <c:pt idx="5">
                  <c:v>7</c:v>
                </c:pt>
                <c:pt idx="6">
                  <c:v>7</c:v>
                </c:pt>
              </c:numCache>
            </c:numRef>
          </c:val>
          <c:extLst>
            <c:ext xmlns:c16="http://schemas.microsoft.com/office/drawing/2014/chart" uri="{C3380CC4-5D6E-409C-BE32-E72D297353CC}">
              <c16:uniqueId val="{00000000-9FDF-4E7F-830B-D8C06AE9BD9D}"/>
            </c:ext>
          </c:extLst>
        </c:ser>
        <c:dLbls>
          <c:showLegendKey val="0"/>
          <c:showVal val="1"/>
          <c:showCatName val="0"/>
          <c:showSerName val="0"/>
          <c:showPercent val="0"/>
          <c:showBubbleSize val="0"/>
        </c:dLbls>
        <c:gapWidth val="150"/>
        <c:axId val="2094734554"/>
        <c:axId val="2094734552"/>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222222"/>
                </a:solidFill>
                <a:latin typeface="Tahoma"/>
              </a:defRPr>
            </a:pPr>
            <a:endParaRPr lang="en-US"/>
          </a:p>
        </c:txPr>
        <c:crossAx val="2094734552"/>
        <c:crosses val="autoZero"/>
        <c:auto val="1"/>
        <c:lblAlgn val="ctr"/>
        <c:lblOffset val="100"/>
        <c:noMultiLvlLbl val="1"/>
      </c:catAx>
      <c:valAx>
        <c:axId val="2094734552"/>
        <c:scaling>
          <c:orientation val="minMax"/>
        </c:scaling>
        <c:delete val="1"/>
        <c:axPos val="t"/>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Validación cruzada</c:v>
                </c:pt>
              </c:strCache>
            </c:strRef>
          </c:tx>
          <c:spPr>
            <a:solidFill>
              <a:srgbClr val="1B6FA8"/>
            </a:solidFill>
          </c:spPr>
          <c:cat>
            <c:strRef>
              <c:f>Sheet1!$A$2:$A$5</c:f>
              <c:strCache>
                <c:ptCount val="4"/>
                <c:pt idx="0">
                  <c:v>Accuracy</c:v>
                </c:pt>
                <c:pt idx="1">
                  <c:v>Precision</c:v>
                </c:pt>
                <c:pt idx="2">
                  <c:v>Recall</c:v>
                </c:pt>
                <c:pt idx="3">
                  <c:v>F1</c:v>
                </c:pt>
              </c:strCache>
            </c:strRef>
          </c:cat>
          <c:val>
            <c:numRef>
              <c:f>Sheet1!$B$2:$B$5</c:f>
              <c:numCache>
                <c:formatCode>General</c:formatCode>
                <c:ptCount val="4"/>
                <c:pt idx="0">
                  <c:v>0.807</c:v>
                </c:pt>
                <c:pt idx="1">
                  <c:v>0.813</c:v>
                </c:pt>
                <c:pt idx="2">
                  <c:v>0.807</c:v>
                </c:pt>
                <c:pt idx="3">
                  <c:v>0.809</c:v>
                </c:pt>
              </c:numCache>
            </c:numRef>
          </c:val>
        </c:ser>
        <c:ser>
          <c:idx val="1"/>
          <c:order val="1"/>
          <c:tx>
            <c:strRef>
              <c:f>Sheet1!$C$1</c:f>
              <c:strCache>
                <c:ptCount val="1"/>
                <c:pt idx="0">
                  <c:v>Holdout</c:v>
                </c:pt>
              </c:strCache>
            </c:strRef>
          </c:tx>
          <c:spPr>
            <a:solidFill>
              <a:srgbClr val="E8890C"/>
            </a:solidFill>
          </c:spPr>
          <c:cat>
            <c:strRef>
              <c:f>Sheet1!$A$2:$A$5</c:f>
              <c:strCache>
                <c:ptCount val="4"/>
                <c:pt idx="0">
                  <c:v>Accuracy</c:v>
                </c:pt>
                <c:pt idx="1">
                  <c:v>Precision</c:v>
                </c:pt>
                <c:pt idx="2">
                  <c:v>Recall</c:v>
                </c:pt>
                <c:pt idx="3">
                  <c:v>F1</c:v>
                </c:pt>
              </c:strCache>
            </c:strRef>
          </c:cat>
          <c:val>
            <c:numRef>
              <c:f>Sheet1!$C$2:$C$5</c:f>
              <c:numCache>
                <c:formatCode>General</c:formatCode>
                <c:ptCount val="4"/>
                <c:pt idx="0">
                  <c:v>0.926</c:v>
                </c:pt>
                <c:pt idx="1">
                  <c:v>0.936</c:v>
                </c:pt>
                <c:pt idx="2">
                  <c:v>0.929</c:v>
                </c:pt>
                <c:pt idx="3">
                  <c:v>0.923</c:v>
                </c:pt>
              </c:numCache>
            </c:numRef>
          </c:val>
        </c:ser>
        <c:dLbls>
          <c:numFmt formatCode="0.000" sourceLinked="0"/>
          <c:txPr>
            <a:bodyPr/>
            <a:lstStyle/>
            <a:p>
              <a:pPr>
                <a:defRPr sz="900">
                  <a:latin typeface="Tahoma"/>
                </a:defRPr>
              </a:pPr>
            </a:p>
          </c:txPr>
          <c:dLblPos val="outEnd"/>
          <c:showLegendKey val="0"/>
          <c:showVal val="1"/>
          <c:showCatName val="0"/>
          <c:showSerName val="0"/>
          <c:showPercent val="0"/>
          <c:showBubbleSize val="0"/>
          <c:showLeaderLines val="1"/>
        </c:dLbls>
        <c:gapWidth val="60"/>
        <c:overlap val="-5"/>
        <c:axId val="-2068027336"/>
        <c:axId val="-2113994440"/>
      </c:barChart>
      <c:catAx>
        <c:axId val="-2068027336"/>
        <c:scaling>
          <c:orientation val="minMax"/>
        </c:scaling>
        <c:delete val="0"/>
        <c:axPos val="b"/>
        <c:majorTickMark val="out"/>
        <c:minorTickMark val="none"/>
        <c:tickLblPos val="nextTo"/>
        <c:txPr>
          <a:bodyPr/>
          <a:lstStyle/>
          <a:p>
            <a:pPr>
              <a:defRPr sz="1100">
                <a:latin typeface="Tahoma"/>
              </a:defRPr>
            </a:pPr>
          </a:p>
        </c:txPr>
        <c:crossAx val="-2113994440"/>
        <c:crosses val="autoZero"/>
        <c:auto val="1"/>
        <c:lblAlgn val="ctr"/>
        <c:lblOffset val="100"/>
        <c:noMultiLvlLbl val="0"/>
      </c:catAx>
      <c:valAx>
        <c:axId val="-2113994440"/>
        <c:scaling>
          <c:max val="1.0"/>
          <c:min val="0.0"/>
        </c:scaling>
        <c:delete val="0"/>
        <c:axPos val="l"/>
        <c:majorGridlines>
          <c:spPr>
            <a:ln>
              <a:solidFill>
                <a:srgbClr val="D5DEE8"/>
              </a:solidFill>
            </a:ln>
          </c:spPr>
        </c:majorGridlines>
        <c:majorTickMark val="out"/>
        <c:minorTickMark val="none"/>
        <c:tickLblPos val="nextTo"/>
        <c:spPr>
          <a:ln>
            <a:noFill/>
          </a:ln>
        </c:spPr>
        <c:txPr>
          <a:bodyPr/>
          <a:lstStyle/>
          <a:p>
            <a:pPr>
              <a:defRPr sz="1000">
                <a:latin typeface="Tahoma"/>
              </a:defRPr>
            </a:pPr>
          </a:p>
        </c:txPr>
        <c:crossAx val="-2068027336"/>
        <c:crosses val="autoZero"/>
        <c:majorUnit val="0.25"/>
      </c:valAx>
    </c:plotArea>
    <c:legend>
      <c:legendPos val="b"/>
      <c:overlay val="0"/>
      <c:txPr>
        <a:bodyPr/>
        <a:lstStyle/>
        <a:p>
          <a:pPr>
            <a:defRPr sz="1100">
              <a:latin typeface="Tahoma"/>
            </a:defRPr>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483654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Presentamos el segundo avance del asistente de repuestos. Hoy estamos en la semana 7 de 13: mostramos lo que ya funciona, cómo está construido el modelo, sus métricas y lo que falta.</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caso crítico es el repuesto agotado. Sin el asistente, el vendedor depende de su memoria. Con el asistente escribe la situación como la diría en voz alta y recibe sustitutos reales. Restricción de la materia: nada de LLM externos, todo el modelo es propio.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tres objetivos específicos del Avance 1 ya tienen una primera versión cumplida. Los dos últimos siguen en mejora: el modelo necesita más datos y faltan dos pantallas por conectar.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Trabajamos con roles de Scrum adaptados a tres personas. Cada uno lidera un área técnica, pero las revisiones de cierre de cada sprint las hacemos entre los tres.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sprint pasa por cuatro momentos. Lo importante es la revisión: no avanzamos si las pruebas fallan. Ejemplo: la primera evaluación del sprint 6 mostró que el dataset es pequeño, y eso definió el sprint 7.</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Once sprints en trece semanas. Del 0 al 5 están terminados, el 6 está en curso y del 7 al 10 están planeados. La línea punteada marca la semana actual.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seis semanas construimos el núcleo completo: datos, microservicio, modelo de intención, extracción de entidades, recomendador y la interfaz. El sprint 6 agrega capacidades de apoyo y hace la primera evaluación formal.</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Siete pasos. El texto se limpia, el clasificador decide qué quiere el vendedor, el NER saca los datos del vehículo, el backend trae los repuestos compatibles con stock, se ordenan por similitud y se arma la respuesta con plantillas.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Reutilizamos el mismo modelo para más tareas: el pronóstico de demanda marca repuestos con rotación baja o que se van a agotar, y la ficha de cada repuesto sugiere productos parecidos.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una consulta real en producción, en Azure. El asistente entendió el vehículo sin que el vendedor usara códigos y devolvió el alternador compatible con su stock y precio.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capas. El microservicio de IA nunca toca la base de datos: consulta el catálogo a través del backend, así las reglas de negocio viven en un solo lugar.</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clasificador es una regresión logística, que equivale a una red de una sola capa: 194 entradas, ninguna capa oculta y 7 salidas. No usamos capas ocultas porque con tan pocos datos memorizaría las frases.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equipo escribió 65 frases de mostrador y las etiquetó en siete intenciones. Cada frase se limpia, se convierte en números con TF-IDF y la regresión logística aprende qué palabras apuntan a cada intención.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Exactitud es el porcentaje de aciertos; F1 equilibra precisión y exhaustividad por intención; precisión@3 dice cuántos de los tres sustitutos mostrados son correctos. La diferencia con la validación cruzada muestra que necesitamos más datos.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prioridad inmediata es ampliar el dataset y reentrenar. Luego conectamos a la interfaz las dos capacidades que ya existen en el backend: la sugerencia de pedido y la venta cruzada. Cerramos con pruebas y la sustentación.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Somos conscientes de estas limitaciones y cada una tiene una medida. La más importante es el tamaño del dataset.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con tres ideas: el asistente ya funciona de verdad, el modelo propio da buenos resultados y sabemos con datos qué hay que mejorar.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Demostración opcional: abrir electrisys.duckdns.org, ir a Ventas y hacer una consulta al asistente en vivo.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Así viaja la información. A la izquierda, el equipo escribe las frases y las carga en la base de datos. En el centro se leen, se limpian y las usa el modelo. A la derecha se obtiene la predicción, se guarda y se convierte en métricas y gráficas.</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No teníamos consultas reales de vendedores, así que las escribimos nosotros con las palabras que se usan en el mostrador. Empezamos con 65 frases y hoy tenemos 374, repartidas de forma pareja en siete intenciones. Aparte, guardamos 28 frases solo para probar el modelo.</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La base real del sistema es Oracle 23ai. Para analizar los datos armamos una copia en SQLite con los mismos scripts del proyecto. Comprobamos fila por fila que el dataset cargado es idéntico a los CSV, y dejamos un script para cargarlo en el Oracle real.</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Este es el mapa de las tablas más importantes. Cada categoría y cada proveedor tiene muchos repuestos, y cada repuesto puede servir a muchos vehículos. Las consultas de los vendedores quedan registradas, y las frases del dataset se relacionan con sus intenciones y sus predicciones.</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El catálogo tiene 23 repuestos en 12 categorías, y la más grande es Filtros con 7. Los repuestos se relacionan con 27 vehículos de 13 marcas, y 4 de esas marcas son de maquinaria agrícola. Hay 42 relaciones entre repuestos y vehículos.</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Solo dos repuestos están agotados: el filtro original de Toyota y el filtro FG-FF5320. Justo ahí el vendedor necesita un sustituto, y los del filtro Toyota sí tienen stock. Los precios van de quince mil a dos millones cien mil pesos, con un margen parejo entre 29 y 40 por ciento.</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En las frases, la media y la mediana casi coinciden: los datos están parejos. En los precios se separan mucho, porque unos pocos repuestos agrícolas muy caros suben la media; ahí la mediana describe mejor al repuesto típico. La palabra más usada es «no», con 36 veces.</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Estos son los ajustes del modelo. Convierte las frases en números con TF-IDF y usa una regresión logística para decidir la intención. Si el modelo no está suficientemente seguro, responde fuera de dominio. En total el modelo aprendió 3.521 números.</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Probamos varias configuraciones y las comparamos con la misma medida, el F1 macro. La que usamos, la A, es una de las mejores. Las configuraciones D y E ganan apenas una décima, así que no son concluyentes. El resto quedó descartado.</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Aquí está el desempeño del modelo. La validación cruzada usa las 374 frases y es la cifra más confiable: acierta 302 de 374. En las 27 frases de prueba aparte acierta 25, pero ese resultado sale más alto porque el dataset se amplió con palabras de sus propios errores.</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La matriz muestra en qué se equivoca el modelo. Las confusiones más frecuentes son entre fuera de dominio y saludo, y de precio a búsqueda. Además, buscar repuesto funciona como un cajón: se predice 65 veces cuando solo hay 56 frases de esa clase. Cuando el modelo se equivoca, está menos seguro.</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Seguimos una consulta de punta a punta. El texto se limpia, el modelo decide que el vendedor pide un sustituto con una seguridad de 88 por ciento, y se extraen el vehículo y el repuesto. Al final se devuelve la respuesta y queda guardada en la tabla de consultas.</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De ocho criterios de éxito, cumplimos seis. Nos falta el recall de recomendar sustituto, que queda en 0.804 contra una meta de 0.90, y controlar mejor las frases fuera de dominio: el 32 por ciento se trata como consulta de negocio, cuando la meta es 15. Para mejorar, vamos a agregar más frases al dataset.</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 Id="rId4" Type="http://schemas.openxmlformats.org/officeDocument/2006/relationships/image" Target="../media/image3.png"/><Relationship Id="rId5"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5.jpe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9.jpeg"/><Relationship Id="rId4" Type="http://schemas.openxmlformats.org/officeDocument/2006/relationships/image" Target="../media/image10.png"/><Relationship Id="rId5" Type="http://schemas.openxmlformats.org/officeDocument/2006/relationships/image" Target="../media/image7.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2.jpe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eg"/><Relationship Id="rId4" Type="http://schemas.openxmlformats.org/officeDocument/2006/relationships/image" Target="../media/image17.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2.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5.jpe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jpeg"/><Relationship Id="rId4" Type="http://schemas.openxmlformats.org/officeDocument/2006/relationships/image" Target="../media/image19.jpeg"/><Relationship Id="rId5" Type="http://schemas.openxmlformats.org/officeDocument/2006/relationships/image" Target="../media/image20.jpe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jpeg"/><Relationship Id="rId4" Type="http://schemas.openxmlformats.org/officeDocument/2006/relationships/image" Target="../media/image21.jpe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9.jpeg"/><Relationship Id="rId4" Type="http://schemas.openxmlformats.org/officeDocument/2006/relationships/image" Target="../media/image22.png"/><Relationship Id="rId5" Type="http://schemas.openxmlformats.org/officeDocument/2006/relationships/image" Target="../media/image23.png"/><Relationship Id="rId6" Type="http://schemas.openxmlformats.org/officeDocument/2006/relationships/image" Target="../media/image10.png"/><Relationship Id="rId7" Type="http://schemas.openxmlformats.org/officeDocument/2006/relationships/image" Target="../media/image7.png"/><Relationship Id="rId8" Type="http://schemas.openxmlformats.org/officeDocument/2006/relationships/image" Target="../media/image2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5.jpe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jpeg"/><Relationship Id="rId4" Type="http://schemas.openxmlformats.org/officeDocument/2006/relationships/chart" Target="../charts/char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2.jpeg"/><Relationship Id="rId4" Type="http://schemas.openxmlformats.org/officeDocument/2006/relationships/image" Target="../media/image2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9.jpe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2.jpe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5.jpeg"/><Relationship Id="rId4" Type="http://schemas.openxmlformats.org/officeDocument/2006/relationships/image" Target="../media/image15.png"/><Relationship Id="rId5" Type="http://schemas.openxmlformats.org/officeDocument/2006/relationships/image" Target="../media/image7.png"/><Relationship Id="rId6"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jpe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jpe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eg"/><Relationship Id="rId3" Type="http://schemas.openxmlformats.org/officeDocument/2006/relationships/notesSlide" Target="../notesSlides/notesSlide28.xml"/><Relationship Id="rId4" Type="http://schemas.openxmlformats.org/officeDocument/2006/relationships/chart" Target="../charts/char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e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5.jpe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2.jpeg"/><Relationship Id="rId3" Type="http://schemas.openxmlformats.org/officeDocument/2006/relationships/notesSlide" Target="../notesSlides/notesSlide3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1280160" y="3063240"/>
            <a:ext cx="9601200" cy="1600200"/>
          </a:xfrm>
          <a:prstGeom prst="rect">
            <a:avLst/>
          </a:prstGeom>
          <a:noFill/>
          <a:ln/>
        </p:spPr>
        <p:txBody>
          <a:bodyPr wrap="square" lIns="0" tIns="0" rIns="0" bIns="0" rtlCol="0" anchor="t"/>
          <a:lstStyle/>
          <a:p>
            <a:pPr marL="0" indent="0" algn="ctr">
              <a:buNone/>
            </a:pPr>
            <a:r>
              <a:rPr lang="en-US" sz="2100" b="1" dirty="0">
                <a:solidFill>
                  <a:srgbClr val="FFFFFF"/>
                </a:solidFill>
                <a:latin typeface="Tahoma" pitchFamily="34" charset="0"/>
                <a:ea typeface="Tahoma" pitchFamily="34" charset="-122"/>
                <a:cs typeface="Tahoma" pitchFamily="34" charset="-120"/>
              </a:rPr>
              <a:t>Asistente inteligente basado en Procesamiento de Lenguaje Natural (NLP) para la búsqueda y recomendación de repuestos compatibles en el sistema POS ElectriSys</a:t>
            </a:r>
            <a:endParaRPr lang="en-US" sz="2100" dirty="0"/>
          </a:p>
          <a:p>
            <a:pPr marL="0" indent="0" algn="ctr">
              <a:buNone/>
            </a:pPr>
            <a:r>
              <a:rPr lang="en-US" sz="1900" b="1" dirty="0">
                <a:solidFill>
                  <a:srgbClr val="FFD27F"/>
                </a:solidFill>
                <a:latin typeface="Tahoma" pitchFamily="34" charset="0"/>
                <a:ea typeface="Tahoma" pitchFamily="34" charset="-122"/>
                <a:cs typeface="Tahoma" pitchFamily="34" charset="-120"/>
              </a:rPr>
              <a:t>Avance 2</a:t>
            </a:r>
            <a:endParaRPr lang="en-US" sz="2100" dirty="0"/>
          </a:p>
        </p:txBody>
      </p:sp>
      <p:sp>
        <p:nvSpPr>
          <p:cNvPr id="3" name="Text 1"/>
          <p:cNvSpPr txBox="1"/>
          <p:nvPr/>
        </p:nvSpPr>
        <p:spPr>
          <a:xfrm>
            <a:off x="2194560" y="4754880"/>
            <a:ext cx="7772400" cy="1143000"/>
          </a:xfrm>
          <a:prstGeom prst="rect">
            <a:avLst/>
          </a:prstGeom>
          <a:noFill/>
          <a:ln/>
        </p:spPr>
        <p:txBody>
          <a:bodyPr wrap="square" lIns="0" tIns="0" rIns="0" bIns="0" rtlCol="0" anchor="ctr"/>
          <a:lstStyle/>
          <a:p>
            <a:pPr marL="0" indent="0" algn="ctr">
              <a:buNone/>
            </a:pPr>
            <a:r>
              <a:rPr lang="en-US" sz="1300" b="1" dirty="0">
                <a:solidFill>
                  <a:srgbClr val="FFFFFF"/>
                </a:solidFill>
                <a:latin typeface="Tahoma" pitchFamily="34" charset="0"/>
                <a:ea typeface="Tahoma" pitchFamily="34" charset="-122"/>
                <a:cs typeface="Tahoma" pitchFamily="34" charset="-120"/>
              </a:rPr>
              <a:t>Cristian Camilo Pesillo Diazgranados – 893131</a:t>
            </a:r>
            <a:endParaRPr lang="en-US" sz="1300" dirty="0"/>
          </a:p>
          <a:p>
            <a:pPr marL="0" indent="0" algn="ctr">
              <a:buNone/>
            </a:pPr>
            <a:r>
              <a:rPr lang="en-US" sz="1300" b="1" dirty="0">
                <a:solidFill>
                  <a:srgbClr val="FFFFFF"/>
                </a:solidFill>
                <a:latin typeface="Tahoma" pitchFamily="34" charset="0"/>
                <a:ea typeface="Tahoma" pitchFamily="34" charset="-122"/>
                <a:cs typeface="Tahoma" pitchFamily="34" charset="-120"/>
              </a:rPr>
              <a:t>Jaider Cardona Verá – 853864</a:t>
            </a:r>
            <a:endParaRPr lang="en-US" sz="1300" dirty="0"/>
          </a:p>
          <a:p>
            <a:pPr marL="0" indent="0" algn="ctr">
              <a:buNone/>
            </a:pPr>
            <a:r>
              <a:rPr lang="en-US" sz="1300" b="1" dirty="0">
                <a:solidFill>
                  <a:srgbClr val="FFFFFF"/>
                </a:solidFill>
                <a:latin typeface="Tahoma" pitchFamily="34" charset="0"/>
                <a:ea typeface="Tahoma" pitchFamily="34" charset="-122"/>
                <a:cs typeface="Tahoma" pitchFamily="34" charset="-120"/>
              </a:rPr>
              <a:t>Laura Manuela Zamora Castellanos – 841611</a:t>
            </a:r>
            <a:endParaRPr lang="en-US" sz="1300" dirty="0"/>
          </a:p>
          <a:p>
            <a:pPr marL="0" indent="0" algn="ctr">
              <a:buNone/>
            </a:pPr>
            <a:r>
              <a:rPr lang="en-US" sz="1300" b="1" i="1" dirty="0">
                <a:solidFill>
                  <a:srgbClr val="FFFFFF"/>
                </a:solidFill>
                <a:latin typeface="Tahoma" pitchFamily="34" charset="0"/>
                <a:ea typeface="Tahoma" pitchFamily="34" charset="-122"/>
                <a:cs typeface="Tahoma" pitchFamily="34" charset="-120"/>
              </a:rPr>
              <a:t>Aplicación de la Inteligencia Artificial · Mgs. Yomaria Guzman Paredes</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El problema</a:t>
            </a:r>
            <a:endParaRPr lang="en-US" sz="2800" dirty="0"/>
          </a:p>
        </p:txBody>
      </p:sp>
      <p:sp>
        <p:nvSpPr>
          <p:cNvPr id="3" name="Shape 1"/>
          <p:cNvSpPr/>
          <p:nvPr/>
        </p:nvSpPr>
        <p:spPr>
          <a:xfrm>
            <a:off x="640080" y="1783080"/>
            <a:ext cx="5120640" cy="4206240"/>
          </a:xfrm>
          <a:prstGeom prst="roundRect">
            <a:avLst>
              <a:gd name="adj" fmla="val 2609"/>
            </a:avLst>
          </a:prstGeom>
          <a:solidFill>
            <a:srgbClr val="FDF1E0"/>
          </a:solidFill>
          <a:ln w="12700">
            <a:solidFill>
              <a:srgbClr val="FDF1E0"/>
            </a:solidFill>
            <a:prstDash val="solid"/>
          </a:ln>
        </p:spPr>
        <p:txBody>
          <a:bodyPr/>
          <a:lstStyle/>
          <a:p>
            <a:endParaRPr lang="es-CO"/>
          </a:p>
        </p:txBody>
      </p:sp>
      <p:sp>
        <p:nvSpPr>
          <p:cNvPr id="4" name="Shape 2"/>
          <p:cNvSpPr/>
          <p:nvPr/>
        </p:nvSpPr>
        <p:spPr>
          <a:xfrm>
            <a:off x="914400" y="2011680"/>
            <a:ext cx="731520" cy="731520"/>
          </a:xfrm>
          <a:prstGeom prst="ellipse">
            <a:avLst/>
          </a:prstGeom>
          <a:solidFill>
            <a:srgbClr val="E8890C"/>
          </a:solidFill>
          <a:ln w="12700">
            <a:solidFill>
              <a:srgbClr val="E8890C"/>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1089965" y="2187245"/>
            <a:ext cx="380390" cy="380390"/>
          </a:xfrm>
          <a:prstGeom prst="rect">
            <a:avLst/>
          </a:prstGeom>
        </p:spPr>
      </p:pic>
      <p:sp>
        <p:nvSpPr>
          <p:cNvPr id="6" name="Text 3"/>
          <p:cNvSpPr txBox="1"/>
          <p:nvPr/>
        </p:nvSpPr>
        <p:spPr>
          <a:xfrm>
            <a:off x="1828800" y="2148840"/>
            <a:ext cx="3200400" cy="457200"/>
          </a:xfrm>
          <a:prstGeom prst="rect">
            <a:avLst/>
          </a:prstGeom>
          <a:noFill/>
          <a:ln/>
        </p:spPr>
        <p:txBody>
          <a:bodyPr wrap="square" lIns="0" tIns="0" rIns="0" bIns="0" rtlCol="0" anchor="t"/>
          <a:lstStyle/>
          <a:p>
            <a:pPr marL="0" indent="0">
              <a:buNone/>
            </a:pPr>
            <a:r>
              <a:rPr lang="en-US" sz="2200" b="1" dirty="0">
                <a:solidFill>
                  <a:srgbClr val="9A5400"/>
                </a:solidFill>
                <a:latin typeface="Tahoma" pitchFamily="34" charset="0"/>
                <a:ea typeface="Tahoma" pitchFamily="34" charset="-122"/>
                <a:cs typeface="Tahoma" pitchFamily="34" charset="-120"/>
              </a:rPr>
              <a:t>Antes</a:t>
            </a:r>
            <a:endParaRPr lang="en-US" sz="2200" dirty="0"/>
          </a:p>
        </p:txBody>
      </p:sp>
      <p:sp>
        <p:nvSpPr>
          <p:cNvPr id="7" name="Text 4"/>
          <p:cNvSpPr txBox="1"/>
          <p:nvPr/>
        </p:nvSpPr>
        <p:spPr>
          <a:xfrm>
            <a:off x="914400" y="301752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El cliente pide un repuesto que está agotado.</a:t>
            </a:r>
            <a:endParaRPr lang="en-US" sz="1600" dirty="0"/>
          </a:p>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El vendedor debe recordar de memoria qué otro producto le sirve a ese vehículo.</a:t>
            </a:r>
            <a:endParaRPr lang="en-US" sz="1600" dirty="0"/>
          </a:p>
          <a:p>
            <a:pPr marL="342900" indent="-342900">
              <a:spcAft>
                <a:spcPts val="1000"/>
              </a:spcAft>
              <a:buSzPct val="100000"/>
              <a:buChar char="•"/>
            </a:pPr>
            <a:r>
              <a:rPr lang="en-US" sz="1600" dirty="0">
                <a:solidFill>
                  <a:srgbClr val="222222"/>
                </a:solidFill>
                <a:latin typeface="Tahoma" pitchFamily="34" charset="0"/>
                <a:ea typeface="Tahoma" pitchFamily="34" charset="-122"/>
                <a:cs typeface="Tahoma" pitchFamily="34" charset="-120"/>
              </a:rPr>
              <a:t>La búsqueda solo funciona con códigos o nombres exactos.</a:t>
            </a:r>
            <a:endParaRPr lang="en-US" sz="1600" dirty="0"/>
          </a:p>
        </p:txBody>
      </p:sp>
      <p:sp>
        <p:nvSpPr>
          <p:cNvPr id="8" name="Shape 5"/>
          <p:cNvSpPr/>
          <p:nvPr/>
        </p:nvSpPr>
        <p:spPr>
          <a:xfrm>
            <a:off x="6400800" y="1783080"/>
            <a:ext cx="5120640" cy="4206240"/>
          </a:xfrm>
          <a:prstGeom prst="roundRect">
            <a:avLst>
              <a:gd name="adj" fmla="val 2609"/>
            </a:avLst>
          </a:prstGeom>
          <a:solidFill>
            <a:srgbClr val="EEF4FA"/>
          </a:solidFill>
          <a:ln w="12700">
            <a:solidFill>
              <a:srgbClr val="EEF4FA"/>
            </a:solidFill>
            <a:prstDash val="solid"/>
          </a:ln>
        </p:spPr>
        <p:txBody>
          <a:bodyPr/>
          <a:lstStyle/>
          <a:p>
            <a:endParaRPr lang="es-CO"/>
          </a:p>
        </p:txBody>
      </p:sp>
      <p:sp>
        <p:nvSpPr>
          <p:cNvPr id="9" name="Shape 6"/>
          <p:cNvSpPr/>
          <p:nvPr/>
        </p:nvSpPr>
        <p:spPr>
          <a:xfrm>
            <a:off x="6675120" y="201168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10" name="Image 1" descr="preencoded.png"/>
          <p:cNvPicPr>
            <a:picLocks noChangeAspect="1"/>
          </p:cNvPicPr>
          <p:nvPr/>
        </p:nvPicPr>
        <p:blipFill>
          <a:blip r:embed="rId5"/>
          <a:stretch>
            <a:fillRect/>
          </a:stretch>
        </p:blipFill>
        <p:spPr>
          <a:xfrm>
            <a:off x="6850685" y="2187245"/>
            <a:ext cx="380390" cy="380390"/>
          </a:xfrm>
          <a:prstGeom prst="rect">
            <a:avLst/>
          </a:prstGeom>
        </p:spPr>
      </p:pic>
      <p:sp>
        <p:nvSpPr>
          <p:cNvPr id="11" name="Text 7"/>
          <p:cNvSpPr txBox="1"/>
          <p:nvPr/>
        </p:nvSpPr>
        <p:spPr>
          <a:xfrm>
            <a:off x="7589520" y="2148840"/>
            <a:ext cx="3657600" cy="457200"/>
          </a:xfrm>
          <a:prstGeom prst="rect">
            <a:avLst/>
          </a:prstGeom>
          <a:noFill/>
          <a:ln/>
        </p:spPr>
        <p:txBody>
          <a:bodyPr wrap="square" lIns="0" tIns="0" rIns="0" bIns="0" rtlCol="0" anchor="t"/>
          <a:lstStyle/>
          <a:p>
            <a:pPr marL="0" indent="0">
              <a:buNone/>
            </a:pPr>
            <a:r>
              <a:rPr lang="en-US" sz="2200" b="1" dirty="0">
                <a:solidFill>
                  <a:srgbClr val="0E4C7C"/>
                </a:solidFill>
                <a:latin typeface="Tahoma" pitchFamily="34" charset="0"/>
                <a:ea typeface="Tahoma" pitchFamily="34" charset="-122"/>
                <a:cs typeface="Tahoma" pitchFamily="34" charset="-120"/>
              </a:rPr>
              <a:t>Con el asistente</a:t>
            </a:r>
            <a:endParaRPr lang="en-US" sz="2200" dirty="0"/>
          </a:p>
        </p:txBody>
      </p:sp>
      <p:sp>
        <p:nvSpPr>
          <p:cNvPr id="12" name="Text 8"/>
          <p:cNvSpPr txBox="1"/>
          <p:nvPr/>
        </p:nvSpPr>
        <p:spPr>
          <a:xfrm>
            <a:off x="6675120" y="3017520"/>
            <a:ext cx="4572000" cy="1097280"/>
          </a:xfrm>
          <a:prstGeom prst="rect">
            <a:avLst/>
          </a:prstGeom>
          <a:noFill/>
          <a:ln/>
        </p:spPr>
        <p:txBody>
          <a:bodyPr wrap="square" lIns="0" tIns="0" rIns="0" bIns="0" rtlCol="0" anchor="t"/>
          <a:lstStyle/>
          <a:p>
            <a:pPr marL="0" indent="0">
              <a:buNone/>
            </a:pPr>
            <a:r>
              <a:rPr lang="en-US" sz="1600" i="1" dirty="0">
                <a:solidFill>
                  <a:srgbClr val="0E4C7C"/>
                </a:solidFill>
                <a:latin typeface="Tahoma" pitchFamily="34" charset="0"/>
                <a:ea typeface="Tahoma" pitchFamily="34" charset="-122"/>
                <a:cs typeface="Tahoma" pitchFamily="34" charset="-120"/>
              </a:rPr>
              <a:t>«Se agotó el alternador para una Renault Duster 2.0 gasolina 2020, ¿qué me recomiendas?»</a:t>
            </a:r>
            <a:endParaRPr lang="en-US" sz="1600" dirty="0"/>
          </a:p>
        </p:txBody>
      </p:sp>
      <p:sp>
        <p:nvSpPr>
          <p:cNvPr id="13" name="Text 9"/>
          <p:cNvSpPr txBox="1"/>
          <p:nvPr/>
        </p:nvSpPr>
        <p:spPr>
          <a:xfrm>
            <a:off x="6675120" y="4206240"/>
            <a:ext cx="4572000" cy="1463040"/>
          </a:xfrm>
          <a:prstGeom prst="rect">
            <a:avLst/>
          </a:prstGeom>
          <a:noFill/>
          <a:ln/>
        </p:spPr>
        <p:txBody>
          <a:bodyPr wrap="square" lIns="0" tIns="0" rIns="0" bIns="0" rtlCol="0" anchor="t"/>
          <a:lstStyle/>
          <a:p>
            <a:pPr marL="0" indent="0">
              <a:buNone/>
            </a:pPr>
            <a:r>
              <a:rPr lang="en-US" sz="1600" dirty="0">
                <a:solidFill>
                  <a:srgbClr val="222222"/>
                </a:solidFill>
                <a:latin typeface="Tahoma" pitchFamily="34" charset="0"/>
                <a:ea typeface="Tahoma" pitchFamily="34" charset="-122"/>
                <a:cs typeface="Tahoma" pitchFamily="34" charset="-120"/>
              </a:rPr>
              <a:t>El sistema entiende la frase, identifica el vehículo y responde con repuestos compatibles que sí hay en inventario.</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Objetivos</a:t>
            </a:r>
            <a:endParaRPr lang="en-US" sz="2800" dirty="0"/>
          </a:p>
        </p:txBody>
      </p:sp>
      <p:sp>
        <p:nvSpPr>
          <p:cNvPr id="3" name="Shape 1"/>
          <p:cNvSpPr/>
          <p:nvPr/>
        </p:nvSpPr>
        <p:spPr>
          <a:xfrm>
            <a:off x="640080" y="1645920"/>
            <a:ext cx="10881360" cy="1325880"/>
          </a:xfrm>
          <a:prstGeom prst="roundRect">
            <a:avLst>
              <a:gd name="adj" fmla="val 8276"/>
            </a:avLst>
          </a:prstGeom>
          <a:solidFill>
            <a:srgbClr val="EEF4FA"/>
          </a:solidFill>
          <a:ln w="12700">
            <a:solidFill>
              <a:srgbClr val="EEF4FA"/>
            </a:solidFill>
            <a:prstDash val="solid"/>
          </a:ln>
        </p:spPr>
        <p:txBody>
          <a:bodyPr/>
          <a:lstStyle/>
          <a:p>
            <a:endParaRPr lang="es-CO"/>
          </a:p>
        </p:txBody>
      </p:sp>
      <p:sp>
        <p:nvSpPr>
          <p:cNvPr id="4" name="Text 2"/>
          <p:cNvSpPr txBox="1"/>
          <p:nvPr/>
        </p:nvSpPr>
        <p:spPr>
          <a:xfrm>
            <a:off x="914400" y="1828800"/>
            <a:ext cx="10332720" cy="100584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General: </a:t>
            </a:r>
            <a:r>
              <a:rPr lang="en-US" sz="1700" dirty="0">
                <a:solidFill>
                  <a:srgbClr val="222222"/>
                </a:solidFill>
                <a:latin typeface="Tahoma" pitchFamily="34" charset="0"/>
                <a:ea typeface="Tahoma" pitchFamily="34" charset="-122"/>
                <a:cs typeface="Tahoma" pitchFamily="34" charset="-120"/>
              </a:rPr>
              <a:t>desarrollar un asistente NLP que interprete consultas en lenguaje humano y facilite la búsqueda de repuestos en ElectriSys.</a:t>
            </a:r>
            <a:endParaRPr lang="en-US" sz="1700" dirty="0"/>
          </a:p>
        </p:txBody>
      </p:sp>
      <p:sp>
        <p:nvSpPr>
          <p:cNvPr id="5" name="Shape 3"/>
          <p:cNvSpPr/>
          <p:nvPr/>
        </p:nvSpPr>
        <p:spPr>
          <a:xfrm>
            <a:off x="640080" y="3291840"/>
            <a:ext cx="3429000" cy="2834640"/>
          </a:xfrm>
          <a:prstGeom prst="roundRect">
            <a:avLst>
              <a:gd name="adj" fmla="val 3871"/>
            </a:avLst>
          </a:prstGeom>
          <a:solidFill>
            <a:srgbClr val="FFFFFF"/>
          </a:solidFill>
          <a:ln w="12700">
            <a:solidFill>
              <a:srgbClr val="FFFFFF"/>
            </a:solidFill>
            <a:prstDash val="solid"/>
          </a:ln>
        </p:spPr>
        <p:txBody>
          <a:bodyPr/>
          <a:lstStyle/>
          <a:p>
            <a:endParaRPr lang="es-CO"/>
          </a:p>
        </p:txBody>
      </p:sp>
      <p:sp>
        <p:nvSpPr>
          <p:cNvPr id="6" name="Shape 4"/>
          <p:cNvSpPr/>
          <p:nvPr/>
        </p:nvSpPr>
        <p:spPr>
          <a:xfrm>
            <a:off x="640080" y="3291840"/>
            <a:ext cx="3429000" cy="2834640"/>
          </a:xfrm>
          <a:prstGeom prst="roundRect">
            <a:avLst>
              <a:gd name="adj" fmla="val 3871"/>
            </a:avLst>
          </a:prstGeom>
          <a:solidFill>
            <a:srgbClr val="FFFFFF"/>
          </a:solidFill>
          <a:ln w="12700">
            <a:solidFill>
              <a:srgbClr val="D5DEE8"/>
            </a:solidFill>
            <a:prstDash val="solid"/>
          </a:ln>
        </p:spPr>
        <p:txBody>
          <a:bodyPr/>
          <a:lstStyle/>
          <a:p>
            <a:endParaRPr lang="es-CO"/>
          </a:p>
        </p:txBody>
      </p:sp>
      <p:sp>
        <p:nvSpPr>
          <p:cNvPr id="7" name="Shape 5"/>
          <p:cNvSpPr/>
          <p:nvPr/>
        </p:nvSpPr>
        <p:spPr>
          <a:xfrm>
            <a:off x="914400" y="35204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8" name="Image 0" descr="preencoded.png"/>
          <p:cNvPicPr>
            <a:picLocks noChangeAspect="1"/>
          </p:cNvPicPr>
          <p:nvPr/>
        </p:nvPicPr>
        <p:blipFill>
          <a:blip r:embed="rId4"/>
          <a:stretch>
            <a:fillRect/>
          </a:stretch>
        </p:blipFill>
        <p:spPr>
          <a:xfrm>
            <a:off x="1078992" y="3685032"/>
            <a:ext cx="356616" cy="356616"/>
          </a:xfrm>
          <a:prstGeom prst="rect">
            <a:avLst/>
          </a:prstGeom>
        </p:spPr>
      </p:pic>
      <p:sp>
        <p:nvSpPr>
          <p:cNvPr id="9" name="Text 6"/>
          <p:cNvSpPr txBox="1"/>
          <p:nvPr/>
        </p:nvSpPr>
        <p:spPr>
          <a:xfrm>
            <a:off x="914400" y="4389120"/>
            <a:ext cx="2926080" cy="1005840"/>
          </a:xfrm>
          <a:prstGeom prst="rect">
            <a:avLst/>
          </a:prstGeom>
          <a:noFill/>
          <a:ln/>
        </p:spPr>
        <p:txBody>
          <a:bodyPr wrap="square" lIns="0" tIns="0" rIns="0" bIns="0" rtlCol="0" anchor="t"/>
          <a:lstStyle/>
          <a:p>
            <a:pPr marL="0" indent="0">
              <a:buNone/>
            </a:pPr>
            <a:r>
              <a:rPr lang="en-US" sz="1600" b="1" dirty="0">
                <a:solidFill>
                  <a:srgbClr val="222222"/>
                </a:solidFill>
                <a:latin typeface="Tahoma" pitchFamily="34" charset="0"/>
                <a:ea typeface="Tahoma" pitchFamily="34" charset="-122"/>
                <a:cs typeface="Tahoma" pitchFamily="34" charset="-120"/>
              </a:rPr>
              <a:t>Determinar las necesidades del asistente</a:t>
            </a:r>
            <a:endParaRPr lang="en-US" sz="1600" dirty="0"/>
          </a:p>
        </p:txBody>
      </p:sp>
      <p:sp>
        <p:nvSpPr>
          <p:cNvPr id="10" name="Shape 7"/>
          <p:cNvSpPr/>
          <p:nvPr/>
        </p:nvSpPr>
        <p:spPr>
          <a:xfrm>
            <a:off x="914400" y="5486400"/>
            <a:ext cx="2880360" cy="411480"/>
          </a:xfrm>
          <a:prstGeom prst="roundRect">
            <a:avLst>
              <a:gd name="adj" fmla="val 22222"/>
            </a:avLst>
          </a:prstGeom>
          <a:solidFill>
            <a:srgbClr val="2E8B57"/>
          </a:solidFill>
          <a:ln w="12700">
            <a:solidFill>
              <a:srgbClr val="2E8B57"/>
            </a:solidFill>
            <a:prstDash val="solid"/>
          </a:ln>
        </p:spPr>
        <p:txBody>
          <a:bodyPr/>
          <a:lstStyle/>
          <a:p>
            <a:endParaRPr lang="es-CO"/>
          </a:p>
        </p:txBody>
      </p:sp>
      <p:sp>
        <p:nvSpPr>
          <p:cNvPr id="11" name="Text 8"/>
          <p:cNvSpPr txBox="1"/>
          <p:nvPr/>
        </p:nvSpPr>
        <p:spPr>
          <a:xfrm>
            <a:off x="914400" y="5486400"/>
            <a:ext cx="28803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Cumplido · sprint 0</a:t>
            </a:r>
            <a:endParaRPr lang="en-US" sz="1100" dirty="0"/>
          </a:p>
        </p:txBody>
      </p:sp>
      <p:sp>
        <p:nvSpPr>
          <p:cNvPr id="12" name="Shape 9"/>
          <p:cNvSpPr/>
          <p:nvPr/>
        </p:nvSpPr>
        <p:spPr>
          <a:xfrm>
            <a:off x="4343400" y="3291840"/>
            <a:ext cx="3429000" cy="2834640"/>
          </a:xfrm>
          <a:prstGeom prst="roundRect">
            <a:avLst>
              <a:gd name="adj" fmla="val 3871"/>
            </a:avLst>
          </a:prstGeom>
          <a:solidFill>
            <a:srgbClr val="FFFFFF"/>
          </a:solidFill>
          <a:ln w="12700">
            <a:solidFill>
              <a:srgbClr val="FFFFFF"/>
            </a:solidFill>
            <a:prstDash val="solid"/>
          </a:ln>
        </p:spPr>
        <p:txBody>
          <a:bodyPr/>
          <a:lstStyle/>
          <a:p>
            <a:endParaRPr lang="es-CO"/>
          </a:p>
        </p:txBody>
      </p:sp>
      <p:sp>
        <p:nvSpPr>
          <p:cNvPr id="13" name="Shape 10"/>
          <p:cNvSpPr/>
          <p:nvPr/>
        </p:nvSpPr>
        <p:spPr>
          <a:xfrm>
            <a:off x="4343400" y="3291840"/>
            <a:ext cx="3429000" cy="2834640"/>
          </a:xfrm>
          <a:prstGeom prst="roundRect">
            <a:avLst>
              <a:gd name="adj" fmla="val 3871"/>
            </a:avLst>
          </a:prstGeom>
          <a:solidFill>
            <a:srgbClr val="FFFFFF"/>
          </a:solidFill>
          <a:ln w="12700">
            <a:solidFill>
              <a:srgbClr val="D5DEE8"/>
            </a:solidFill>
            <a:prstDash val="solid"/>
          </a:ln>
        </p:spPr>
        <p:txBody>
          <a:bodyPr/>
          <a:lstStyle/>
          <a:p>
            <a:endParaRPr lang="es-CO"/>
          </a:p>
        </p:txBody>
      </p:sp>
      <p:sp>
        <p:nvSpPr>
          <p:cNvPr id="14" name="Shape 11"/>
          <p:cNvSpPr/>
          <p:nvPr/>
        </p:nvSpPr>
        <p:spPr>
          <a:xfrm>
            <a:off x="4617720" y="35204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15" name="Image 1" descr="preencoded.png"/>
          <p:cNvPicPr>
            <a:picLocks noChangeAspect="1"/>
          </p:cNvPicPr>
          <p:nvPr/>
        </p:nvPicPr>
        <p:blipFill>
          <a:blip r:embed="rId5"/>
          <a:stretch>
            <a:fillRect/>
          </a:stretch>
        </p:blipFill>
        <p:spPr>
          <a:xfrm>
            <a:off x="4782312" y="3685032"/>
            <a:ext cx="356616" cy="356616"/>
          </a:xfrm>
          <a:prstGeom prst="rect">
            <a:avLst/>
          </a:prstGeom>
        </p:spPr>
      </p:pic>
      <p:sp>
        <p:nvSpPr>
          <p:cNvPr id="16" name="Text 12"/>
          <p:cNvSpPr txBox="1"/>
          <p:nvPr/>
        </p:nvSpPr>
        <p:spPr>
          <a:xfrm>
            <a:off x="4617720" y="4389120"/>
            <a:ext cx="2926080" cy="1005840"/>
          </a:xfrm>
          <a:prstGeom prst="rect">
            <a:avLst/>
          </a:prstGeom>
          <a:noFill/>
          <a:ln/>
        </p:spPr>
        <p:txBody>
          <a:bodyPr wrap="square" lIns="0" tIns="0" rIns="0" bIns="0" rtlCol="0" anchor="t"/>
          <a:lstStyle/>
          <a:p>
            <a:pPr marL="0" indent="0">
              <a:buNone/>
            </a:pPr>
            <a:r>
              <a:rPr lang="en-US" sz="1600" b="1" dirty="0">
                <a:solidFill>
                  <a:srgbClr val="222222"/>
                </a:solidFill>
                <a:latin typeface="Tahoma" pitchFamily="34" charset="0"/>
                <a:ea typeface="Tahoma" pitchFamily="34" charset="-122"/>
                <a:cs typeface="Tahoma" pitchFamily="34" charset="-120"/>
              </a:rPr>
              <a:t>Diseñar el modelo que interpreta las consultas</a:t>
            </a:r>
            <a:endParaRPr lang="en-US" sz="1600" dirty="0"/>
          </a:p>
        </p:txBody>
      </p:sp>
      <p:sp>
        <p:nvSpPr>
          <p:cNvPr id="17" name="Shape 13"/>
          <p:cNvSpPr/>
          <p:nvPr/>
        </p:nvSpPr>
        <p:spPr>
          <a:xfrm>
            <a:off x="4617720" y="5486400"/>
            <a:ext cx="2880360" cy="411480"/>
          </a:xfrm>
          <a:prstGeom prst="roundRect">
            <a:avLst>
              <a:gd name="adj" fmla="val 22222"/>
            </a:avLst>
          </a:prstGeom>
          <a:solidFill>
            <a:srgbClr val="E8890C"/>
          </a:solidFill>
          <a:ln w="12700">
            <a:solidFill>
              <a:srgbClr val="E8890C"/>
            </a:solidFill>
            <a:prstDash val="solid"/>
          </a:ln>
        </p:spPr>
        <p:txBody>
          <a:bodyPr/>
          <a:lstStyle/>
          <a:p>
            <a:endParaRPr lang="es-CO"/>
          </a:p>
        </p:txBody>
      </p:sp>
      <p:sp>
        <p:nvSpPr>
          <p:cNvPr id="18" name="Text 14"/>
          <p:cNvSpPr txBox="1"/>
          <p:nvPr/>
        </p:nvSpPr>
        <p:spPr>
          <a:xfrm>
            <a:off x="4617720" y="5486400"/>
            <a:ext cx="28803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Cumplido · en mejora</a:t>
            </a:r>
            <a:endParaRPr lang="en-US" sz="1100" dirty="0"/>
          </a:p>
        </p:txBody>
      </p:sp>
      <p:sp>
        <p:nvSpPr>
          <p:cNvPr id="19" name="Shape 15"/>
          <p:cNvSpPr/>
          <p:nvPr/>
        </p:nvSpPr>
        <p:spPr>
          <a:xfrm>
            <a:off x="8046720" y="3291840"/>
            <a:ext cx="3429000" cy="2834640"/>
          </a:xfrm>
          <a:prstGeom prst="roundRect">
            <a:avLst>
              <a:gd name="adj" fmla="val 3871"/>
            </a:avLst>
          </a:prstGeom>
          <a:solidFill>
            <a:srgbClr val="FFFFFF"/>
          </a:solidFill>
          <a:ln w="12700">
            <a:solidFill>
              <a:srgbClr val="FFFFFF"/>
            </a:solidFill>
            <a:prstDash val="solid"/>
          </a:ln>
        </p:spPr>
        <p:txBody>
          <a:bodyPr/>
          <a:lstStyle/>
          <a:p>
            <a:endParaRPr lang="es-CO"/>
          </a:p>
        </p:txBody>
      </p:sp>
      <p:sp>
        <p:nvSpPr>
          <p:cNvPr id="20" name="Shape 16"/>
          <p:cNvSpPr/>
          <p:nvPr/>
        </p:nvSpPr>
        <p:spPr>
          <a:xfrm>
            <a:off x="8046720" y="3291840"/>
            <a:ext cx="3429000" cy="2834640"/>
          </a:xfrm>
          <a:prstGeom prst="roundRect">
            <a:avLst>
              <a:gd name="adj" fmla="val 3871"/>
            </a:avLst>
          </a:prstGeom>
          <a:solidFill>
            <a:srgbClr val="FFFFFF"/>
          </a:solidFill>
          <a:ln w="12700">
            <a:solidFill>
              <a:srgbClr val="D5DEE8"/>
            </a:solidFill>
            <a:prstDash val="solid"/>
          </a:ln>
        </p:spPr>
        <p:txBody>
          <a:bodyPr/>
          <a:lstStyle/>
          <a:p>
            <a:endParaRPr lang="es-CO"/>
          </a:p>
        </p:txBody>
      </p:sp>
      <p:sp>
        <p:nvSpPr>
          <p:cNvPr id="21" name="Shape 17"/>
          <p:cNvSpPr/>
          <p:nvPr/>
        </p:nvSpPr>
        <p:spPr>
          <a:xfrm>
            <a:off x="8321040" y="35204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22" name="Image 2" descr="preencoded.png"/>
          <p:cNvPicPr>
            <a:picLocks noChangeAspect="1"/>
          </p:cNvPicPr>
          <p:nvPr/>
        </p:nvPicPr>
        <p:blipFill>
          <a:blip r:embed="rId6"/>
          <a:stretch>
            <a:fillRect/>
          </a:stretch>
        </p:blipFill>
        <p:spPr>
          <a:xfrm>
            <a:off x="8485632" y="3685032"/>
            <a:ext cx="356616" cy="356616"/>
          </a:xfrm>
          <a:prstGeom prst="rect">
            <a:avLst/>
          </a:prstGeom>
        </p:spPr>
      </p:pic>
      <p:sp>
        <p:nvSpPr>
          <p:cNvPr id="23" name="Text 18"/>
          <p:cNvSpPr txBox="1"/>
          <p:nvPr/>
        </p:nvSpPr>
        <p:spPr>
          <a:xfrm>
            <a:off x="8321040" y="4389120"/>
            <a:ext cx="2926080" cy="1005840"/>
          </a:xfrm>
          <a:prstGeom prst="rect">
            <a:avLst/>
          </a:prstGeom>
          <a:noFill/>
          <a:ln/>
        </p:spPr>
        <p:txBody>
          <a:bodyPr wrap="square" lIns="0" tIns="0" rIns="0" bIns="0" rtlCol="0" anchor="t"/>
          <a:lstStyle/>
          <a:p>
            <a:pPr marL="0" indent="0">
              <a:buNone/>
            </a:pPr>
            <a:r>
              <a:rPr lang="en-US" sz="1600" b="1" dirty="0">
                <a:solidFill>
                  <a:srgbClr val="222222"/>
                </a:solidFill>
                <a:latin typeface="Tahoma" pitchFamily="34" charset="0"/>
                <a:ea typeface="Tahoma" pitchFamily="34" charset="-122"/>
                <a:cs typeface="Tahoma" pitchFamily="34" charset="-120"/>
              </a:rPr>
              <a:t>Integrar el asistente con ElectriSys</a:t>
            </a:r>
            <a:endParaRPr lang="en-US" sz="1600" dirty="0"/>
          </a:p>
        </p:txBody>
      </p:sp>
      <p:sp>
        <p:nvSpPr>
          <p:cNvPr id="24" name="Shape 19"/>
          <p:cNvSpPr/>
          <p:nvPr/>
        </p:nvSpPr>
        <p:spPr>
          <a:xfrm>
            <a:off x="8321040" y="5486400"/>
            <a:ext cx="2880360" cy="411480"/>
          </a:xfrm>
          <a:prstGeom prst="roundRect">
            <a:avLst>
              <a:gd name="adj" fmla="val 22222"/>
            </a:avLst>
          </a:prstGeom>
          <a:solidFill>
            <a:srgbClr val="E8890C"/>
          </a:solidFill>
          <a:ln w="12700">
            <a:solidFill>
              <a:srgbClr val="E8890C"/>
            </a:solidFill>
            <a:prstDash val="solid"/>
          </a:ln>
        </p:spPr>
        <p:txBody>
          <a:bodyPr/>
          <a:lstStyle/>
          <a:p>
            <a:endParaRPr lang="es-CO"/>
          </a:p>
        </p:txBody>
      </p:sp>
      <p:sp>
        <p:nvSpPr>
          <p:cNvPr id="25" name="Text 20"/>
          <p:cNvSpPr txBox="1"/>
          <p:nvPr/>
        </p:nvSpPr>
        <p:spPr>
          <a:xfrm>
            <a:off x="8321040" y="5486400"/>
            <a:ext cx="2880360" cy="411480"/>
          </a:xfrm>
          <a:prstGeom prst="rect">
            <a:avLst/>
          </a:prstGeom>
          <a:noFill/>
          <a:ln/>
        </p:spPr>
        <p:txBody>
          <a:bodyPr wrap="square" lIns="0" tIns="0" rIns="0" bIns="0" rtlCol="0" anchor="ctr"/>
          <a:lstStyle/>
          <a:p>
            <a:pPr marL="0" indent="0" algn="ctr">
              <a:buNone/>
            </a:pPr>
            <a:r>
              <a:rPr lang="en-US" sz="1100" b="1" dirty="0">
                <a:solidFill>
                  <a:srgbClr val="FFFFFF"/>
                </a:solidFill>
                <a:latin typeface="Tahoma" pitchFamily="34" charset="0"/>
                <a:ea typeface="Tahoma" pitchFamily="34" charset="-122"/>
                <a:cs typeface="Tahoma" pitchFamily="34" charset="-120"/>
              </a:rPr>
              <a:t>Cumplido · en ampliación</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Equipo y roles</a:t>
            </a:r>
            <a:endParaRPr lang="en-US" sz="2800" dirty="0"/>
          </a:p>
        </p:txBody>
      </p:sp>
      <p:sp>
        <p:nvSpPr>
          <p:cNvPr id="3" name="Shape 1"/>
          <p:cNvSpPr/>
          <p:nvPr/>
        </p:nvSpPr>
        <p:spPr>
          <a:xfrm>
            <a:off x="640080" y="1828800"/>
            <a:ext cx="3429000" cy="4206240"/>
          </a:xfrm>
          <a:prstGeom prst="roundRect">
            <a:avLst>
              <a:gd name="adj" fmla="val 3200"/>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1828800" y="2148840"/>
            <a:ext cx="1051560" cy="1051560"/>
          </a:xfrm>
          <a:prstGeom prst="ellipse">
            <a:avLst/>
          </a:prstGeom>
          <a:solidFill>
            <a:srgbClr val="0E4C7C"/>
          </a:solidFill>
          <a:ln w="12700">
            <a:solidFill>
              <a:srgbClr val="0E4C7C"/>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2081174" y="2401214"/>
            <a:ext cx="546811" cy="546811"/>
          </a:xfrm>
          <a:prstGeom prst="rect">
            <a:avLst/>
          </a:prstGeom>
        </p:spPr>
      </p:pic>
      <p:sp>
        <p:nvSpPr>
          <p:cNvPr id="6" name="Text 3"/>
          <p:cNvSpPr txBox="1"/>
          <p:nvPr/>
        </p:nvSpPr>
        <p:spPr>
          <a:xfrm>
            <a:off x="822960" y="3429000"/>
            <a:ext cx="3063240" cy="457200"/>
          </a:xfrm>
          <a:prstGeom prst="rect">
            <a:avLst/>
          </a:prstGeom>
          <a:noFill/>
          <a:ln/>
        </p:spPr>
        <p:txBody>
          <a:bodyPr wrap="square" lIns="0" tIns="0" rIns="0" bIns="0" rtlCol="0" anchor="t"/>
          <a:lstStyle/>
          <a:p>
            <a:pPr marL="0" indent="0" algn="ctr">
              <a:buNone/>
            </a:pPr>
            <a:r>
              <a:rPr lang="en-US" sz="2000" b="1" dirty="0">
                <a:solidFill>
                  <a:srgbClr val="0E4C7C"/>
                </a:solidFill>
                <a:latin typeface="Tahoma" pitchFamily="34" charset="0"/>
                <a:ea typeface="Tahoma" pitchFamily="34" charset="-122"/>
                <a:cs typeface="Tahoma" pitchFamily="34" charset="-120"/>
              </a:rPr>
              <a:t>Cristian Pesillo</a:t>
            </a:r>
            <a:endParaRPr lang="en-US" sz="2000" dirty="0"/>
          </a:p>
        </p:txBody>
      </p:sp>
      <p:sp>
        <p:nvSpPr>
          <p:cNvPr id="7" name="Text 4"/>
          <p:cNvSpPr txBox="1"/>
          <p:nvPr/>
        </p:nvSpPr>
        <p:spPr>
          <a:xfrm>
            <a:off x="822960" y="3931920"/>
            <a:ext cx="3063240" cy="365760"/>
          </a:xfrm>
          <a:prstGeom prst="rect">
            <a:avLst/>
          </a:prstGeom>
          <a:noFill/>
          <a:ln/>
        </p:spPr>
        <p:txBody>
          <a:bodyPr wrap="square" lIns="0" tIns="0" rIns="0" bIns="0" rtlCol="0" anchor="t"/>
          <a:lstStyle/>
          <a:p>
            <a:pPr marL="0" indent="0" algn="ctr">
              <a:buNone/>
            </a:pPr>
            <a:r>
              <a:rPr lang="en-US" sz="1500" b="1" dirty="0">
                <a:solidFill>
                  <a:srgbClr val="E8890C"/>
                </a:solidFill>
                <a:latin typeface="Tahoma" pitchFamily="34" charset="0"/>
                <a:ea typeface="Tahoma" pitchFamily="34" charset="-122"/>
                <a:cs typeface="Tahoma" pitchFamily="34" charset="-120"/>
              </a:rPr>
              <a:t>Scrum Master</a:t>
            </a:r>
            <a:endParaRPr lang="en-US" sz="1500" dirty="0"/>
          </a:p>
        </p:txBody>
      </p:sp>
      <p:sp>
        <p:nvSpPr>
          <p:cNvPr id="8" name="Text 5"/>
          <p:cNvSpPr txBox="1"/>
          <p:nvPr/>
        </p:nvSpPr>
        <p:spPr>
          <a:xfrm>
            <a:off x="914400" y="4480560"/>
            <a:ext cx="2880360" cy="1280160"/>
          </a:xfrm>
          <a:prstGeom prst="rect">
            <a:avLst/>
          </a:prstGeom>
          <a:noFill/>
          <a:ln/>
        </p:spPr>
        <p:txBody>
          <a:bodyPr wrap="square" lIns="0" tIns="0" rIns="0" bIns="0" rtlCol="0" anchor="t"/>
          <a:lstStyle/>
          <a:p>
            <a:pPr marL="0" indent="0" algn="ctr">
              <a:buNone/>
            </a:pPr>
            <a:r>
              <a:rPr lang="en-US" sz="1500" dirty="0">
                <a:solidFill>
                  <a:srgbClr val="222222"/>
                </a:solidFill>
                <a:latin typeface="Tahoma" pitchFamily="34" charset="0"/>
                <a:ea typeface="Tahoma" pitchFamily="34" charset="-122"/>
                <a:cs typeface="Tahoma" pitchFamily="34" charset="-120"/>
              </a:rPr>
              <a:t>Backend, integración y despliegue en Azure</a:t>
            </a:r>
            <a:endParaRPr lang="en-US" sz="1500" dirty="0"/>
          </a:p>
        </p:txBody>
      </p:sp>
      <p:sp>
        <p:nvSpPr>
          <p:cNvPr id="9" name="Shape 6"/>
          <p:cNvSpPr/>
          <p:nvPr/>
        </p:nvSpPr>
        <p:spPr>
          <a:xfrm>
            <a:off x="4343400" y="1828800"/>
            <a:ext cx="3429000" cy="4206240"/>
          </a:xfrm>
          <a:prstGeom prst="roundRect">
            <a:avLst>
              <a:gd name="adj" fmla="val 3200"/>
            </a:avLst>
          </a:prstGeom>
          <a:solidFill>
            <a:srgbClr val="EEF4FA"/>
          </a:solidFill>
          <a:ln w="12700">
            <a:solidFill>
              <a:srgbClr val="EEF4FA"/>
            </a:solidFill>
            <a:prstDash val="solid"/>
          </a:ln>
        </p:spPr>
        <p:txBody>
          <a:bodyPr/>
          <a:lstStyle/>
          <a:p>
            <a:endParaRPr lang="es-CO"/>
          </a:p>
        </p:txBody>
      </p:sp>
      <p:sp>
        <p:nvSpPr>
          <p:cNvPr id="10" name="Shape 7"/>
          <p:cNvSpPr/>
          <p:nvPr/>
        </p:nvSpPr>
        <p:spPr>
          <a:xfrm>
            <a:off x="5532120" y="2148840"/>
            <a:ext cx="1051560" cy="1051560"/>
          </a:xfrm>
          <a:prstGeom prst="ellipse">
            <a:avLst/>
          </a:prstGeom>
          <a:solidFill>
            <a:srgbClr val="0E4C7C"/>
          </a:solidFill>
          <a:ln w="12700">
            <a:solidFill>
              <a:srgbClr val="0E4C7C"/>
            </a:solidFill>
            <a:prstDash val="solid"/>
          </a:ln>
        </p:spPr>
        <p:txBody>
          <a:bodyPr/>
          <a:lstStyle/>
          <a:p>
            <a:endParaRPr lang="es-CO"/>
          </a:p>
        </p:txBody>
      </p:sp>
      <p:pic>
        <p:nvPicPr>
          <p:cNvPr id="11" name="Image 1" descr="preencoded.png"/>
          <p:cNvPicPr>
            <a:picLocks noChangeAspect="1"/>
          </p:cNvPicPr>
          <p:nvPr/>
        </p:nvPicPr>
        <p:blipFill>
          <a:blip r:embed="rId5"/>
          <a:stretch>
            <a:fillRect/>
          </a:stretch>
        </p:blipFill>
        <p:spPr>
          <a:xfrm>
            <a:off x="5784494" y="2401214"/>
            <a:ext cx="546811" cy="546811"/>
          </a:xfrm>
          <a:prstGeom prst="rect">
            <a:avLst/>
          </a:prstGeom>
        </p:spPr>
      </p:pic>
      <p:sp>
        <p:nvSpPr>
          <p:cNvPr id="12" name="Text 8"/>
          <p:cNvSpPr txBox="1"/>
          <p:nvPr/>
        </p:nvSpPr>
        <p:spPr>
          <a:xfrm>
            <a:off x="4526280" y="3429000"/>
            <a:ext cx="3063240" cy="457200"/>
          </a:xfrm>
          <a:prstGeom prst="rect">
            <a:avLst/>
          </a:prstGeom>
          <a:noFill/>
          <a:ln/>
        </p:spPr>
        <p:txBody>
          <a:bodyPr wrap="square" lIns="0" tIns="0" rIns="0" bIns="0" rtlCol="0" anchor="t"/>
          <a:lstStyle/>
          <a:p>
            <a:pPr marL="0" indent="0" algn="ctr">
              <a:buNone/>
            </a:pPr>
            <a:r>
              <a:rPr lang="en-US" sz="2000" b="1" dirty="0">
                <a:solidFill>
                  <a:srgbClr val="0E4C7C"/>
                </a:solidFill>
                <a:latin typeface="Tahoma" pitchFamily="34" charset="0"/>
                <a:ea typeface="Tahoma" pitchFamily="34" charset="-122"/>
                <a:cs typeface="Tahoma" pitchFamily="34" charset="-120"/>
              </a:rPr>
              <a:t>Jaider Cardona</a:t>
            </a:r>
            <a:endParaRPr lang="en-US" sz="2000" dirty="0"/>
          </a:p>
        </p:txBody>
      </p:sp>
      <p:sp>
        <p:nvSpPr>
          <p:cNvPr id="13" name="Text 9"/>
          <p:cNvSpPr txBox="1"/>
          <p:nvPr/>
        </p:nvSpPr>
        <p:spPr>
          <a:xfrm>
            <a:off x="4526280" y="3931920"/>
            <a:ext cx="3063240" cy="365760"/>
          </a:xfrm>
          <a:prstGeom prst="rect">
            <a:avLst/>
          </a:prstGeom>
          <a:noFill/>
          <a:ln/>
        </p:spPr>
        <p:txBody>
          <a:bodyPr wrap="square" lIns="0" tIns="0" rIns="0" bIns="0" rtlCol="0" anchor="t"/>
          <a:lstStyle/>
          <a:p>
            <a:pPr marL="0" indent="0" algn="ctr">
              <a:buNone/>
            </a:pPr>
            <a:r>
              <a:rPr lang="en-US" sz="1500" b="1" dirty="0">
                <a:solidFill>
                  <a:srgbClr val="E8890C"/>
                </a:solidFill>
                <a:latin typeface="Tahoma" pitchFamily="34" charset="0"/>
                <a:ea typeface="Tahoma" pitchFamily="34" charset="-122"/>
                <a:cs typeface="Tahoma" pitchFamily="34" charset="-120"/>
              </a:rPr>
              <a:t>Product Owner</a:t>
            </a:r>
            <a:endParaRPr lang="en-US" sz="1500" dirty="0"/>
          </a:p>
        </p:txBody>
      </p:sp>
      <p:sp>
        <p:nvSpPr>
          <p:cNvPr id="14" name="Text 10"/>
          <p:cNvSpPr txBox="1"/>
          <p:nvPr/>
        </p:nvSpPr>
        <p:spPr>
          <a:xfrm>
            <a:off x="4617720" y="4480560"/>
            <a:ext cx="2880360" cy="1280160"/>
          </a:xfrm>
          <a:prstGeom prst="rect">
            <a:avLst/>
          </a:prstGeom>
          <a:noFill/>
          <a:ln/>
        </p:spPr>
        <p:txBody>
          <a:bodyPr wrap="square" lIns="0" tIns="0" rIns="0" bIns="0" rtlCol="0" anchor="t"/>
          <a:lstStyle/>
          <a:p>
            <a:pPr marL="0" indent="0" algn="ctr">
              <a:buNone/>
            </a:pPr>
            <a:r>
              <a:rPr lang="en-US" sz="1500" dirty="0">
                <a:solidFill>
                  <a:srgbClr val="222222"/>
                </a:solidFill>
                <a:latin typeface="Tahoma" pitchFamily="34" charset="0"/>
                <a:ea typeface="Tahoma" pitchFamily="34" charset="-122"/>
                <a:cs typeface="Tahoma" pitchFamily="34" charset="-120"/>
              </a:rPr>
              <a:t>Modelo NLP: dataset, entrenamiento, NER y evaluación</a:t>
            </a:r>
            <a:endParaRPr lang="en-US" sz="1500" dirty="0"/>
          </a:p>
        </p:txBody>
      </p:sp>
      <p:sp>
        <p:nvSpPr>
          <p:cNvPr id="15" name="Shape 11"/>
          <p:cNvSpPr/>
          <p:nvPr/>
        </p:nvSpPr>
        <p:spPr>
          <a:xfrm>
            <a:off x="8046720" y="1828800"/>
            <a:ext cx="3429000" cy="4206240"/>
          </a:xfrm>
          <a:prstGeom prst="roundRect">
            <a:avLst>
              <a:gd name="adj" fmla="val 3200"/>
            </a:avLst>
          </a:prstGeom>
          <a:solidFill>
            <a:srgbClr val="EEF4FA"/>
          </a:solidFill>
          <a:ln w="12700">
            <a:solidFill>
              <a:srgbClr val="EEF4FA"/>
            </a:solidFill>
            <a:prstDash val="solid"/>
          </a:ln>
        </p:spPr>
        <p:txBody>
          <a:bodyPr/>
          <a:lstStyle/>
          <a:p>
            <a:endParaRPr lang="es-CO"/>
          </a:p>
        </p:txBody>
      </p:sp>
      <p:sp>
        <p:nvSpPr>
          <p:cNvPr id="16" name="Shape 12"/>
          <p:cNvSpPr/>
          <p:nvPr/>
        </p:nvSpPr>
        <p:spPr>
          <a:xfrm>
            <a:off x="9235440" y="2148840"/>
            <a:ext cx="1051560" cy="1051560"/>
          </a:xfrm>
          <a:prstGeom prst="ellipse">
            <a:avLst/>
          </a:prstGeom>
          <a:solidFill>
            <a:srgbClr val="0E4C7C"/>
          </a:solidFill>
          <a:ln w="12700">
            <a:solidFill>
              <a:srgbClr val="0E4C7C"/>
            </a:solidFill>
            <a:prstDash val="solid"/>
          </a:ln>
        </p:spPr>
        <p:txBody>
          <a:bodyPr/>
          <a:lstStyle/>
          <a:p>
            <a:endParaRPr lang="es-CO"/>
          </a:p>
        </p:txBody>
      </p:sp>
      <p:pic>
        <p:nvPicPr>
          <p:cNvPr id="17" name="Image 2" descr="preencoded.png"/>
          <p:cNvPicPr>
            <a:picLocks noChangeAspect="1"/>
          </p:cNvPicPr>
          <p:nvPr/>
        </p:nvPicPr>
        <p:blipFill>
          <a:blip r:embed="rId6"/>
          <a:stretch>
            <a:fillRect/>
          </a:stretch>
        </p:blipFill>
        <p:spPr>
          <a:xfrm>
            <a:off x="9487814" y="2401214"/>
            <a:ext cx="546811" cy="546811"/>
          </a:xfrm>
          <a:prstGeom prst="rect">
            <a:avLst/>
          </a:prstGeom>
        </p:spPr>
      </p:pic>
      <p:sp>
        <p:nvSpPr>
          <p:cNvPr id="18" name="Text 13"/>
          <p:cNvSpPr txBox="1"/>
          <p:nvPr/>
        </p:nvSpPr>
        <p:spPr>
          <a:xfrm>
            <a:off x="8229600" y="3429000"/>
            <a:ext cx="3063240" cy="457200"/>
          </a:xfrm>
          <a:prstGeom prst="rect">
            <a:avLst/>
          </a:prstGeom>
          <a:noFill/>
          <a:ln/>
        </p:spPr>
        <p:txBody>
          <a:bodyPr wrap="square" lIns="0" tIns="0" rIns="0" bIns="0" rtlCol="0" anchor="t"/>
          <a:lstStyle/>
          <a:p>
            <a:pPr marL="0" indent="0" algn="ctr">
              <a:buNone/>
            </a:pPr>
            <a:r>
              <a:rPr lang="en-US" sz="2000" b="1" dirty="0">
                <a:solidFill>
                  <a:srgbClr val="0E4C7C"/>
                </a:solidFill>
                <a:latin typeface="Tahoma" pitchFamily="34" charset="0"/>
                <a:ea typeface="Tahoma" pitchFamily="34" charset="-122"/>
                <a:cs typeface="Tahoma" pitchFamily="34" charset="-120"/>
              </a:rPr>
              <a:t>Laura Zamora</a:t>
            </a:r>
            <a:endParaRPr lang="en-US" sz="2000" dirty="0"/>
          </a:p>
        </p:txBody>
      </p:sp>
      <p:sp>
        <p:nvSpPr>
          <p:cNvPr id="19" name="Text 14"/>
          <p:cNvSpPr txBox="1"/>
          <p:nvPr/>
        </p:nvSpPr>
        <p:spPr>
          <a:xfrm>
            <a:off x="8229600" y="3931920"/>
            <a:ext cx="3063240" cy="365760"/>
          </a:xfrm>
          <a:prstGeom prst="rect">
            <a:avLst/>
          </a:prstGeom>
          <a:noFill/>
          <a:ln/>
        </p:spPr>
        <p:txBody>
          <a:bodyPr wrap="square" lIns="0" tIns="0" rIns="0" bIns="0" rtlCol="0" anchor="t"/>
          <a:lstStyle/>
          <a:p>
            <a:pPr marL="0" indent="0" algn="ctr">
              <a:buNone/>
            </a:pPr>
            <a:r>
              <a:rPr lang="en-US" sz="1500" b="1" dirty="0">
                <a:solidFill>
                  <a:srgbClr val="E8890C"/>
                </a:solidFill>
                <a:latin typeface="Tahoma" pitchFamily="34" charset="0"/>
                <a:ea typeface="Tahoma" pitchFamily="34" charset="-122"/>
                <a:cs typeface="Tahoma" pitchFamily="34" charset="-120"/>
              </a:rPr>
              <a:t>Equipo de desarrollo</a:t>
            </a:r>
            <a:endParaRPr lang="en-US" sz="1500" dirty="0"/>
          </a:p>
        </p:txBody>
      </p:sp>
      <p:sp>
        <p:nvSpPr>
          <p:cNvPr id="20" name="Text 15"/>
          <p:cNvSpPr txBox="1"/>
          <p:nvPr/>
        </p:nvSpPr>
        <p:spPr>
          <a:xfrm>
            <a:off x="8321040" y="4480560"/>
            <a:ext cx="2880360" cy="1280160"/>
          </a:xfrm>
          <a:prstGeom prst="rect">
            <a:avLst/>
          </a:prstGeom>
          <a:noFill/>
          <a:ln/>
        </p:spPr>
        <p:txBody>
          <a:bodyPr wrap="square" lIns="0" tIns="0" rIns="0" bIns="0" rtlCol="0" anchor="t"/>
          <a:lstStyle/>
          <a:p>
            <a:pPr marL="0" indent="0" algn="ctr">
              <a:buNone/>
            </a:pPr>
            <a:r>
              <a:rPr lang="en-US" sz="1500" dirty="0">
                <a:solidFill>
                  <a:srgbClr val="222222"/>
                </a:solidFill>
                <a:latin typeface="Tahoma" pitchFamily="34" charset="0"/>
                <a:ea typeface="Tahoma" pitchFamily="34" charset="-122"/>
                <a:cs typeface="Tahoma" pitchFamily="34" charset="-120"/>
              </a:rPr>
              <a:t>Frontend, pruebas y documentación</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Metodología: Scrum adaptado</a:t>
            </a:r>
            <a:endParaRPr lang="en-US" sz="2800" dirty="0"/>
          </a:p>
        </p:txBody>
      </p:sp>
      <p:sp>
        <p:nvSpPr>
          <p:cNvPr id="3" name="Shape 1"/>
          <p:cNvSpPr/>
          <p:nvPr/>
        </p:nvSpPr>
        <p:spPr>
          <a:xfrm>
            <a:off x="548640" y="1920240"/>
            <a:ext cx="2468880" cy="3108960"/>
          </a:xfrm>
          <a:prstGeom prst="roundRect">
            <a:avLst>
              <a:gd name="adj" fmla="val 4444"/>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1371600" y="2148840"/>
            <a:ext cx="822960" cy="822960"/>
          </a:xfrm>
          <a:prstGeom prst="ellipse">
            <a:avLst/>
          </a:prstGeom>
          <a:solidFill>
            <a:srgbClr val="1B6FA8"/>
          </a:solidFill>
          <a:ln w="12700">
            <a:solidFill>
              <a:srgbClr val="1B6FA8"/>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1569110" y="2346350"/>
            <a:ext cx="427939" cy="427939"/>
          </a:xfrm>
          <a:prstGeom prst="rect">
            <a:avLst/>
          </a:prstGeom>
        </p:spPr>
      </p:pic>
      <p:sp>
        <p:nvSpPr>
          <p:cNvPr id="6" name="Text 3"/>
          <p:cNvSpPr txBox="1"/>
          <p:nvPr/>
        </p:nvSpPr>
        <p:spPr>
          <a:xfrm>
            <a:off x="68580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1. Planeación</a:t>
            </a:r>
            <a:endParaRPr lang="en-US" sz="1600" dirty="0"/>
          </a:p>
        </p:txBody>
      </p:sp>
      <p:sp>
        <p:nvSpPr>
          <p:cNvPr id="7" name="Text 4"/>
          <p:cNvSpPr txBox="1"/>
          <p:nvPr/>
        </p:nvSpPr>
        <p:spPr>
          <a:xfrm>
            <a:off x="73152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Se eligen las tareas del sprint y su criterio de terminado</a:t>
            </a:r>
            <a:endParaRPr lang="en-US" sz="1400" dirty="0"/>
          </a:p>
        </p:txBody>
      </p:sp>
      <p:sp>
        <p:nvSpPr>
          <p:cNvPr id="8" name="Shape 5"/>
          <p:cNvSpPr/>
          <p:nvPr/>
        </p:nvSpPr>
        <p:spPr>
          <a:xfrm>
            <a:off x="3063240" y="3291840"/>
            <a:ext cx="274320" cy="365760"/>
          </a:xfrm>
          <a:prstGeom prst="rightArrow">
            <a:avLst/>
          </a:prstGeom>
          <a:solidFill>
            <a:srgbClr val="5A5A5A"/>
          </a:solidFill>
          <a:ln w="12700">
            <a:solidFill>
              <a:srgbClr val="5A5A5A"/>
            </a:solidFill>
            <a:prstDash val="solid"/>
          </a:ln>
        </p:spPr>
        <p:txBody>
          <a:bodyPr/>
          <a:lstStyle/>
          <a:p>
            <a:endParaRPr lang="es-CO"/>
          </a:p>
        </p:txBody>
      </p:sp>
      <p:sp>
        <p:nvSpPr>
          <p:cNvPr id="9" name="Shape 6"/>
          <p:cNvSpPr/>
          <p:nvPr/>
        </p:nvSpPr>
        <p:spPr>
          <a:xfrm>
            <a:off x="3383280" y="1920240"/>
            <a:ext cx="2468880" cy="3108960"/>
          </a:xfrm>
          <a:prstGeom prst="roundRect">
            <a:avLst>
              <a:gd name="adj" fmla="val 4444"/>
            </a:avLst>
          </a:prstGeom>
          <a:solidFill>
            <a:srgbClr val="EEF4FA"/>
          </a:solidFill>
          <a:ln w="12700">
            <a:solidFill>
              <a:srgbClr val="EEF4FA"/>
            </a:solidFill>
            <a:prstDash val="solid"/>
          </a:ln>
        </p:spPr>
        <p:txBody>
          <a:bodyPr/>
          <a:lstStyle/>
          <a:p>
            <a:endParaRPr lang="es-CO"/>
          </a:p>
        </p:txBody>
      </p:sp>
      <p:sp>
        <p:nvSpPr>
          <p:cNvPr id="10" name="Shape 7"/>
          <p:cNvSpPr/>
          <p:nvPr/>
        </p:nvSpPr>
        <p:spPr>
          <a:xfrm>
            <a:off x="4206240" y="2148840"/>
            <a:ext cx="822960" cy="822960"/>
          </a:xfrm>
          <a:prstGeom prst="ellipse">
            <a:avLst/>
          </a:prstGeom>
          <a:solidFill>
            <a:srgbClr val="1B6FA8"/>
          </a:solidFill>
          <a:ln w="12700">
            <a:solidFill>
              <a:srgbClr val="1B6FA8"/>
            </a:solidFill>
            <a:prstDash val="solid"/>
          </a:ln>
        </p:spPr>
        <p:txBody>
          <a:bodyPr/>
          <a:lstStyle/>
          <a:p>
            <a:endParaRPr lang="es-CO"/>
          </a:p>
        </p:txBody>
      </p:sp>
      <p:pic>
        <p:nvPicPr>
          <p:cNvPr id="11" name="Image 1" descr="preencoded.png"/>
          <p:cNvPicPr>
            <a:picLocks noChangeAspect="1"/>
          </p:cNvPicPr>
          <p:nvPr/>
        </p:nvPicPr>
        <p:blipFill>
          <a:blip r:embed="rId5"/>
          <a:stretch>
            <a:fillRect/>
          </a:stretch>
        </p:blipFill>
        <p:spPr>
          <a:xfrm>
            <a:off x="4403750" y="2346350"/>
            <a:ext cx="427939" cy="427939"/>
          </a:xfrm>
          <a:prstGeom prst="rect">
            <a:avLst/>
          </a:prstGeom>
        </p:spPr>
      </p:pic>
      <p:sp>
        <p:nvSpPr>
          <p:cNvPr id="12" name="Text 8"/>
          <p:cNvSpPr txBox="1"/>
          <p:nvPr/>
        </p:nvSpPr>
        <p:spPr>
          <a:xfrm>
            <a:off x="352044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2. Desarrollo</a:t>
            </a:r>
            <a:endParaRPr lang="en-US" sz="1600" dirty="0"/>
          </a:p>
        </p:txBody>
      </p:sp>
      <p:sp>
        <p:nvSpPr>
          <p:cNvPr id="13" name="Text 9"/>
          <p:cNvSpPr txBox="1"/>
          <p:nvPr/>
        </p:nvSpPr>
        <p:spPr>
          <a:xfrm>
            <a:off x="356616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Seguimiento corto durante la semana; código en GitHub</a:t>
            </a:r>
            <a:endParaRPr lang="en-US" sz="1400" dirty="0"/>
          </a:p>
        </p:txBody>
      </p:sp>
      <p:sp>
        <p:nvSpPr>
          <p:cNvPr id="14" name="Shape 10"/>
          <p:cNvSpPr/>
          <p:nvPr/>
        </p:nvSpPr>
        <p:spPr>
          <a:xfrm>
            <a:off x="5897880" y="3291840"/>
            <a:ext cx="274320" cy="365760"/>
          </a:xfrm>
          <a:prstGeom prst="rightArrow">
            <a:avLst/>
          </a:prstGeom>
          <a:solidFill>
            <a:srgbClr val="5A5A5A"/>
          </a:solidFill>
          <a:ln w="12700">
            <a:solidFill>
              <a:srgbClr val="5A5A5A"/>
            </a:solidFill>
            <a:prstDash val="solid"/>
          </a:ln>
        </p:spPr>
        <p:txBody>
          <a:bodyPr/>
          <a:lstStyle/>
          <a:p>
            <a:endParaRPr lang="es-CO"/>
          </a:p>
        </p:txBody>
      </p:sp>
      <p:sp>
        <p:nvSpPr>
          <p:cNvPr id="15" name="Shape 11"/>
          <p:cNvSpPr/>
          <p:nvPr/>
        </p:nvSpPr>
        <p:spPr>
          <a:xfrm>
            <a:off x="6217920" y="1920240"/>
            <a:ext cx="2468880" cy="3108960"/>
          </a:xfrm>
          <a:prstGeom prst="roundRect">
            <a:avLst>
              <a:gd name="adj" fmla="val 4444"/>
            </a:avLst>
          </a:prstGeom>
          <a:solidFill>
            <a:srgbClr val="FDF1E0"/>
          </a:solidFill>
          <a:ln w="12700">
            <a:solidFill>
              <a:srgbClr val="FDF1E0"/>
            </a:solidFill>
            <a:prstDash val="solid"/>
          </a:ln>
        </p:spPr>
        <p:txBody>
          <a:bodyPr/>
          <a:lstStyle/>
          <a:p>
            <a:endParaRPr lang="es-CO"/>
          </a:p>
        </p:txBody>
      </p:sp>
      <p:sp>
        <p:nvSpPr>
          <p:cNvPr id="16" name="Shape 12"/>
          <p:cNvSpPr/>
          <p:nvPr/>
        </p:nvSpPr>
        <p:spPr>
          <a:xfrm>
            <a:off x="7040880" y="2148840"/>
            <a:ext cx="822960" cy="822960"/>
          </a:xfrm>
          <a:prstGeom prst="ellipse">
            <a:avLst/>
          </a:prstGeom>
          <a:solidFill>
            <a:srgbClr val="E8890C"/>
          </a:solidFill>
          <a:ln w="12700">
            <a:solidFill>
              <a:srgbClr val="E8890C"/>
            </a:solidFill>
            <a:prstDash val="solid"/>
          </a:ln>
        </p:spPr>
        <p:txBody>
          <a:bodyPr/>
          <a:lstStyle/>
          <a:p>
            <a:endParaRPr lang="es-CO"/>
          </a:p>
        </p:txBody>
      </p:sp>
      <p:pic>
        <p:nvPicPr>
          <p:cNvPr id="17" name="Image 2" descr="preencoded.png"/>
          <p:cNvPicPr>
            <a:picLocks noChangeAspect="1"/>
          </p:cNvPicPr>
          <p:nvPr/>
        </p:nvPicPr>
        <p:blipFill>
          <a:blip r:embed="rId6"/>
          <a:stretch>
            <a:fillRect/>
          </a:stretch>
        </p:blipFill>
        <p:spPr>
          <a:xfrm>
            <a:off x="7238390" y="2346350"/>
            <a:ext cx="427939" cy="427939"/>
          </a:xfrm>
          <a:prstGeom prst="rect">
            <a:avLst/>
          </a:prstGeom>
        </p:spPr>
      </p:pic>
      <p:sp>
        <p:nvSpPr>
          <p:cNvPr id="18" name="Text 13"/>
          <p:cNvSpPr txBox="1"/>
          <p:nvPr/>
        </p:nvSpPr>
        <p:spPr>
          <a:xfrm>
            <a:off x="635508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3. Revisión y pruebas</a:t>
            </a:r>
            <a:endParaRPr lang="en-US" sz="1600" dirty="0"/>
          </a:p>
        </p:txBody>
      </p:sp>
      <p:sp>
        <p:nvSpPr>
          <p:cNvPr id="19" name="Text 14"/>
          <p:cNvSpPr txBox="1"/>
          <p:nvPr/>
        </p:nvSpPr>
        <p:spPr>
          <a:xfrm>
            <a:off x="640080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pytest, PHPUnit y prueba de punta a punta</a:t>
            </a:r>
            <a:endParaRPr lang="en-US" sz="1400" dirty="0"/>
          </a:p>
        </p:txBody>
      </p:sp>
      <p:sp>
        <p:nvSpPr>
          <p:cNvPr id="20" name="Shape 15"/>
          <p:cNvSpPr/>
          <p:nvPr/>
        </p:nvSpPr>
        <p:spPr>
          <a:xfrm>
            <a:off x="8732520" y="3291840"/>
            <a:ext cx="274320" cy="365760"/>
          </a:xfrm>
          <a:prstGeom prst="rightArrow">
            <a:avLst/>
          </a:prstGeom>
          <a:solidFill>
            <a:srgbClr val="5A5A5A"/>
          </a:solidFill>
          <a:ln w="12700">
            <a:solidFill>
              <a:srgbClr val="5A5A5A"/>
            </a:solidFill>
            <a:prstDash val="solid"/>
          </a:ln>
        </p:spPr>
        <p:txBody>
          <a:bodyPr/>
          <a:lstStyle/>
          <a:p>
            <a:endParaRPr lang="es-CO"/>
          </a:p>
        </p:txBody>
      </p:sp>
      <p:sp>
        <p:nvSpPr>
          <p:cNvPr id="21" name="Shape 16"/>
          <p:cNvSpPr/>
          <p:nvPr/>
        </p:nvSpPr>
        <p:spPr>
          <a:xfrm>
            <a:off x="9052560" y="1920240"/>
            <a:ext cx="2468880" cy="3108960"/>
          </a:xfrm>
          <a:prstGeom prst="roundRect">
            <a:avLst>
              <a:gd name="adj" fmla="val 4444"/>
            </a:avLst>
          </a:prstGeom>
          <a:solidFill>
            <a:srgbClr val="EEF4FA"/>
          </a:solidFill>
          <a:ln w="12700">
            <a:solidFill>
              <a:srgbClr val="EEF4FA"/>
            </a:solidFill>
            <a:prstDash val="solid"/>
          </a:ln>
        </p:spPr>
        <p:txBody>
          <a:bodyPr/>
          <a:lstStyle/>
          <a:p>
            <a:endParaRPr lang="es-CO"/>
          </a:p>
        </p:txBody>
      </p:sp>
      <p:sp>
        <p:nvSpPr>
          <p:cNvPr id="22" name="Shape 17"/>
          <p:cNvSpPr/>
          <p:nvPr/>
        </p:nvSpPr>
        <p:spPr>
          <a:xfrm>
            <a:off x="9875520" y="2148840"/>
            <a:ext cx="822960" cy="822960"/>
          </a:xfrm>
          <a:prstGeom prst="ellipse">
            <a:avLst/>
          </a:prstGeom>
          <a:solidFill>
            <a:srgbClr val="1B6FA8"/>
          </a:solidFill>
          <a:ln w="12700">
            <a:solidFill>
              <a:srgbClr val="1B6FA8"/>
            </a:solidFill>
            <a:prstDash val="solid"/>
          </a:ln>
        </p:spPr>
        <p:txBody>
          <a:bodyPr/>
          <a:lstStyle/>
          <a:p>
            <a:endParaRPr lang="es-CO"/>
          </a:p>
        </p:txBody>
      </p:sp>
      <p:pic>
        <p:nvPicPr>
          <p:cNvPr id="23" name="Image 3" descr="preencoded.png"/>
          <p:cNvPicPr>
            <a:picLocks noChangeAspect="1"/>
          </p:cNvPicPr>
          <p:nvPr/>
        </p:nvPicPr>
        <p:blipFill>
          <a:blip r:embed="rId7"/>
          <a:stretch>
            <a:fillRect/>
          </a:stretch>
        </p:blipFill>
        <p:spPr>
          <a:xfrm>
            <a:off x="10073030" y="2346350"/>
            <a:ext cx="427939" cy="427939"/>
          </a:xfrm>
          <a:prstGeom prst="rect">
            <a:avLst/>
          </a:prstGeom>
        </p:spPr>
      </p:pic>
      <p:sp>
        <p:nvSpPr>
          <p:cNvPr id="24" name="Text 18"/>
          <p:cNvSpPr txBox="1"/>
          <p:nvPr/>
        </p:nvSpPr>
        <p:spPr>
          <a:xfrm>
            <a:off x="9189720" y="3154680"/>
            <a:ext cx="2194560" cy="457200"/>
          </a:xfrm>
          <a:prstGeom prst="rect">
            <a:avLst/>
          </a:prstGeom>
          <a:noFill/>
          <a:ln/>
        </p:spPr>
        <p:txBody>
          <a:bodyPr wrap="square" lIns="0" tIns="0" rIns="0" bIns="0" rtlCol="0" anchor="t"/>
          <a:lstStyle/>
          <a:p>
            <a:pPr marL="0" indent="0" algn="ctr">
              <a:buNone/>
            </a:pPr>
            <a:r>
              <a:rPr lang="en-US" sz="1600" b="1" dirty="0">
                <a:solidFill>
                  <a:srgbClr val="0E4C7C"/>
                </a:solidFill>
                <a:latin typeface="Tahoma" pitchFamily="34" charset="0"/>
                <a:ea typeface="Tahoma" pitchFamily="34" charset="-122"/>
                <a:cs typeface="Tahoma" pitchFamily="34" charset="-120"/>
              </a:rPr>
              <a:t>4. Retrospectiva</a:t>
            </a:r>
            <a:endParaRPr lang="en-US" sz="1600" dirty="0"/>
          </a:p>
        </p:txBody>
      </p:sp>
      <p:sp>
        <p:nvSpPr>
          <p:cNvPr id="25" name="Text 19"/>
          <p:cNvSpPr txBox="1"/>
          <p:nvPr/>
        </p:nvSpPr>
        <p:spPr>
          <a:xfrm>
            <a:off x="9235440" y="3657600"/>
            <a:ext cx="2103120" cy="1188720"/>
          </a:xfrm>
          <a:prstGeom prst="rect">
            <a:avLst/>
          </a:prstGeom>
          <a:noFill/>
          <a:ln/>
        </p:spPr>
        <p:txBody>
          <a:bodyPr wrap="square" lIns="0" tIns="0" rIns="0" bIns="0" rtlCol="0" anchor="t"/>
          <a:lstStyle/>
          <a:p>
            <a:pPr marL="0" indent="0" algn="ctr">
              <a:buNone/>
            </a:pPr>
            <a:r>
              <a:rPr lang="en-US" sz="1400" dirty="0">
                <a:solidFill>
                  <a:srgbClr val="222222"/>
                </a:solidFill>
                <a:latin typeface="Tahoma" pitchFamily="34" charset="0"/>
                <a:ea typeface="Tahoma" pitchFamily="34" charset="-122"/>
                <a:cs typeface="Tahoma" pitchFamily="34" charset="-120"/>
              </a:rPr>
              <a:t>Qué funcionó y qué se ajusta en el siguiente sprint</a:t>
            </a:r>
            <a:endParaRPr lang="en-US" sz="1400" dirty="0"/>
          </a:p>
        </p:txBody>
      </p:sp>
      <p:sp>
        <p:nvSpPr>
          <p:cNvPr id="26" name="Text 20"/>
          <p:cNvSpPr txBox="1"/>
          <p:nvPr/>
        </p:nvSpPr>
        <p:spPr>
          <a:xfrm>
            <a:off x="548640" y="5394960"/>
            <a:ext cx="11064240" cy="548640"/>
          </a:xfrm>
          <a:prstGeom prst="rect">
            <a:avLst/>
          </a:prstGeom>
          <a:noFill/>
          <a:ln/>
        </p:spPr>
        <p:txBody>
          <a:bodyPr wrap="square" lIns="0" tIns="0" rIns="0" bIns="0" rtlCol="0" anchor="t"/>
          <a:lstStyle/>
          <a:p>
            <a:pPr marL="0" indent="0" algn="ctr">
              <a:buNone/>
            </a:pPr>
            <a:r>
              <a:rPr lang="en-US" sz="1600" i="1" dirty="0">
                <a:solidFill>
                  <a:srgbClr val="5A5A5A"/>
                </a:solidFill>
                <a:latin typeface="Tahoma" pitchFamily="34" charset="0"/>
                <a:ea typeface="Tahoma" pitchFamily="34" charset="-122"/>
                <a:cs typeface="Tahoma" pitchFamily="34" charset="-120"/>
              </a:rPr>
              <a:t>Un sprint solo se cierra si sus pruebas pasan. Sprints de 1 semana (0 a 6) y de 2 semanas (7 y 8).</a:t>
            </a: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Cronograma: 13 semanas, vamos en la 7</a:t>
            </a:r>
            <a:endParaRPr lang="en-US" sz="2800" dirty="0"/>
          </a:p>
        </p:txBody>
      </p:sp>
      <p:pic>
        <p:nvPicPr>
          <p:cNvPr id="3" name="Image 0" descr="/tmp/claude-0/-home-claude/12d53fbb-18c3-5237-8e14-37f4c9bad302/scratchpad/slides/fig_cronograma.png"/>
          <p:cNvPicPr>
            <a:picLocks noChangeAspect="1"/>
          </p:cNvPicPr>
          <p:nvPr/>
        </p:nvPicPr>
        <p:blipFill>
          <a:blip r:embed="rId4"/>
          <a:stretch>
            <a:fillRect/>
          </a:stretch>
        </p:blipFill>
        <p:spPr>
          <a:xfrm>
            <a:off x="1508760" y="1600200"/>
            <a:ext cx="9144000" cy="49377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Lo que ya construimos (sprints 0 a 6)</a:t>
            </a:r>
            <a:endParaRPr lang="en-US" sz="2800" dirty="0"/>
          </a:p>
        </p:txBody>
      </p:sp>
      <p:sp>
        <p:nvSpPr>
          <p:cNvPr id="3" name="Shape 1"/>
          <p:cNvSpPr/>
          <p:nvPr/>
        </p:nvSpPr>
        <p:spPr>
          <a:xfrm>
            <a:off x="54864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73152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5" name="Text 3"/>
          <p:cNvSpPr txBox="1"/>
          <p:nvPr/>
        </p:nvSpPr>
        <p:spPr>
          <a:xfrm>
            <a:off x="73152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0</a:t>
            </a:r>
            <a:endParaRPr lang="en-US" sz="2000" dirty="0"/>
          </a:p>
        </p:txBody>
      </p:sp>
      <p:sp>
        <p:nvSpPr>
          <p:cNvPr id="6" name="Text 4"/>
          <p:cNvSpPr txBox="1"/>
          <p:nvPr/>
        </p:nvSpPr>
        <p:spPr>
          <a:xfrm>
            <a:off x="141732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Análisis</a:t>
            </a:r>
            <a:endParaRPr lang="en-US" sz="1400" dirty="0"/>
          </a:p>
        </p:txBody>
      </p:sp>
      <p:sp>
        <p:nvSpPr>
          <p:cNvPr id="7" name="Text 5"/>
          <p:cNvSpPr txBox="1"/>
          <p:nvPr/>
        </p:nvSpPr>
        <p:spPr>
          <a:xfrm>
            <a:off x="73152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Necesidades, 7 intenciones y arquitectura</a:t>
            </a:r>
            <a:endParaRPr lang="en-US" sz="1300" dirty="0"/>
          </a:p>
        </p:txBody>
      </p:sp>
      <p:sp>
        <p:nvSpPr>
          <p:cNvPr id="8" name="Shape 6"/>
          <p:cNvSpPr/>
          <p:nvPr/>
        </p:nvSpPr>
        <p:spPr>
          <a:xfrm>
            <a:off x="338328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9" name="Shape 7"/>
          <p:cNvSpPr/>
          <p:nvPr/>
        </p:nvSpPr>
        <p:spPr>
          <a:xfrm>
            <a:off x="356616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10" name="Text 8"/>
          <p:cNvSpPr txBox="1"/>
          <p:nvPr/>
        </p:nvSpPr>
        <p:spPr>
          <a:xfrm>
            <a:off x="356616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1</a:t>
            </a:r>
            <a:endParaRPr lang="en-US" sz="2000" dirty="0"/>
          </a:p>
        </p:txBody>
      </p:sp>
      <p:sp>
        <p:nvSpPr>
          <p:cNvPr id="11" name="Text 9"/>
          <p:cNvSpPr txBox="1"/>
          <p:nvPr/>
        </p:nvSpPr>
        <p:spPr>
          <a:xfrm>
            <a:off x="425196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Base de datos</a:t>
            </a:r>
            <a:endParaRPr lang="en-US" sz="1400" dirty="0"/>
          </a:p>
        </p:txBody>
      </p:sp>
      <p:sp>
        <p:nvSpPr>
          <p:cNvPr id="12" name="Text 10"/>
          <p:cNvSpPr txBox="1"/>
          <p:nvPr/>
        </p:nvSpPr>
        <p:spPr>
          <a:xfrm>
            <a:off x="356616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Vehículos y compatibilidad repuesto–vehículo</a:t>
            </a:r>
            <a:endParaRPr lang="en-US" sz="1300" dirty="0"/>
          </a:p>
        </p:txBody>
      </p:sp>
      <p:sp>
        <p:nvSpPr>
          <p:cNvPr id="13" name="Shape 11"/>
          <p:cNvSpPr/>
          <p:nvPr/>
        </p:nvSpPr>
        <p:spPr>
          <a:xfrm>
            <a:off x="621792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14" name="Shape 12"/>
          <p:cNvSpPr/>
          <p:nvPr/>
        </p:nvSpPr>
        <p:spPr>
          <a:xfrm>
            <a:off x="640080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15" name="Text 13"/>
          <p:cNvSpPr txBox="1"/>
          <p:nvPr/>
        </p:nvSpPr>
        <p:spPr>
          <a:xfrm>
            <a:off x="640080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2</a:t>
            </a:r>
            <a:endParaRPr lang="en-US" sz="2000" dirty="0"/>
          </a:p>
        </p:txBody>
      </p:sp>
      <p:sp>
        <p:nvSpPr>
          <p:cNvPr id="16" name="Text 14"/>
          <p:cNvSpPr txBox="1"/>
          <p:nvPr/>
        </p:nvSpPr>
        <p:spPr>
          <a:xfrm>
            <a:off x="708660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Microservicio</a:t>
            </a:r>
            <a:endParaRPr lang="en-US" sz="1400" dirty="0"/>
          </a:p>
        </p:txBody>
      </p:sp>
      <p:sp>
        <p:nvSpPr>
          <p:cNvPr id="17" name="Text 15"/>
          <p:cNvSpPr txBox="1"/>
          <p:nvPr/>
        </p:nvSpPr>
        <p:spPr>
          <a:xfrm>
            <a:off x="640080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FastAPI, dataset de 65 frases y preprocesamiento</a:t>
            </a:r>
            <a:endParaRPr lang="en-US" sz="1300" dirty="0"/>
          </a:p>
        </p:txBody>
      </p:sp>
      <p:sp>
        <p:nvSpPr>
          <p:cNvPr id="18" name="Shape 16"/>
          <p:cNvSpPr/>
          <p:nvPr/>
        </p:nvSpPr>
        <p:spPr>
          <a:xfrm>
            <a:off x="9052560" y="169164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19" name="Shape 17"/>
          <p:cNvSpPr/>
          <p:nvPr/>
        </p:nvSpPr>
        <p:spPr>
          <a:xfrm>
            <a:off x="9235440" y="1874520"/>
            <a:ext cx="594360" cy="594360"/>
          </a:xfrm>
          <a:prstGeom prst="ellipse">
            <a:avLst/>
          </a:prstGeom>
          <a:solidFill>
            <a:srgbClr val="0E4C7C"/>
          </a:solidFill>
          <a:ln w="12700">
            <a:solidFill>
              <a:srgbClr val="0E4C7C"/>
            </a:solidFill>
            <a:prstDash val="solid"/>
          </a:ln>
        </p:spPr>
        <p:txBody>
          <a:bodyPr/>
          <a:lstStyle/>
          <a:p>
            <a:endParaRPr lang="es-CO"/>
          </a:p>
        </p:txBody>
      </p:sp>
      <p:sp>
        <p:nvSpPr>
          <p:cNvPr id="20" name="Text 18"/>
          <p:cNvSpPr txBox="1"/>
          <p:nvPr/>
        </p:nvSpPr>
        <p:spPr>
          <a:xfrm>
            <a:off x="9235440" y="187452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3</a:t>
            </a:r>
            <a:endParaRPr lang="en-US" sz="2000" dirty="0"/>
          </a:p>
        </p:txBody>
      </p:sp>
      <p:sp>
        <p:nvSpPr>
          <p:cNvPr id="21" name="Text 19"/>
          <p:cNvSpPr txBox="1"/>
          <p:nvPr/>
        </p:nvSpPr>
        <p:spPr>
          <a:xfrm>
            <a:off x="9921240" y="187452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Intención y NER</a:t>
            </a:r>
            <a:endParaRPr lang="en-US" sz="1400" dirty="0"/>
          </a:p>
        </p:txBody>
      </p:sp>
      <p:sp>
        <p:nvSpPr>
          <p:cNvPr id="22" name="Text 20"/>
          <p:cNvSpPr txBox="1"/>
          <p:nvPr/>
        </p:nvSpPr>
        <p:spPr>
          <a:xfrm>
            <a:off x="9235440" y="265176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TF-IDF + regresión logística; regex + RapidFuzz</a:t>
            </a:r>
            <a:endParaRPr lang="en-US" sz="1300" dirty="0"/>
          </a:p>
        </p:txBody>
      </p:sp>
      <p:sp>
        <p:nvSpPr>
          <p:cNvPr id="23" name="Shape 21"/>
          <p:cNvSpPr/>
          <p:nvPr/>
        </p:nvSpPr>
        <p:spPr>
          <a:xfrm>
            <a:off x="548640" y="402336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24" name="Shape 22"/>
          <p:cNvSpPr/>
          <p:nvPr/>
        </p:nvSpPr>
        <p:spPr>
          <a:xfrm>
            <a:off x="731520" y="4206240"/>
            <a:ext cx="594360" cy="594360"/>
          </a:xfrm>
          <a:prstGeom prst="ellipse">
            <a:avLst/>
          </a:prstGeom>
          <a:solidFill>
            <a:srgbClr val="0E4C7C"/>
          </a:solidFill>
          <a:ln w="12700">
            <a:solidFill>
              <a:srgbClr val="0E4C7C"/>
            </a:solidFill>
            <a:prstDash val="solid"/>
          </a:ln>
        </p:spPr>
        <p:txBody>
          <a:bodyPr/>
          <a:lstStyle/>
          <a:p>
            <a:endParaRPr lang="es-CO"/>
          </a:p>
        </p:txBody>
      </p:sp>
      <p:sp>
        <p:nvSpPr>
          <p:cNvPr id="25" name="Text 23"/>
          <p:cNvSpPr txBox="1"/>
          <p:nvPr/>
        </p:nvSpPr>
        <p:spPr>
          <a:xfrm>
            <a:off x="731520" y="42062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4</a:t>
            </a:r>
            <a:endParaRPr lang="en-US" sz="2000" dirty="0"/>
          </a:p>
        </p:txBody>
      </p:sp>
      <p:sp>
        <p:nvSpPr>
          <p:cNvPr id="26" name="Text 24"/>
          <p:cNvSpPr txBox="1"/>
          <p:nvPr/>
        </p:nvSpPr>
        <p:spPr>
          <a:xfrm>
            <a:off x="1417320" y="420624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Recomendador</a:t>
            </a:r>
            <a:endParaRPr lang="en-US" sz="1400" dirty="0"/>
          </a:p>
        </p:txBody>
      </p:sp>
      <p:sp>
        <p:nvSpPr>
          <p:cNvPr id="27" name="Text 25"/>
          <p:cNvSpPr txBox="1"/>
          <p:nvPr/>
        </p:nvSpPr>
        <p:spPr>
          <a:xfrm>
            <a:off x="731520" y="498348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Ranking por similitud del coseno e integración</a:t>
            </a:r>
            <a:endParaRPr lang="en-US" sz="1300" dirty="0"/>
          </a:p>
        </p:txBody>
      </p:sp>
      <p:sp>
        <p:nvSpPr>
          <p:cNvPr id="28" name="Shape 26"/>
          <p:cNvSpPr/>
          <p:nvPr/>
        </p:nvSpPr>
        <p:spPr>
          <a:xfrm>
            <a:off x="3383280" y="4023360"/>
            <a:ext cx="2606040" cy="2103120"/>
          </a:xfrm>
          <a:prstGeom prst="roundRect">
            <a:avLst>
              <a:gd name="adj" fmla="val 5217"/>
            </a:avLst>
          </a:prstGeom>
          <a:solidFill>
            <a:srgbClr val="EEF4FA"/>
          </a:solidFill>
          <a:ln w="12700">
            <a:solidFill>
              <a:srgbClr val="EEF4FA"/>
            </a:solidFill>
            <a:prstDash val="solid"/>
          </a:ln>
        </p:spPr>
        <p:txBody>
          <a:bodyPr/>
          <a:lstStyle/>
          <a:p>
            <a:endParaRPr lang="es-CO"/>
          </a:p>
        </p:txBody>
      </p:sp>
      <p:sp>
        <p:nvSpPr>
          <p:cNvPr id="29" name="Shape 27"/>
          <p:cNvSpPr/>
          <p:nvPr/>
        </p:nvSpPr>
        <p:spPr>
          <a:xfrm>
            <a:off x="3566160" y="4206240"/>
            <a:ext cx="594360" cy="594360"/>
          </a:xfrm>
          <a:prstGeom prst="ellipse">
            <a:avLst/>
          </a:prstGeom>
          <a:solidFill>
            <a:srgbClr val="0E4C7C"/>
          </a:solidFill>
          <a:ln w="12700">
            <a:solidFill>
              <a:srgbClr val="0E4C7C"/>
            </a:solidFill>
            <a:prstDash val="solid"/>
          </a:ln>
        </p:spPr>
        <p:txBody>
          <a:bodyPr/>
          <a:lstStyle/>
          <a:p>
            <a:endParaRPr lang="es-CO"/>
          </a:p>
        </p:txBody>
      </p:sp>
      <p:sp>
        <p:nvSpPr>
          <p:cNvPr id="30" name="Text 28"/>
          <p:cNvSpPr txBox="1"/>
          <p:nvPr/>
        </p:nvSpPr>
        <p:spPr>
          <a:xfrm>
            <a:off x="3566160" y="42062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5</a:t>
            </a:r>
            <a:endParaRPr lang="en-US" sz="2000" dirty="0"/>
          </a:p>
        </p:txBody>
      </p:sp>
      <p:sp>
        <p:nvSpPr>
          <p:cNvPr id="31" name="Text 29"/>
          <p:cNvSpPr txBox="1"/>
          <p:nvPr/>
        </p:nvSpPr>
        <p:spPr>
          <a:xfrm>
            <a:off x="4251960" y="420624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En pantalla</a:t>
            </a:r>
            <a:endParaRPr lang="en-US" sz="1400" dirty="0"/>
          </a:p>
        </p:txBody>
      </p:sp>
      <p:sp>
        <p:nvSpPr>
          <p:cNvPr id="32" name="Text 30"/>
          <p:cNvSpPr txBox="1"/>
          <p:nvPr/>
        </p:nvSpPr>
        <p:spPr>
          <a:xfrm>
            <a:off x="3566160" y="498348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Chat flotante, límite de consultas y 8 casos límite</a:t>
            </a:r>
            <a:endParaRPr lang="en-US" sz="1300" dirty="0"/>
          </a:p>
        </p:txBody>
      </p:sp>
      <p:sp>
        <p:nvSpPr>
          <p:cNvPr id="33" name="Shape 31"/>
          <p:cNvSpPr/>
          <p:nvPr/>
        </p:nvSpPr>
        <p:spPr>
          <a:xfrm>
            <a:off x="6217920" y="4023360"/>
            <a:ext cx="2606040" cy="2103120"/>
          </a:xfrm>
          <a:prstGeom prst="roundRect">
            <a:avLst>
              <a:gd name="adj" fmla="val 5217"/>
            </a:avLst>
          </a:prstGeom>
          <a:solidFill>
            <a:srgbClr val="FDF1E0"/>
          </a:solidFill>
          <a:ln w="12700">
            <a:solidFill>
              <a:srgbClr val="FDF1E0"/>
            </a:solidFill>
            <a:prstDash val="solid"/>
          </a:ln>
        </p:spPr>
        <p:txBody>
          <a:bodyPr/>
          <a:lstStyle/>
          <a:p>
            <a:endParaRPr lang="es-CO"/>
          </a:p>
        </p:txBody>
      </p:sp>
      <p:sp>
        <p:nvSpPr>
          <p:cNvPr id="34" name="Shape 32"/>
          <p:cNvSpPr/>
          <p:nvPr/>
        </p:nvSpPr>
        <p:spPr>
          <a:xfrm>
            <a:off x="6400800" y="4206240"/>
            <a:ext cx="594360" cy="594360"/>
          </a:xfrm>
          <a:prstGeom prst="ellipse">
            <a:avLst/>
          </a:prstGeom>
          <a:solidFill>
            <a:srgbClr val="E8890C"/>
          </a:solidFill>
          <a:ln w="12700">
            <a:solidFill>
              <a:srgbClr val="E8890C"/>
            </a:solidFill>
            <a:prstDash val="solid"/>
          </a:ln>
        </p:spPr>
        <p:txBody>
          <a:bodyPr/>
          <a:lstStyle/>
          <a:p>
            <a:endParaRPr lang="es-CO"/>
          </a:p>
        </p:txBody>
      </p:sp>
      <p:sp>
        <p:nvSpPr>
          <p:cNvPr id="35" name="Text 33"/>
          <p:cNvSpPr txBox="1"/>
          <p:nvPr/>
        </p:nvSpPr>
        <p:spPr>
          <a:xfrm>
            <a:off x="6400800" y="4206240"/>
            <a:ext cx="594360" cy="594360"/>
          </a:xfrm>
          <a:prstGeom prst="rect">
            <a:avLst/>
          </a:prstGeom>
          <a:noFill/>
          <a:ln/>
        </p:spPr>
        <p:txBody>
          <a:bodyPr wrap="square" lIns="0" tIns="0" rIns="0" bIns="0" rtlCol="0" anchor="ctr"/>
          <a:lstStyle/>
          <a:p>
            <a:pPr marL="0" indent="0" algn="ctr">
              <a:buNone/>
            </a:pPr>
            <a:r>
              <a:rPr lang="en-US" sz="2000" b="1" dirty="0">
                <a:solidFill>
                  <a:srgbClr val="FFFFFF"/>
                </a:solidFill>
                <a:latin typeface="Tahoma" pitchFamily="34" charset="0"/>
                <a:ea typeface="Tahoma" pitchFamily="34" charset="-122"/>
                <a:cs typeface="Tahoma" pitchFamily="34" charset="-120"/>
              </a:rPr>
              <a:t>6</a:t>
            </a:r>
            <a:endParaRPr lang="en-US" sz="2000" dirty="0"/>
          </a:p>
        </p:txBody>
      </p:sp>
      <p:sp>
        <p:nvSpPr>
          <p:cNvPr id="36" name="Text 34"/>
          <p:cNvSpPr txBox="1"/>
          <p:nvPr/>
        </p:nvSpPr>
        <p:spPr>
          <a:xfrm>
            <a:off x="7086600" y="4206240"/>
            <a:ext cx="1691640" cy="594360"/>
          </a:xfrm>
          <a:prstGeom prst="rect">
            <a:avLst/>
          </a:prstGeom>
          <a:noFill/>
          <a:ln/>
        </p:spPr>
        <p:txBody>
          <a:bodyPr wrap="square" lIns="0" tIns="0" rIns="0" bIns="0" rtlCol="0" anchor="ctr"/>
          <a:lstStyle/>
          <a:p>
            <a:pPr marL="0" indent="0">
              <a:buNone/>
            </a:pPr>
            <a:r>
              <a:rPr lang="en-US" sz="1400" b="1" dirty="0">
                <a:solidFill>
                  <a:srgbClr val="0E4C7C"/>
                </a:solidFill>
                <a:latin typeface="Tahoma" pitchFamily="34" charset="0"/>
                <a:ea typeface="Tahoma" pitchFamily="34" charset="-122"/>
                <a:cs typeface="Tahoma" pitchFamily="34" charset="-120"/>
              </a:rPr>
              <a:t>Apoyo (en curso)</a:t>
            </a:r>
            <a:endParaRPr lang="en-US" sz="1400" dirty="0"/>
          </a:p>
        </p:txBody>
      </p:sp>
      <p:sp>
        <p:nvSpPr>
          <p:cNvPr id="37" name="Text 35"/>
          <p:cNvSpPr txBox="1"/>
          <p:nvPr/>
        </p:nvSpPr>
        <p:spPr>
          <a:xfrm>
            <a:off x="6400800" y="4983480"/>
            <a:ext cx="2286000" cy="1005840"/>
          </a:xfrm>
          <a:prstGeom prst="rect">
            <a:avLst/>
          </a:prstGeom>
          <a:noFill/>
          <a:ln/>
        </p:spPr>
        <p:txBody>
          <a:bodyPr wrap="square" lIns="0" tIns="0" rIns="0" bIns="0" rtlCol="0" anchor="t"/>
          <a:lstStyle/>
          <a:p>
            <a:pPr marL="0" indent="0">
              <a:buNone/>
            </a:pPr>
            <a:r>
              <a:rPr lang="en-US" sz="1300" dirty="0">
                <a:solidFill>
                  <a:srgbClr val="222222"/>
                </a:solidFill>
                <a:latin typeface="Tahoma" pitchFamily="34" charset="0"/>
                <a:ea typeface="Tahoma" pitchFamily="34" charset="-122"/>
                <a:cs typeface="Tahoma" pitchFamily="34" charset="-120"/>
              </a:rPr>
              <a:t>Corrector, similares, demanda y 1.ª evaluación</a:t>
            </a:r>
            <a:endParaRPr lang="en-US" sz="1300" dirty="0"/>
          </a:p>
        </p:txBody>
      </p:sp>
      <p:sp>
        <p:nvSpPr>
          <p:cNvPr id="38" name="Shape 36"/>
          <p:cNvSpPr/>
          <p:nvPr/>
        </p:nvSpPr>
        <p:spPr>
          <a:xfrm>
            <a:off x="9052560" y="4023360"/>
            <a:ext cx="2606040" cy="2103120"/>
          </a:xfrm>
          <a:prstGeom prst="roundRect">
            <a:avLst>
              <a:gd name="adj" fmla="val 5217"/>
            </a:avLst>
          </a:prstGeom>
          <a:solidFill>
            <a:srgbClr val="FFFFFF"/>
          </a:solidFill>
          <a:ln w="12700">
            <a:solidFill>
              <a:srgbClr val="FFFFFF"/>
            </a:solidFill>
            <a:prstDash val="solid"/>
          </a:ln>
        </p:spPr>
        <p:txBody>
          <a:bodyPr/>
          <a:lstStyle/>
          <a:p>
            <a:endParaRPr lang="es-CO"/>
          </a:p>
        </p:txBody>
      </p:sp>
      <p:sp>
        <p:nvSpPr>
          <p:cNvPr id="39" name="Shape 37"/>
          <p:cNvSpPr/>
          <p:nvPr/>
        </p:nvSpPr>
        <p:spPr>
          <a:xfrm>
            <a:off x="9052560" y="4023360"/>
            <a:ext cx="2606040" cy="2103120"/>
          </a:xfrm>
          <a:prstGeom prst="roundRect">
            <a:avLst>
              <a:gd name="adj" fmla="val 5217"/>
            </a:avLst>
          </a:prstGeom>
          <a:solidFill>
            <a:srgbClr val="FFFFFF"/>
          </a:solidFill>
          <a:ln w="19050">
            <a:solidFill>
              <a:srgbClr val="2E8B57"/>
            </a:solidFill>
            <a:prstDash val="solid"/>
          </a:ln>
        </p:spPr>
        <p:txBody>
          <a:bodyPr/>
          <a:lstStyle/>
          <a:p>
            <a:endParaRPr lang="es-CO"/>
          </a:p>
        </p:txBody>
      </p:sp>
      <p:sp>
        <p:nvSpPr>
          <p:cNvPr id="40" name="Text 38"/>
          <p:cNvSpPr txBox="1"/>
          <p:nvPr/>
        </p:nvSpPr>
        <p:spPr>
          <a:xfrm>
            <a:off x="9052560" y="4206240"/>
            <a:ext cx="2606040" cy="1737360"/>
          </a:xfrm>
          <a:prstGeom prst="rect">
            <a:avLst/>
          </a:prstGeom>
          <a:noFill/>
          <a:ln/>
        </p:spPr>
        <p:txBody>
          <a:bodyPr wrap="square" lIns="0" tIns="0" rIns="0" bIns="0" rtlCol="0" anchor="ctr"/>
          <a:lstStyle/>
          <a:p>
            <a:pPr marL="0" indent="0" algn="ctr">
              <a:buNone/>
            </a:pPr>
            <a:r>
              <a:rPr lang="en-US" sz="3600" b="1" dirty="0">
                <a:solidFill>
                  <a:srgbClr val="2E8B57"/>
                </a:solidFill>
                <a:latin typeface="Tahoma" pitchFamily="34" charset="0"/>
                <a:ea typeface="Tahoma" pitchFamily="34" charset="-122"/>
                <a:cs typeface="Tahoma" pitchFamily="34" charset="-120"/>
              </a:rPr>
              <a:t>6 de 11</a:t>
            </a:r>
            <a:endParaRPr lang="en-US" sz="1600" dirty="0"/>
          </a:p>
          <a:p>
            <a:pPr marL="0" indent="0" algn="ctr">
              <a:buNone/>
            </a:pPr>
            <a:r>
              <a:rPr lang="en-US" sz="1400" dirty="0">
                <a:solidFill>
                  <a:srgbClr val="5A5A5A"/>
                </a:solidFill>
                <a:latin typeface="Tahoma" pitchFamily="34" charset="0"/>
                <a:ea typeface="Tahoma" pitchFamily="34" charset="-122"/>
                <a:cs typeface="Tahoma" pitchFamily="34" charset="-120"/>
              </a:rPr>
              <a:t>sprints terminados</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¿Cómo responde una consulta?</a:t>
            </a:r>
            <a:endParaRPr lang="en-US" sz="2800" dirty="0"/>
          </a:p>
        </p:txBody>
      </p:sp>
      <p:pic>
        <p:nvPicPr>
          <p:cNvPr id="3" name="Image 0" descr="/tmp/claude-0/-home-claude/12d53fbb-18c3-5237-8e14-37f4c9bad302/scratchpad/slides/fig_pipeline.png"/>
          <p:cNvPicPr>
            <a:picLocks noChangeAspect="1"/>
          </p:cNvPicPr>
          <p:nvPr/>
        </p:nvPicPr>
        <p:blipFill>
          <a:blip r:embed="rId4"/>
          <a:stretch>
            <a:fillRect/>
          </a:stretch>
        </p:blipFill>
        <p:spPr>
          <a:xfrm>
            <a:off x="1281077" y="1645920"/>
            <a:ext cx="9599366" cy="4114800"/>
          </a:xfrm>
          <a:prstGeom prst="rect">
            <a:avLst/>
          </a:prstGeom>
        </p:spPr>
      </p:pic>
      <p:sp>
        <p:nvSpPr>
          <p:cNvPr id="4" name="Text 1"/>
          <p:cNvSpPr txBox="1"/>
          <p:nvPr/>
        </p:nvSpPr>
        <p:spPr>
          <a:xfrm>
            <a:off x="822960" y="5943600"/>
            <a:ext cx="10515600" cy="411480"/>
          </a:xfrm>
          <a:prstGeom prst="rect">
            <a:avLst/>
          </a:prstGeom>
          <a:noFill/>
          <a:ln/>
        </p:spPr>
        <p:txBody>
          <a:bodyPr wrap="square" lIns="0" tIns="0" rIns="0" bIns="0" rtlCol="0" anchor="t"/>
          <a:lstStyle/>
          <a:p>
            <a:pPr marL="0" indent="0" algn="ctr">
              <a:buNone/>
            </a:pPr>
            <a:r>
              <a:rPr lang="en-US" sz="1500" i="1" dirty="0">
                <a:solidFill>
                  <a:srgbClr val="5A5A5A"/>
                </a:solidFill>
                <a:latin typeface="Tahoma" pitchFamily="34" charset="0"/>
                <a:ea typeface="Tahoma" pitchFamily="34" charset="-122"/>
                <a:cs typeface="Tahoma" pitchFamily="34" charset="-120"/>
              </a:rPr>
              <a:t>En naranja, los pasos donde actúan modelos de IA propios.</a:t>
            </a:r>
            <a:endParaRPr lang="en-US" sz="15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Capacidades de apoyo (sprint 6)</a:t>
            </a:r>
            <a:endParaRPr lang="en-US" sz="2800" dirty="0"/>
          </a:p>
        </p:txBody>
      </p:sp>
      <p:pic>
        <p:nvPicPr>
          <p:cNvPr id="3" name="Image 0" descr="/tmp/claude-0/-home-claude/12d53fbb-18c3-5237-8e14-37f4c9bad302/scratchpad/slides/cap_repuestos.jpg"/>
          <p:cNvPicPr>
            <a:picLocks noChangeAspect="1"/>
          </p:cNvPicPr>
          <p:nvPr/>
        </p:nvPicPr>
        <p:blipFill>
          <a:blip r:embed="rId4"/>
          <a:stretch>
            <a:fillRect/>
          </a:stretch>
        </p:blipFill>
        <p:spPr>
          <a:xfrm>
            <a:off x="548640" y="1737817"/>
            <a:ext cx="5394960" cy="3290926"/>
          </a:xfrm>
          <a:prstGeom prst="rect">
            <a:avLst/>
          </a:prstGeom>
        </p:spPr>
      </p:pic>
      <p:pic>
        <p:nvPicPr>
          <p:cNvPr id="4" name="Image 1" descr="/tmp/claude-0/-home-claude/12d53fbb-18c3-5237-8e14-37f4c9bad302/scratchpad/slides/cap_sugerencias.jpg"/>
          <p:cNvPicPr>
            <a:picLocks noChangeAspect="1"/>
          </p:cNvPicPr>
          <p:nvPr/>
        </p:nvPicPr>
        <p:blipFill>
          <a:blip r:embed="rId5"/>
          <a:stretch>
            <a:fillRect/>
          </a:stretch>
        </p:blipFill>
        <p:spPr>
          <a:xfrm>
            <a:off x="6263640" y="1737817"/>
            <a:ext cx="5394960" cy="3290926"/>
          </a:xfrm>
          <a:prstGeom prst="rect">
            <a:avLst/>
          </a:prstGeom>
        </p:spPr>
      </p:pic>
      <p:sp>
        <p:nvSpPr>
          <p:cNvPr id="5" name="Text 1"/>
          <p:cNvSpPr txBox="1"/>
          <p:nvPr/>
        </p:nvSpPr>
        <p:spPr>
          <a:xfrm>
            <a:off x="548640" y="5212080"/>
            <a:ext cx="5394960" cy="320040"/>
          </a:xfrm>
          <a:prstGeom prst="rect">
            <a:avLst/>
          </a:prstGeom>
          <a:noFill/>
          <a:ln/>
        </p:spPr>
        <p:txBody>
          <a:bodyPr wrap="square" lIns="0" tIns="0" rIns="0" bIns="0" rtlCol="0" anchor="t"/>
          <a:lstStyle/>
          <a:p>
            <a:pPr marL="0" indent="0" algn="ctr">
              <a:buNone/>
            </a:pPr>
            <a:r>
              <a:rPr lang="en-US" sz="1200" i="1" dirty="0">
                <a:solidFill>
                  <a:srgbClr val="5A5A5A"/>
                </a:solidFill>
                <a:latin typeface="Tahoma" pitchFamily="34" charset="0"/>
                <a:ea typeface="Tahoma" pitchFamily="34" charset="-122"/>
                <a:cs typeface="Tahoma" pitchFamily="34" charset="-120"/>
              </a:rPr>
              <a:t>Señales de demanda: «Rotación baja»</a:t>
            </a:r>
            <a:endParaRPr lang="en-US" sz="1200" dirty="0"/>
          </a:p>
        </p:txBody>
      </p:sp>
      <p:sp>
        <p:nvSpPr>
          <p:cNvPr id="6" name="Text 2"/>
          <p:cNvSpPr txBox="1"/>
          <p:nvPr/>
        </p:nvSpPr>
        <p:spPr>
          <a:xfrm>
            <a:off x="6263640" y="5212080"/>
            <a:ext cx="5394960" cy="320040"/>
          </a:xfrm>
          <a:prstGeom prst="rect">
            <a:avLst/>
          </a:prstGeom>
          <a:noFill/>
          <a:ln/>
        </p:spPr>
        <p:txBody>
          <a:bodyPr wrap="square" lIns="0" tIns="0" rIns="0" bIns="0" rtlCol="0" anchor="t"/>
          <a:lstStyle/>
          <a:p>
            <a:pPr marL="0" indent="0" algn="ctr">
              <a:buNone/>
            </a:pPr>
            <a:r>
              <a:rPr lang="en-US" sz="1200" i="1" dirty="0">
                <a:solidFill>
                  <a:srgbClr val="5A5A5A"/>
                </a:solidFill>
                <a:latin typeface="Tahoma" pitchFamily="34" charset="0"/>
                <a:ea typeface="Tahoma" pitchFamily="34" charset="-122"/>
                <a:cs typeface="Tahoma" pitchFamily="34" charset="-120"/>
              </a:rPr>
              <a:t>Productos similares por TF-IDF + coseno</a:t>
            </a:r>
            <a:endParaRPr lang="en-US" sz="1200" dirty="0"/>
          </a:p>
        </p:txBody>
      </p:sp>
      <p:sp>
        <p:nvSpPr>
          <p:cNvPr id="7" name="Text 3"/>
          <p:cNvSpPr txBox="1"/>
          <p:nvPr/>
        </p:nvSpPr>
        <p:spPr>
          <a:xfrm>
            <a:off x="548640" y="5715000"/>
            <a:ext cx="11109960" cy="457200"/>
          </a:xfrm>
          <a:prstGeom prst="rect">
            <a:avLst/>
          </a:prstGeom>
          <a:noFill/>
          <a:ln/>
        </p:spPr>
        <p:txBody>
          <a:bodyPr wrap="square" lIns="0" tIns="0" rIns="0" bIns="0" rtlCol="0" anchor="t"/>
          <a:lstStyle/>
          <a:p>
            <a:pPr marL="0" indent="0" algn="ctr">
              <a:buNone/>
            </a:pPr>
            <a:r>
              <a:rPr lang="en-US" sz="1500" b="1" dirty="0">
                <a:solidFill>
                  <a:srgbClr val="0E4C7C"/>
                </a:solidFill>
                <a:latin typeface="Tahoma" pitchFamily="34" charset="0"/>
                <a:ea typeface="Tahoma" pitchFamily="34" charset="-122"/>
                <a:cs typeface="Tahoma" pitchFamily="34" charset="-120"/>
              </a:rPr>
              <a:t>También: corrección de búsquedas con errores («filtro acite» → «filtro de aceite»).</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El asistente funcionando</a:t>
            </a:r>
            <a:endParaRPr lang="en-US" sz="2800" dirty="0"/>
          </a:p>
        </p:txBody>
      </p:sp>
      <p:pic>
        <p:nvPicPr>
          <p:cNvPr id="3" name="Image 0" descr="/tmp/claude-0/-home-claude/12d53fbb-18c3-5237-8e14-37f4c9bad302/scratchpad/slides/cap_asistente.jpg"/>
          <p:cNvPicPr>
            <a:picLocks noChangeAspect="1"/>
          </p:cNvPicPr>
          <p:nvPr/>
        </p:nvPicPr>
        <p:blipFill>
          <a:blip r:embed="rId4"/>
          <a:stretch>
            <a:fillRect/>
          </a:stretch>
        </p:blipFill>
        <p:spPr>
          <a:xfrm>
            <a:off x="548640" y="1782166"/>
            <a:ext cx="7498080" cy="4573829"/>
          </a:xfrm>
          <a:prstGeom prst="rect">
            <a:avLst/>
          </a:prstGeom>
        </p:spPr>
      </p:pic>
      <p:sp>
        <p:nvSpPr>
          <p:cNvPr id="4" name="Shape 1"/>
          <p:cNvSpPr/>
          <p:nvPr/>
        </p:nvSpPr>
        <p:spPr>
          <a:xfrm>
            <a:off x="8412480" y="1828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5" name="Text 2"/>
          <p:cNvSpPr txBox="1"/>
          <p:nvPr/>
        </p:nvSpPr>
        <p:spPr>
          <a:xfrm>
            <a:off x="8412480"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1</a:t>
            </a:r>
            <a:endParaRPr lang="en-US" sz="1800" dirty="0"/>
          </a:p>
        </p:txBody>
      </p:sp>
      <p:sp>
        <p:nvSpPr>
          <p:cNvPr id="6" name="Text 3"/>
          <p:cNvSpPr txBox="1"/>
          <p:nvPr/>
        </p:nvSpPr>
        <p:spPr>
          <a:xfrm>
            <a:off x="9144000" y="1783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El vendedor escribe en lenguaje natural</a:t>
            </a:r>
            <a:endParaRPr lang="en-US" sz="1500" dirty="0"/>
          </a:p>
        </p:txBody>
      </p:sp>
      <p:sp>
        <p:nvSpPr>
          <p:cNvPr id="7" name="Shape 4"/>
          <p:cNvSpPr/>
          <p:nvPr/>
        </p:nvSpPr>
        <p:spPr>
          <a:xfrm>
            <a:off x="8412480" y="2971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8" name="Text 5"/>
          <p:cNvSpPr txBox="1"/>
          <p:nvPr/>
        </p:nvSpPr>
        <p:spPr>
          <a:xfrm>
            <a:off x="8412480" y="2971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2</a:t>
            </a:r>
            <a:endParaRPr lang="en-US" sz="1800" dirty="0"/>
          </a:p>
        </p:txBody>
      </p:sp>
      <p:sp>
        <p:nvSpPr>
          <p:cNvPr id="9" name="Text 6"/>
          <p:cNvSpPr txBox="1"/>
          <p:nvPr/>
        </p:nvSpPr>
        <p:spPr>
          <a:xfrm>
            <a:off x="9144000" y="2926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Reconoce Renault Duster 2.0 gasolina 2020</a:t>
            </a:r>
            <a:endParaRPr lang="en-US" sz="1500" dirty="0"/>
          </a:p>
        </p:txBody>
      </p:sp>
      <p:sp>
        <p:nvSpPr>
          <p:cNvPr id="10" name="Shape 7"/>
          <p:cNvSpPr/>
          <p:nvPr/>
        </p:nvSpPr>
        <p:spPr>
          <a:xfrm>
            <a:off x="8412480" y="4114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11" name="Text 8"/>
          <p:cNvSpPr txBox="1"/>
          <p:nvPr/>
        </p:nvSpPr>
        <p:spPr>
          <a:xfrm>
            <a:off x="8412480" y="4114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3</a:t>
            </a:r>
            <a:endParaRPr lang="en-US" sz="1800" dirty="0"/>
          </a:p>
        </p:txBody>
      </p:sp>
      <p:sp>
        <p:nvSpPr>
          <p:cNvPr id="12" name="Text 9"/>
          <p:cNvSpPr txBox="1"/>
          <p:nvPr/>
        </p:nvSpPr>
        <p:spPr>
          <a:xfrm>
            <a:off x="9144000" y="4069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Muestra el repuesto compatible con stock y precio</a:t>
            </a:r>
            <a:endParaRPr lang="en-US" sz="1500" dirty="0"/>
          </a:p>
        </p:txBody>
      </p:sp>
      <p:sp>
        <p:nvSpPr>
          <p:cNvPr id="13" name="Shape 10"/>
          <p:cNvSpPr/>
          <p:nvPr/>
        </p:nvSpPr>
        <p:spPr>
          <a:xfrm>
            <a:off x="8412480" y="5257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14" name="Text 11"/>
          <p:cNvSpPr txBox="1"/>
          <p:nvPr/>
        </p:nvSpPr>
        <p:spPr>
          <a:xfrm>
            <a:off x="8412480" y="5257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4</a:t>
            </a:r>
            <a:endParaRPr lang="en-US" sz="1800" dirty="0"/>
          </a:p>
        </p:txBody>
      </p:sp>
      <p:sp>
        <p:nvSpPr>
          <p:cNvPr id="15" name="Text 12"/>
          <p:cNvSpPr txBox="1"/>
          <p:nvPr/>
        </p:nvSpPr>
        <p:spPr>
          <a:xfrm>
            <a:off x="9144000" y="5212080"/>
            <a:ext cx="2651760" cy="82296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Se agrega a la venta con un clic</a:t>
            </a:r>
            <a:endParaRPr lang="en-US" sz="15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Arquitectura</a:t>
            </a:r>
            <a:endParaRPr lang="en-US" sz="2800" dirty="0"/>
          </a:p>
        </p:txBody>
      </p:sp>
      <p:pic>
        <p:nvPicPr>
          <p:cNvPr id="3" name="Image 0" descr="/tmp/claude-0/-home-claude/12d53fbb-18c3-5237-8e14-37f4c9bad302/scratchpad/slides/fig_arquitectura.png"/>
          <p:cNvPicPr>
            <a:picLocks noChangeAspect="1"/>
          </p:cNvPicPr>
          <p:nvPr/>
        </p:nvPicPr>
        <p:blipFill>
          <a:blip r:embed="rId4"/>
          <a:stretch>
            <a:fillRect/>
          </a:stretch>
        </p:blipFill>
        <p:spPr>
          <a:xfrm>
            <a:off x="679762" y="1554480"/>
            <a:ext cx="5772797" cy="5120640"/>
          </a:xfrm>
          <a:prstGeom prst="rect">
            <a:avLst/>
          </a:prstGeom>
        </p:spPr>
      </p:pic>
      <p:sp>
        <p:nvSpPr>
          <p:cNvPr id="4" name="Shape 1"/>
          <p:cNvSpPr/>
          <p:nvPr/>
        </p:nvSpPr>
        <p:spPr>
          <a:xfrm>
            <a:off x="7040880" y="178308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5" name="Image 1" descr="preencoded.png"/>
          <p:cNvPicPr>
            <a:picLocks noChangeAspect="1"/>
          </p:cNvPicPr>
          <p:nvPr/>
        </p:nvPicPr>
        <p:blipFill>
          <a:blip r:embed="rId5"/>
          <a:stretch>
            <a:fillRect/>
          </a:stretch>
        </p:blipFill>
        <p:spPr>
          <a:xfrm>
            <a:off x="7205472" y="1947672"/>
            <a:ext cx="356616" cy="356616"/>
          </a:xfrm>
          <a:prstGeom prst="rect">
            <a:avLst/>
          </a:prstGeom>
        </p:spPr>
      </p:pic>
      <p:sp>
        <p:nvSpPr>
          <p:cNvPr id="6" name="Text 2"/>
          <p:cNvSpPr txBox="1"/>
          <p:nvPr/>
        </p:nvSpPr>
        <p:spPr>
          <a:xfrm>
            <a:off x="7909560" y="176479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Frontend React</a:t>
            </a:r>
            <a:endParaRPr lang="en-US" sz="1600" dirty="0"/>
          </a:p>
        </p:txBody>
      </p:sp>
      <p:sp>
        <p:nvSpPr>
          <p:cNvPr id="7" name="Text 3"/>
          <p:cNvSpPr txBox="1"/>
          <p:nvPr/>
        </p:nvSpPr>
        <p:spPr>
          <a:xfrm>
            <a:off x="7909560" y="213055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Solo habla con el backend</a:t>
            </a:r>
            <a:endParaRPr lang="en-US" sz="1400" dirty="0"/>
          </a:p>
        </p:txBody>
      </p:sp>
      <p:sp>
        <p:nvSpPr>
          <p:cNvPr id="8" name="Shape 4"/>
          <p:cNvSpPr/>
          <p:nvPr/>
        </p:nvSpPr>
        <p:spPr>
          <a:xfrm>
            <a:off x="7040880" y="297180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9" name="Image 2" descr="preencoded.png"/>
          <p:cNvPicPr>
            <a:picLocks noChangeAspect="1"/>
          </p:cNvPicPr>
          <p:nvPr/>
        </p:nvPicPr>
        <p:blipFill>
          <a:blip r:embed="rId6"/>
          <a:stretch>
            <a:fillRect/>
          </a:stretch>
        </p:blipFill>
        <p:spPr>
          <a:xfrm>
            <a:off x="7205472" y="3136392"/>
            <a:ext cx="356616" cy="356616"/>
          </a:xfrm>
          <a:prstGeom prst="rect">
            <a:avLst/>
          </a:prstGeom>
        </p:spPr>
      </p:pic>
      <p:sp>
        <p:nvSpPr>
          <p:cNvPr id="10" name="Text 5"/>
          <p:cNvSpPr txBox="1"/>
          <p:nvPr/>
        </p:nvSpPr>
        <p:spPr>
          <a:xfrm>
            <a:off x="7909560" y="295351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Backend PHP</a:t>
            </a:r>
            <a:endParaRPr lang="en-US" sz="1600" dirty="0"/>
          </a:p>
        </p:txBody>
      </p:sp>
      <p:sp>
        <p:nvSpPr>
          <p:cNvPr id="11" name="Text 6"/>
          <p:cNvSpPr txBox="1"/>
          <p:nvPr/>
        </p:nvSpPr>
        <p:spPr>
          <a:xfrm>
            <a:off x="7909560" y="331927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Único con acceso a Oracle; patrón Observer</a:t>
            </a:r>
            <a:endParaRPr lang="en-US" sz="1400" dirty="0"/>
          </a:p>
        </p:txBody>
      </p:sp>
      <p:sp>
        <p:nvSpPr>
          <p:cNvPr id="12" name="Shape 7"/>
          <p:cNvSpPr/>
          <p:nvPr/>
        </p:nvSpPr>
        <p:spPr>
          <a:xfrm>
            <a:off x="7040880" y="4160520"/>
            <a:ext cx="685800" cy="685800"/>
          </a:xfrm>
          <a:prstGeom prst="ellipse">
            <a:avLst/>
          </a:prstGeom>
          <a:solidFill>
            <a:srgbClr val="E8890C"/>
          </a:solidFill>
          <a:ln w="12700">
            <a:solidFill>
              <a:srgbClr val="E8890C"/>
            </a:solidFill>
            <a:prstDash val="solid"/>
          </a:ln>
        </p:spPr>
        <p:txBody>
          <a:bodyPr/>
          <a:lstStyle/>
          <a:p>
            <a:endParaRPr lang="es-CO"/>
          </a:p>
        </p:txBody>
      </p:sp>
      <p:pic>
        <p:nvPicPr>
          <p:cNvPr id="13" name="Image 3" descr="preencoded.png"/>
          <p:cNvPicPr>
            <a:picLocks noChangeAspect="1"/>
          </p:cNvPicPr>
          <p:nvPr/>
        </p:nvPicPr>
        <p:blipFill>
          <a:blip r:embed="rId7"/>
          <a:stretch>
            <a:fillRect/>
          </a:stretch>
        </p:blipFill>
        <p:spPr>
          <a:xfrm>
            <a:off x="7205472" y="4325112"/>
            <a:ext cx="356616" cy="356616"/>
          </a:xfrm>
          <a:prstGeom prst="rect">
            <a:avLst/>
          </a:prstGeom>
        </p:spPr>
      </p:pic>
      <p:sp>
        <p:nvSpPr>
          <p:cNvPr id="14" name="Text 8"/>
          <p:cNvSpPr txBox="1"/>
          <p:nvPr/>
        </p:nvSpPr>
        <p:spPr>
          <a:xfrm>
            <a:off x="7909560" y="414223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Microservicio NLP</a:t>
            </a:r>
            <a:endParaRPr lang="en-US" sz="1600" dirty="0"/>
          </a:p>
        </p:txBody>
      </p:sp>
      <p:sp>
        <p:nvSpPr>
          <p:cNvPr id="15" name="Text 9"/>
          <p:cNvSpPr txBox="1"/>
          <p:nvPr/>
        </p:nvSpPr>
        <p:spPr>
          <a:xfrm>
            <a:off x="7909560" y="450799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Python + FastAPI, protegido con clave interna</a:t>
            </a:r>
            <a:endParaRPr lang="en-US" sz="1400" dirty="0"/>
          </a:p>
        </p:txBody>
      </p:sp>
      <p:sp>
        <p:nvSpPr>
          <p:cNvPr id="16" name="Shape 10"/>
          <p:cNvSpPr/>
          <p:nvPr/>
        </p:nvSpPr>
        <p:spPr>
          <a:xfrm>
            <a:off x="7040880" y="5349240"/>
            <a:ext cx="685800" cy="685800"/>
          </a:xfrm>
          <a:prstGeom prst="ellipse">
            <a:avLst/>
          </a:prstGeom>
          <a:solidFill>
            <a:srgbClr val="1B6FA8"/>
          </a:solidFill>
          <a:ln w="12700">
            <a:solidFill>
              <a:srgbClr val="1B6FA8"/>
            </a:solidFill>
            <a:prstDash val="solid"/>
          </a:ln>
        </p:spPr>
        <p:txBody>
          <a:bodyPr/>
          <a:lstStyle/>
          <a:p>
            <a:endParaRPr lang="es-CO"/>
          </a:p>
        </p:txBody>
      </p:sp>
      <p:pic>
        <p:nvPicPr>
          <p:cNvPr id="17" name="Image 4" descr="preencoded.png"/>
          <p:cNvPicPr>
            <a:picLocks noChangeAspect="1"/>
          </p:cNvPicPr>
          <p:nvPr/>
        </p:nvPicPr>
        <p:blipFill>
          <a:blip r:embed="rId8"/>
          <a:stretch>
            <a:fillRect/>
          </a:stretch>
        </p:blipFill>
        <p:spPr>
          <a:xfrm>
            <a:off x="7205472" y="5513832"/>
            <a:ext cx="356616" cy="356616"/>
          </a:xfrm>
          <a:prstGeom prst="rect">
            <a:avLst/>
          </a:prstGeom>
        </p:spPr>
      </p:pic>
      <p:sp>
        <p:nvSpPr>
          <p:cNvPr id="18" name="Text 11"/>
          <p:cNvSpPr txBox="1"/>
          <p:nvPr/>
        </p:nvSpPr>
        <p:spPr>
          <a:xfrm>
            <a:off x="7909560" y="5330952"/>
            <a:ext cx="3840480" cy="365760"/>
          </a:xfrm>
          <a:prstGeom prst="rect">
            <a:avLst/>
          </a:prstGeom>
          <a:noFill/>
          <a:ln/>
        </p:spPr>
        <p:txBody>
          <a:bodyPr wrap="square" lIns="0" tIns="0" rIns="0" bIns="0" rtlCol="0" anchor="t"/>
          <a:lstStyle/>
          <a:p>
            <a:pPr marL="0" indent="0">
              <a:buNone/>
            </a:pPr>
            <a:r>
              <a:rPr lang="en-US" sz="1600" b="1" dirty="0">
                <a:solidFill>
                  <a:srgbClr val="0E4C7C"/>
                </a:solidFill>
                <a:latin typeface="Tahoma" pitchFamily="34" charset="0"/>
                <a:ea typeface="Tahoma" pitchFamily="34" charset="-122"/>
                <a:cs typeface="Tahoma" pitchFamily="34" charset="-120"/>
              </a:rPr>
              <a:t>Despliegue</a:t>
            </a:r>
            <a:endParaRPr lang="en-US" sz="1600" dirty="0"/>
          </a:p>
        </p:txBody>
      </p:sp>
      <p:sp>
        <p:nvSpPr>
          <p:cNvPr id="19" name="Text 12"/>
          <p:cNvSpPr txBox="1"/>
          <p:nvPr/>
        </p:nvSpPr>
        <p:spPr>
          <a:xfrm>
            <a:off x="7909560" y="5696712"/>
            <a:ext cx="3840480" cy="548640"/>
          </a:xfrm>
          <a:prstGeom prst="rect">
            <a:avLst/>
          </a:prstGeom>
          <a:noFill/>
          <a:ln/>
        </p:spPr>
        <p:txBody>
          <a:bodyPr wrap="square" lIns="0" tIns="0" rIns="0" bIns="0" rtlCol="0" anchor="t"/>
          <a:lstStyle/>
          <a:p>
            <a:pPr marL="0" indent="0">
              <a:buNone/>
            </a:pPr>
            <a:r>
              <a:rPr lang="en-US" sz="1400" dirty="0">
                <a:solidFill>
                  <a:srgbClr val="222222"/>
                </a:solidFill>
                <a:latin typeface="Tahoma" pitchFamily="34" charset="0"/>
                <a:ea typeface="Tahoma" pitchFamily="34" charset="-122"/>
                <a:cs typeface="Tahoma" pitchFamily="34" charset="-120"/>
              </a:rPr>
              <a:t>Docker en una máquina virtual de Azure</a:t>
            </a:r>
            <a:endParaRPr lang="en-US" sz="1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Capas del modelo</a:t>
            </a:r>
            <a:endParaRPr lang="en-US" sz="2800" dirty="0"/>
          </a:p>
        </p:txBody>
      </p:sp>
      <p:pic>
        <p:nvPicPr>
          <p:cNvPr id="3" name="Image 0" descr="/tmp/claude-0/-home-claude/12d53fbb-18c3-5237-8e14-37f4c9bad302/scratchpad/slides/fig_red.png"/>
          <p:cNvPicPr>
            <a:picLocks noChangeAspect="1"/>
          </p:cNvPicPr>
          <p:nvPr/>
        </p:nvPicPr>
        <p:blipFill>
          <a:blip r:embed="rId4"/>
          <a:stretch>
            <a:fillRect/>
          </a:stretch>
        </p:blipFill>
        <p:spPr>
          <a:xfrm>
            <a:off x="643697" y="1554480"/>
            <a:ext cx="4930526" cy="5029200"/>
          </a:xfrm>
          <a:prstGeom prst="rect">
            <a:avLst/>
          </a:prstGeom>
        </p:spPr>
      </p:pic>
      <p:sp>
        <p:nvSpPr>
          <p:cNvPr id="4" name="Shape 1"/>
          <p:cNvSpPr/>
          <p:nvPr/>
        </p:nvSpPr>
        <p:spPr>
          <a:xfrm>
            <a:off x="6126480" y="1691640"/>
            <a:ext cx="5486400" cy="1188720"/>
          </a:xfrm>
          <a:prstGeom prst="roundRect">
            <a:avLst>
              <a:gd name="adj" fmla="val 9231"/>
            </a:avLst>
          </a:prstGeom>
          <a:solidFill>
            <a:srgbClr val="EEF4FA"/>
          </a:solidFill>
          <a:ln w="12700">
            <a:solidFill>
              <a:srgbClr val="EEF4FA"/>
            </a:solidFill>
            <a:prstDash val="solid"/>
          </a:ln>
        </p:spPr>
        <p:txBody>
          <a:bodyPr/>
          <a:lstStyle/>
          <a:p>
            <a:endParaRPr lang="es-CO"/>
          </a:p>
        </p:txBody>
      </p:sp>
      <p:sp>
        <p:nvSpPr>
          <p:cNvPr id="5" name="Text 2"/>
          <p:cNvSpPr txBox="1"/>
          <p:nvPr/>
        </p:nvSpPr>
        <p:spPr>
          <a:xfrm>
            <a:off x="6217920" y="1691640"/>
            <a:ext cx="1463040" cy="1188720"/>
          </a:xfrm>
          <a:prstGeom prst="rect">
            <a:avLst/>
          </a:prstGeom>
          <a:noFill/>
          <a:ln/>
        </p:spPr>
        <p:txBody>
          <a:bodyPr wrap="square" lIns="0" tIns="0" rIns="0" bIns="0" rtlCol="0" anchor="ctr"/>
          <a:lstStyle/>
          <a:p>
            <a:pPr marL="0" indent="0" algn="ctr">
              <a:buNone/>
            </a:pPr>
            <a:r>
              <a:rPr lang="en-US" sz="4400" b="1" dirty="0">
                <a:solidFill>
                  <a:srgbClr val="1B6FA8"/>
                </a:solidFill>
                <a:latin typeface="Tahoma" pitchFamily="34" charset="0"/>
                <a:ea typeface="Tahoma" pitchFamily="34" charset="-122"/>
                <a:cs typeface="Tahoma" pitchFamily="34" charset="-120"/>
              </a:rPr>
              <a:t>194</a:t>
            </a:r>
            <a:endParaRPr lang="en-US" sz="4400" dirty="0"/>
          </a:p>
        </p:txBody>
      </p:sp>
      <p:sp>
        <p:nvSpPr>
          <p:cNvPr id="6" name="Text 3"/>
          <p:cNvSpPr txBox="1"/>
          <p:nvPr/>
        </p:nvSpPr>
        <p:spPr>
          <a:xfrm>
            <a:off x="7772400" y="1856232"/>
            <a:ext cx="3657600" cy="411480"/>
          </a:xfrm>
          <a:prstGeom prst="rect">
            <a:avLst/>
          </a:prstGeom>
          <a:noFill/>
          <a:ln/>
        </p:spPr>
        <p:txBody>
          <a:bodyPr wrap="square" lIns="0" tIns="0" rIns="0" bIns="0" rtlCol="0" anchor="t"/>
          <a:lstStyle/>
          <a:p>
            <a:pPr marL="0" indent="0">
              <a:buNone/>
            </a:pPr>
            <a:r>
              <a:rPr lang="en-US" sz="1700" b="1" dirty="0">
                <a:solidFill>
                  <a:srgbClr val="222222"/>
                </a:solidFill>
                <a:latin typeface="Tahoma" pitchFamily="34" charset="0"/>
                <a:ea typeface="Tahoma" pitchFamily="34" charset="-122"/>
                <a:cs typeface="Tahoma" pitchFamily="34" charset="-120"/>
              </a:rPr>
              <a:t>neuronas de entrada</a:t>
            </a:r>
            <a:endParaRPr lang="en-US" sz="1700" dirty="0"/>
          </a:p>
        </p:txBody>
      </p:sp>
      <p:sp>
        <p:nvSpPr>
          <p:cNvPr id="7" name="Text 4"/>
          <p:cNvSpPr txBox="1"/>
          <p:nvPr/>
        </p:nvSpPr>
        <p:spPr>
          <a:xfrm>
            <a:off x="7772400" y="2286000"/>
            <a:ext cx="3657600" cy="457200"/>
          </a:xfrm>
          <a:prstGeom prst="rect">
            <a:avLst/>
          </a:prstGeom>
          <a:noFill/>
          <a:ln/>
        </p:spPr>
        <p:txBody>
          <a:bodyPr wrap="square" lIns="0" tIns="0" rIns="0" bIns="0" rtlCol="0" anchor="t"/>
          <a:lstStyle/>
          <a:p>
            <a:pPr marL="0" indent="0">
              <a:buNone/>
            </a:pPr>
            <a:r>
              <a:rPr lang="en-US" sz="1400" dirty="0">
                <a:solidFill>
                  <a:srgbClr val="5A5A5A"/>
                </a:solidFill>
                <a:latin typeface="Tahoma" pitchFamily="34" charset="0"/>
                <a:ea typeface="Tahoma" pitchFamily="34" charset="-122"/>
                <a:cs typeface="Tahoma" pitchFamily="34" charset="-120"/>
              </a:rPr>
              <a:t>una por palabra del vocabulario (TF-IDF)</a:t>
            </a:r>
            <a:endParaRPr lang="en-US" sz="1400" dirty="0"/>
          </a:p>
        </p:txBody>
      </p:sp>
      <p:sp>
        <p:nvSpPr>
          <p:cNvPr id="8" name="Shape 5"/>
          <p:cNvSpPr/>
          <p:nvPr/>
        </p:nvSpPr>
        <p:spPr>
          <a:xfrm>
            <a:off x="6126480" y="3063240"/>
            <a:ext cx="5486400" cy="1188720"/>
          </a:xfrm>
          <a:prstGeom prst="roundRect">
            <a:avLst>
              <a:gd name="adj" fmla="val 9231"/>
            </a:avLst>
          </a:prstGeom>
          <a:solidFill>
            <a:srgbClr val="FDF1E0"/>
          </a:solidFill>
          <a:ln w="12700">
            <a:solidFill>
              <a:srgbClr val="FDF1E0"/>
            </a:solidFill>
            <a:prstDash val="solid"/>
          </a:ln>
        </p:spPr>
        <p:txBody>
          <a:bodyPr/>
          <a:lstStyle/>
          <a:p>
            <a:endParaRPr lang="es-CO"/>
          </a:p>
        </p:txBody>
      </p:sp>
      <p:sp>
        <p:nvSpPr>
          <p:cNvPr id="9" name="Text 6"/>
          <p:cNvSpPr txBox="1"/>
          <p:nvPr/>
        </p:nvSpPr>
        <p:spPr>
          <a:xfrm>
            <a:off x="6217920" y="3063240"/>
            <a:ext cx="1463040" cy="1188720"/>
          </a:xfrm>
          <a:prstGeom prst="rect">
            <a:avLst/>
          </a:prstGeom>
          <a:noFill/>
          <a:ln/>
        </p:spPr>
        <p:txBody>
          <a:bodyPr wrap="square" lIns="0" tIns="0" rIns="0" bIns="0" rtlCol="0" anchor="ctr"/>
          <a:lstStyle/>
          <a:p>
            <a:pPr marL="0" indent="0" algn="ctr">
              <a:buNone/>
            </a:pPr>
            <a:r>
              <a:rPr lang="en-US" sz="4400" b="1" dirty="0">
                <a:solidFill>
                  <a:srgbClr val="E8890C"/>
                </a:solidFill>
                <a:latin typeface="Tahoma" pitchFamily="34" charset="0"/>
                <a:ea typeface="Tahoma" pitchFamily="34" charset="-122"/>
                <a:cs typeface="Tahoma" pitchFamily="34" charset="-120"/>
              </a:rPr>
              <a:t>0</a:t>
            </a:r>
            <a:endParaRPr lang="en-US" sz="4400" dirty="0"/>
          </a:p>
        </p:txBody>
      </p:sp>
      <p:sp>
        <p:nvSpPr>
          <p:cNvPr id="10" name="Text 7"/>
          <p:cNvSpPr txBox="1"/>
          <p:nvPr/>
        </p:nvSpPr>
        <p:spPr>
          <a:xfrm>
            <a:off x="7772400" y="3227832"/>
            <a:ext cx="3657600" cy="411480"/>
          </a:xfrm>
          <a:prstGeom prst="rect">
            <a:avLst/>
          </a:prstGeom>
          <a:noFill/>
          <a:ln/>
        </p:spPr>
        <p:txBody>
          <a:bodyPr wrap="square" lIns="0" tIns="0" rIns="0" bIns="0" rtlCol="0" anchor="t"/>
          <a:lstStyle/>
          <a:p>
            <a:pPr marL="0" indent="0">
              <a:buNone/>
            </a:pPr>
            <a:r>
              <a:rPr lang="en-US" sz="1700" b="1" dirty="0">
                <a:solidFill>
                  <a:srgbClr val="222222"/>
                </a:solidFill>
                <a:latin typeface="Tahoma" pitchFamily="34" charset="0"/>
                <a:ea typeface="Tahoma" pitchFamily="34" charset="-122"/>
                <a:cs typeface="Tahoma" pitchFamily="34" charset="-120"/>
              </a:rPr>
              <a:t>capas ocultas</a:t>
            </a:r>
            <a:endParaRPr lang="en-US" sz="1700" dirty="0"/>
          </a:p>
        </p:txBody>
      </p:sp>
      <p:sp>
        <p:nvSpPr>
          <p:cNvPr id="11" name="Text 8"/>
          <p:cNvSpPr txBox="1"/>
          <p:nvPr/>
        </p:nvSpPr>
        <p:spPr>
          <a:xfrm>
            <a:off x="7772400" y="3657600"/>
            <a:ext cx="3657600" cy="457200"/>
          </a:xfrm>
          <a:prstGeom prst="rect">
            <a:avLst/>
          </a:prstGeom>
          <a:noFill/>
          <a:ln/>
        </p:spPr>
        <p:txBody>
          <a:bodyPr wrap="square" lIns="0" tIns="0" rIns="0" bIns="0" rtlCol="0" anchor="t"/>
          <a:lstStyle/>
          <a:p>
            <a:pPr marL="0" indent="0">
              <a:buNone/>
            </a:pPr>
            <a:r>
              <a:rPr lang="en-US" sz="1400" dirty="0">
                <a:solidFill>
                  <a:srgbClr val="5A5A5A"/>
                </a:solidFill>
                <a:latin typeface="Tahoma" pitchFamily="34" charset="0"/>
                <a:ea typeface="Tahoma" pitchFamily="34" charset="-122"/>
                <a:cs typeface="Tahoma" pitchFamily="34" charset="-120"/>
              </a:rPr>
              <a:t>regresión logística = red de una capa</a:t>
            </a:r>
            <a:endParaRPr lang="en-US" sz="1400" dirty="0"/>
          </a:p>
        </p:txBody>
      </p:sp>
      <p:sp>
        <p:nvSpPr>
          <p:cNvPr id="12" name="Shape 9"/>
          <p:cNvSpPr/>
          <p:nvPr/>
        </p:nvSpPr>
        <p:spPr>
          <a:xfrm>
            <a:off x="6126480" y="4434840"/>
            <a:ext cx="5486400" cy="1188720"/>
          </a:xfrm>
          <a:prstGeom prst="roundRect">
            <a:avLst>
              <a:gd name="adj" fmla="val 9231"/>
            </a:avLst>
          </a:prstGeom>
          <a:solidFill>
            <a:srgbClr val="EEF4FA"/>
          </a:solidFill>
          <a:ln w="12700">
            <a:solidFill>
              <a:srgbClr val="EEF4FA"/>
            </a:solidFill>
            <a:prstDash val="solid"/>
          </a:ln>
        </p:spPr>
        <p:txBody>
          <a:bodyPr/>
          <a:lstStyle/>
          <a:p>
            <a:endParaRPr lang="es-CO"/>
          </a:p>
        </p:txBody>
      </p:sp>
      <p:sp>
        <p:nvSpPr>
          <p:cNvPr id="13" name="Text 10"/>
          <p:cNvSpPr txBox="1"/>
          <p:nvPr/>
        </p:nvSpPr>
        <p:spPr>
          <a:xfrm>
            <a:off x="6217920" y="4434840"/>
            <a:ext cx="1463040" cy="1188720"/>
          </a:xfrm>
          <a:prstGeom prst="rect">
            <a:avLst/>
          </a:prstGeom>
          <a:noFill/>
          <a:ln/>
        </p:spPr>
        <p:txBody>
          <a:bodyPr wrap="square" lIns="0" tIns="0" rIns="0" bIns="0" rtlCol="0" anchor="ctr"/>
          <a:lstStyle/>
          <a:p>
            <a:pPr marL="0" indent="0" algn="ctr">
              <a:buNone/>
            </a:pPr>
            <a:r>
              <a:rPr lang="en-US" sz="4400" b="1" dirty="0">
                <a:solidFill>
                  <a:srgbClr val="1B6FA8"/>
                </a:solidFill>
                <a:latin typeface="Tahoma" pitchFamily="34" charset="0"/>
                <a:ea typeface="Tahoma" pitchFamily="34" charset="-122"/>
                <a:cs typeface="Tahoma" pitchFamily="34" charset="-120"/>
              </a:rPr>
              <a:t>7</a:t>
            </a:r>
            <a:endParaRPr lang="en-US" sz="4400" dirty="0"/>
          </a:p>
        </p:txBody>
      </p:sp>
      <p:sp>
        <p:nvSpPr>
          <p:cNvPr id="14" name="Text 11"/>
          <p:cNvSpPr txBox="1"/>
          <p:nvPr/>
        </p:nvSpPr>
        <p:spPr>
          <a:xfrm>
            <a:off x="7772400" y="4599432"/>
            <a:ext cx="3657600" cy="411480"/>
          </a:xfrm>
          <a:prstGeom prst="rect">
            <a:avLst/>
          </a:prstGeom>
          <a:noFill/>
          <a:ln/>
        </p:spPr>
        <p:txBody>
          <a:bodyPr wrap="square" lIns="0" tIns="0" rIns="0" bIns="0" rtlCol="0" anchor="t"/>
          <a:lstStyle/>
          <a:p>
            <a:pPr marL="0" indent="0">
              <a:buNone/>
            </a:pPr>
            <a:r>
              <a:rPr lang="en-US" sz="1700" b="1" dirty="0">
                <a:solidFill>
                  <a:srgbClr val="222222"/>
                </a:solidFill>
                <a:latin typeface="Tahoma" pitchFamily="34" charset="0"/>
                <a:ea typeface="Tahoma" pitchFamily="34" charset="-122"/>
                <a:cs typeface="Tahoma" pitchFamily="34" charset="-120"/>
              </a:rPr>
              <a:t>neuronas de salida</a:t>
            </a:r>
            <a:endParaRPr lang="en-US" sz="1700" dirty="0"/>
          </a:p>
        </p:txBody>
      </p:sp>
      <p:sp>
        <p:nvSpPr>
          <p:cNvPr id="15" name="Text 12"/>
          <p:cNvSpPr txBox="1"/>
          <p:nvPr/>
        </p:nvSpPr>
        <p:spPr>
          <a:xfrm>
            <a:off x="7772400" y="5029200"/>
            <a:ext cx="3657600" cy="457200"/>
          </a:xfrm>
          <a:prstGeom prst="rect">
            <a:avLst/>
          </a:prstGeom>
          <a:noFill/>
          <a:ln/>
        </p:spPr>
        <p:txBody>
          <a:bodyPr wrap="square" lIns="0" tIns="0" rIns="0" bIns="0" rtlCol="0" anchor="t"/>
          <a:lstStyle/>
          <a:p>
            <a:pPr marL="0" indent="0">
              <a:buNone/>
            </a:pPr>
            <a:r>
              <a:rPr lang="en-US" sz="1400" dirty="0">
                <a:solidFill>
                  <a:srgbClr val="5A5A5A"/>
                </a:solidFill>
                <a:latin typeface="Tahoma" pitchFamily="34" charset="0"/>
                <a:ea typeface="Tahoma" pitchFamily="34" charset="-122"/>
                <a:cs typeface="Tahoma" pitchFamily="34" charset="-120"/>
              </a:rPr>
              <a:t>una por intención; umbral de confianza 0.35</a:t>
            </a:r>
            <a:endParaRPr lang="en-US" sz="1400" dirty="0"/>
          </a:p>
        </p:txBody>
      </p:sp>
      <p:sp>
        <p:nvSpPr>
          <p:cNvPr id="16" name="Text 13"/>
          <p:cNvSpPr txBox="1"/>
          <p:nvPr/>
        </p:nvSpPr>
        <p:spPr>
          <a:xfrm>
            <a:off x="6126480" y="5852160"/>
            <a:ext cx="5486400" cy="777240"/>
          </a:xfrm>
          <a:prstGeom prst="rect">
            <a:avLst/>
          </a:prstGeom>
          <a:noFill/>
          <a:ln/>
        </p:spPr>
        <p:txBody>
          <a:bodyPr wrap="square" lIns="0" tIns="0" rIns="0" bIns="0" rtlCol="0" anchor="t"/>
          <a:lstStyle/>
          <a:p>
            <a:pPr marL="0" indent="0">
              <a:buNone/>
            </a:pPr>
            <a:r>
              <a:rPr lang="en-US" sz="1300" i="1" dirty="0">
                <a:solidFill>
                  <a:srgbClr val="0E4C7C"/>
                </a:solidFill>
                <a:latin typeface="Tahoma" pitchFamily="34" charset="0"/>
                <a:ea typeface="Tahoma" pitchFamily="34" charset="-122"/>
                <a:cs typeface="Tahoma" pitchFamily="34" charset="-120"/>
              </a:rPr>
              <a:t>¿Por qué sin capas ocultas? Con 65 ejemplos, una red profunda memoriza en vez de aprender. El modelo lineal generaliza mejor y es explicable.</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¿Cómo lo entrenamos?</a:t>
            </a:r>
            <a:endParaRPr lang="en-US" sz="2800" dirty="0"/>
          </a:p>
        </p:txBody>
      </p:sp>
      <p:graphicFrame>
        <p:nvGraphicFramePr>
          <p:cNvPr id="3" name="Chart 0"/>
          <p:cNvGraphicFramePr/>
          <p:nvPr/>
        </p:nvGraphicFramePr>
        <p:xfrm>
          <a:off x="457200" y="1600200"/>
          <a:ext cx="6309360" cy="4846320"/>
        </p:xfrm>
        <a:graphic>
          <a:graphicData uri="http://schemas.openxmlformats.org/drawingml/2006/chart">
            <c:chart xmlns:c="http://schemas.openxmlformats.org/drawingml/2006/chart" xmlns:r="http://schemas.openxmlformats.org/officeDocument/2006/relationships" r:id="rId4"/>
          </a:graphicData>
        </a:graphic>
      </p:graphicFrame>
      <p:sp>
        <p:nvSpPr>
          <p:cNvPr id="4" name="Shape 1"/>
          <p:cNvSpPr/>
          <p:nvPr/>
        </p:nvSpPr>
        <p:spPr>
          <a:xfrm>
            <a:off x="7132320" y="1828800"/>
            <a:ext cx="548640" cy="548640"/>
          </a:xfrm>
          <a:prstGeom prst="ellipse">
            <a:avLst/>
          </a:prstGeom>
          <a:solidFill>
            <a:srgbClr val="E8890C"/>
          </a:solidFill>
          <a:ln w="12700">
            <a:solidFill>
              <a:srgbClr val="E8890C"/>
            </a:solidFill>
            <a:prstDash val="solid"/>
          </a:ln>
        </p:spPr>
        <p:txBody>
          <a:bodyPr/>
          <a:lstStyle/>
          <a:p>
            <a:endParaRPr lang="es-CO"/>
          </a:p>
        </p:txBody>
      </p:sp>
      <p:sp>
        <p:nvSpPr>
          <p:cNvPr id="5" name="Text 2"/>
          <p:cNvSpPr txBox="1"/>
          <p:nvPr/>
        </p:nvSpPr>
        <p:spPr>
          <a:xfrm>
            <a:off x="7132320" y="182880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1</a:t>
            </a:r>
            <a:endParaRPr lang="en-US" sz="1800" dirty="0"/>
          </a:p>
        </p:txBody>
      </p:sp>
      <p:sp>
        <p:nvSpPr>
          <p:cNvPr id="6" name="Text 3"/>
          <p:cNvSpPr txBox="1"/>
          <p:nvPr/>
        </p:nvSpPr>
        <p:spPr>
          <a:xfrm>
            <a:off x="7863840" y="1729409"/>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Preprocesar: minúsculas, sin tildes, sin palabras vacías</a:t>
            </a:r>
            <a:endParaRPr lang="en-US" sz="1500" dirty="0"/>
          </a:p>
        </p:txBody>
      </p:sp>
      <p:sp>
        <p:nvSpPr>
          <p:cNvPr id="7" name="Shape 4"/>
          <p:cNvSpPr/>
          <p:nvPr/>
        </p:nvSpPr>
        <p:spPr>
          <a:xfrm>
            <a:off x="7132320" y="2926080"/>
            <a:ext cx="548640" cy="548640"/>
          </a:xfrm>
          <a:prstGeom prst="ellipse">
            <a:avLst/>
          </a:prstGeom>
          <a:solidFill>
            <a:srgbClr val="E8890C"/>
          </a:solidFill>
          <a:ln w="12700">
            <a:solidFill>
              <a:srgbClr val="E8890C"/>
            </a:solidFill>
            <a:prstDash val="solid"/>
          </a:ln>
        </p:spPr>
        <p:txBody>
          <a:bodyPr/>
          <a:lstStyle/>
          <a:p>
            <a:endParaRPr lang="es-CO"/>
          </a:p>
        </p:txBody>
      </p:sp>
      <p:sp>
        <p:nvSpPr>
          <p:cNvPr id="8" name="Text 5"/>
          <p:cNvSpPr txBox="1"/>
          <p:nvPr/>
        </p:nvSpPr>
        <p:spPr>
          <a:xfrm>
            <a:off x="7132320" y="292608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2</a:t>
            </a:r>
            <a:endParaRPr lang="en-US" sz="1800" dirty="0"/>
          </a:p>
        </p:txBody>
      </p:sp>
      <p:sp>
        <p:nvSpPr>
          <p:cNvPr id="9" name="Text 6"/>
          <p:cNvSpPr txBox="1"/>
          <p:nvPr/>
        </p:nvSpPr>
        <p:spPr>
          <a:xfrm>
            <a:off x="7863840" y="2834640"/>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TF-IDF convierte cada frase en 194 números</a:t>
            </a:r>
            <a:endParaRPr lang="en-US" sz="1500" dirty="0"/>
          </a:p>
        </p:txBody>
      </p:sp>
      <p:sp>
        <p:nvSpPr>
          <p:cNvPr id="10" name="Shape 7"/>
          <p:cNvSpPr/>
          <p:nvPr/>
        </p:nvSpPr>
        <p:spPr>
          <a:xfrm>
            <a:off x="7132320" y="4023360"/>
            <a:ext cx="548640" cy="548640"/>
          </a:xfrm>
          <a:prstGeom prst="ellipse">
            <a:avLst/>
          </a:prstGeom>
          <a:solidFill>
            <a:srgbClr val="E8890C"/>
          </a:solidFill>
          <a:ln w="12700">
            <a:solidFill>
              <a:srgbClr val="E8890C"/>
            </a:solidFill>
            <a:prstDash val="solid"/>
          </a:ln>
        </p:spPr>
        <p:txBody>
          <a:bodyPr/>
          <a:lstStyle/>
          <a:p>
            <a:endParaRPr lang="es-CO"/>
          </a:p>
        </p:txBody>
      </p:sp>
      <p:sp>
        <p:nvSpPr>
          <p:cNvPr id="11" name="Text 8"/>
          <p:cNvSpPr txBox="1"/>
          <p:nvPr/>
        </p:nvSpPr>
        <p:spPr>
          <a:xfrm>
            <a:off x="7132320" y="402336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3</a:t>
            </a:r>
            <a:endParaRPr lang="en-US" sz="1800" dirty="0"/>
          </a:p>
        </p:txBody>
      </p:sp>
      <p:sp>
        <p:nvSpPr>
          <p:cNvPr id="12" name="Text 9"/>
          <p:cNvSpPr txBox="1"/>
          <p:nvPr/>
        </p:nvSpPr>
        <p:spPr>
          <a:xfrm>
            <a:off x="7863840" y="3931920"/>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Regresión logística aprende el peso de cada palabra por intención</a:t>
            </a:r>
            <a:endParaRPr lang="en-US" sz="1500" dirty="0"/>
          </a:p>
        </p:txBody>
      </p:sp>
      <p:sp>
        <p:nvSpPr>
          <p:cNvPr id="13" name="Shape 10"/>
          <p:cNvSpPr/>
          <p:nvPr/>
        </p:nvSpPr>
        <p:spPr>
          <a:xfrm>
            <a:off x="7132320" y="5120640"/>
            <a:ext cx="548640" cy="548640"/>
          </a:xfrm>
          <a:prstGeom prst="ellipse">
            <a:avLst/>
          </a:prstGeom>
          <a:solidFill>
            <a:srgbClr val="E8890C"/>
          </a:solidFill>
          <a:ln w="12700">
            <a:solidFill>
              <a:srgbClr val="E8890C"/>
            </a:solidFill>
            <a:prstDash val="solid"/>
          </a:ln>
        </p:spPr>
        <p:txBody>
          <a:bodyPr/>
          <a:lstStyle/>
          <a:p>
            <a:endParaRPr lang="es-CO"/>
          </a:p>
        </p:txBody>
      </p:sp>
      <p:sp>
        <p:nvSpPr>
          <p:cNvPr id="14" name="Text 11"/>
          <p:cNvSpPr txBox="1"/>
          <p:nvPr/>
        </p:nvSpPr>
        <p:spPr>
          <a:xfrm>
            <a:off x="7132320" y="5120640"/>
            <a:ext cx="548640" cy="548640"/>
          </a:xfrm>
          <a:prstGeom prst="rect">
            <a:avLst/>
          </a:prstGeom>
          <a:noFill/>
          <a:ln/>
        </p:spPr>
        <p:txBody>
          <a:bodyPr wrap="square" lIns="0" tIns="0" rIns="0" bIns="0" rtlCol="0" anchor="ctr"/>
          <a:lstStyle/>
          <a:p>
            <a:pPr marL="0" indent="0" algn="ctr">
              <a:buNone/>
            </a:pPr>
            <a:r>
              <a:rPr lang="en-US" sz="1800" b="1" dirty="0">
                <a:solidFill>
                  <a:srgbClr val="FFFFFF"/>
                </a:solidFill>
                <a:latin typeface="Tahoma" pitchFamily="34" charset="0"/>
                <a:ea typeface="Tahoma" pitchFamily="34" charset="-122"/>
                <a:cs typeface="Tahoma" pitchFamily="34" charset="-120"/>
              </a:rPr>
              <a:t>4</a:t>
            </a:r>
            <a:endParaRPr lang="en-US" sz="1800" dirty="0"/>
          </a:p>
        </p:txBody>
      </p:sp>
      <p:sp>
        <p:nvSpPr>
          <p:cNvPr id="15" name="Text 12"/>
          <p:cNvSpPr txBox="1"/>
          <p:nvPr/>
        </p:nvSpPr>
        <p:spPr>
          <a:xfrm>
            <a:off x="7863840" y="5029200"/>
            <a:ext cx="393192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Validación cruzada de 5 partes y modelo final con las 65 frases</a:t>
            </a:r>
            <a:endParaRPr lang="en-US" sz="15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Métricas de la primera evaluación</a:t>
            </a:r>
            <a:endParaRPr lang="en-US" sz="2800" dirty="0"/>
          </a:p>
        </p:txBody>
      </p:sp>
      <p:sp>
        <p:nvSpPr>
          <p:cNvPr id="3" name="Shape 1"/>
          <p:cNvSpPr/>
          <p:nvPr/>
        </p:nvSpPr>
        <p:spPr>
          <a:xfrm>
            <a:off x="54864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4" name="Text 2"/>
          <p:cNvSpPr txBox="1"/>
          <p:nvPr/>
        </p:nvSpPr>
        <p:spPr>
          <a:xfrm>
            <a:off x="548640" y="1965960"/>
            <a:ext cx="2606040" cy="914400"/>
          </a:xfrm>
          <a:prstGeom prst="rect">
            <a:avLst/>
          </a:prstGeom>
          <a:noFill/>
          <a:ln/>
        </p:spPr>
        <p:txBody>
          <a:bodyPr wrap="square" lIns="0" tIns="0" rIns="0" bIns="0" rtlCol="0" anchor="ctr"/>
          <a:lstStyle/>
          <a:p>
            <a:pPr marL="0" indent="0" algn="ctr">
              <a:buNone/>
            </a:pPr>
            <a:r>
              <a:rPr lang="en-US" sz="4000" b="1" dirty="0">
                <a:solidFill>
                  <a:srgbClr val="1B6FA8"/>
                </a:solidFill>
                <a:latin typeface="Tahoma" pitchFamily="34" charset="0"/>
                <a:ea typeface="Tahoma" pitchFamily="34" charset="-122"/>
                <a:cs typeface="Tahoma" pitchFamily="34" charset="-120"/>
              </a:rPr>
              <a:t>82.1 %</a:t>
            </a:r>
            <a:endParaRPr lang="en-US" sz="4000" dirty="0"/>
          </a:p>
        </p:txBody>
      </p:sp>
      <p:sp>
        <p:nvSpPr>
          <p:cNvPr id="5" name="Text 3"/>
          <p:cNvSpPr txBox="1"/>
          <p:nvPr/>
        </p:nvSpPr>
        <p:spPr>
          <a:xfrm>
            <a:off x="54864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Exactitud</a:t>
            </a:r>
            <a:endParaRPr lang="en-US" sz="1700" dirty="0"/>
          </a:p>
        </p:txBody>
      </p:sp>
      <p:sp>
        <p:nvSpPr>
          <p:cNvPr id="6" name="Text 4"/>
          <p:cNvSpPr txBox="1"/>
          <p:nvPr/>
        </p:nvSpPr>
        <p:spPr>
          <a:xfrm>
            <a:off x="68580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intención, 28 frases nuevas</a:t>
            </a:r>
            <a:endParaRPr lang="en-US" sz="1300" dirty="0"/>
          </a:p>
        </p:txBody>
      </p:sp>
      <p:sp>
        <p:nvSpPr>
          <p:cNvPr id="7" name="Shape 5"/>
          <p:cNvSpPr/>
          <p:nvPr/>
        </p:nvSpPr>
        <p:spPr>
          <a:xfrm>
            <a:off x="338328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8" name="Text 6"/>
          <p:cNvSpPr txBox="1"/>
          <p:nvPr/>
        </p:nvSpPr>
        <p:spPr>
          <a:xfrm>
            <a:off x="3383280" y="1965960"/>
            <a:ext cx="2606040" cy="914400"/>
          </a:xfrm>
          <a:prstGeom prst="rect">
            <a:avLst/>
          </a:prstGeom>
          <a:noFill/>
          <a:ln/>
        </p:spPr>
        <p:txBody>
          <a:bodyPr wrap="square" lIns="0" tIns="0" rIns="0" bIns="0" rtlCol="0" anchor="ctr"/>
          <a:lstStyle/>
          <a:p>
            <a:pPr marL="0" indent="0" algn="ctr">
              <a:buNone/>
            </a:pPr>
            <a:r>
              <a:rPr lang="en-US" sz="4000" b="1" dirty="0">
                <a:solidFill>
                  <a:srgbClr val="1B6FA8"/>
                </a:solidFill>
                <a:latin typeface="Tahoma" pitchFamily="34" charset="0"/>
                <a:ea typeface="Tahoma" pitchFamily="34" charset="-122"/>
                <a:cs typeface="Tahoma" pitchFamily="34" charset="-120"/>
              </a:rPr>
              <a:t>81.3 %</a:t>
            </a:r>
            <a:endParaRPr lang="en-US" sz="4000" dirty="0"/>
          </a:p>
        </p:txBody>
      </p:sp>
      <p:sp>
        <p:nvSpPr>
          <p:cNvPr id="9" name="Text 7"/>
          <p:cNvSpPr txBox="1"/>
          <p:nvPr/>
        </p:nvSpPr>
        <p:spPr>
          <a:xfrm>
            <a:off x="338328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F1 macro</a:t>
            </a:r>
            <a:endParaRPr lang="en-US" sz="1700" dirty="0"/>
          </a:p>
        </p:txBody>
      </p:sp>
      <p:sp>
        <p:nvSpPr>
          <p:cNvPr id="10" name="Text 8"/>
          <p:cNvSpPr txBox="1"/>
          <p:nvPr/>
        </p:nvSpPr>
        <p:spPr>
          <a:xfrm>
            <a:off x="352044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intención, 28 frases nuevas</a:t>
            </a:r>
            <a:endParaRPr lang="en-US" sz="1300" dirty="0"/>
          </a:p>
        </p:txBody>
      </p:sp>
      <p:sp>
        <p:nvSpPr>
          <p:cNvPr id="11" name="Shape 9"/>
          <p:cNvSpPr/>
          <p:nvPr/>
        </p:nvSpPr>
        <p:spPr>
          <a:xfrm>
            <a:off x="621792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12" name="Text 10"/>
          <p:cNvSpPr txBox="1"/>
          <p:nvPr/>
        </p:nvSpPr>
        <p:spPr>
          <a:xfrm>
            <a:off x="6217920" y="1965960"/>
            <a:ext cx="2606040" cy="914400"/>
          </a:xfrm>
          <a:prstGeom prst="rect">
            <a:avLst/>
          </a:prstGeom>
          <a:noFill/>
          <a:ln/>
        </p:spPr>
        <p:txBody>
          <a:bodyPr wrap="square" lIns="0" tIns="0" rIns="0" bIns="0" rtlCol="0" anchor="ctr"/>
          <a:lstStyle/>
          <a:p>
            <a:pPr marL="0" indent="0" algn="ctr">
              <a:buNone/>
            </a:pPr>
            <a:r>
              <a:rPr lang="en-US" sz="4000" b="1" dirty="0">
                <a:solidFill>
                  <a:srgbClr val="2E8B57"/>
                </a:solidFill>
                <a:latin typeface="Tahoma" pitchFamily="34" charset="0"/>
                <a:ea typeface="Tahoma" pitchFamily="34" charset="-122"/>
                <a:cs typeface="Tahoma" pitchFamily="34" charset="-120"/>
              </a:rPr>
              <a:t>95 %</a:t>
            </a:r>
            <a:endParaRPr lang="en-US" sz="4000" dirty="0"/>
          </a:p>
        </p:txBody>
      </p:sp>
      <p:sp>
        <p:nvSpPr>
          <p:cNvPr id="13" name="Text 11"/>
          <p:cNvSpPr txBox="1"/>
          <p:nvPr/>
        </p:nvSpPr>
        <p:spPr>
          <a:xfrm>
            <a:off x="621792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Precisión NER</a:t>
            </a:r>
            <a:endParaRPr lang="en-US" sz="1700" dirty="0"/>
          </a:p>
        </p:txBody>
      </p:sp>
      <p:sp>
        <p:nvSpPr>
          <p:cNvPr id="14" name="Text 12"/>
          <p:cNvSpPr txBox="1"/>
          <p:nvPr/>
        </p:nvSpPr>
        <p:spPr>
          <a:xfrm>
            <a:off x="635508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12 frases de prueba</a:t>
            </a:r>
            <a:endParaRPr lang="en-US" sz="1300" dirty="0"/>
          </a:p>
        </p:txBody>
      </p:sp>
      <p:sp>
        <p:nvSpPr>
          <p:cNvPr id="15" name="Shape 13"/>
          <p:cNvSpPr/>
          <p:nvPr/>
        </p:nvSpPr>
        <p:spPr>
          <a:xfrm>
            <a:off x="9052560" y="1783080"/>
            <a:ext cx="2606040" cy="2377440"/>
          </a:xfrm>
          <a:prstGeom prst="roundRect">
            <a:avLst>
              <a:gd name="adj" fmla="val 4615"/>
            </a:avLst>
          </a:prstGeom>
          <a:solidFill>
            <a:srgbClr val="EEF4FA"/>
          </a:solidFill>
          <a:ln w="12700">
            <a:solidFill>
              <a:srgbClr val="EEF4FA"/>
            </a:solidFill>
            <a:prstDash val="solid"/>
          </a:ln>
        </p:spPr>
        <p:txBody>
          <a:bodyPr/>
          <a:lstStyle/>
          <a:p>
            <a:endParaRPr lang="es-CO"/>
          </a:p>
        </p:txBody>
      </p:sp>
      <p:sp>
        <p:nvSpPr>
          <p:cNvPr id="16" name="Text 14"/>
          <p:cNvSpPr txBox="1"/>
          <p:nvPr/>
        </p:nvSpPr>
        <p:spPr>
          <a:xfrm>
            <a:off x="9052560" y="1965960"/>
            <a:ext cx="2606040" cy="914400"/>
          </a:xfrm>
          <a:prstGeom prst="rect">
            <a:avLst/>
          </a:prstGeom>
          <a:noFill/>
          <a:ln/>
        </p:spPr>
        <p:txBody>
          <a:bodyPr wrap="square" lIns="0" tIns="0" rIns="0" bIns="0" rtlCol="0" anchor="ctr"/>
          <a:lstStyle/>
          <a:p>
            <a:pPr marL="0" indent="0" algn="ctr">
              <a:buNone/>
            </a:pPr>
            <a:r>
              <a:rPr lang="en-US" sz="4000" b="1" dirty="0">
                <a:solidFill>
                  <a:srgbClr val="2E8B57"/>
                </a:solidFill>
                <a:latin typeface="Tahoma" pitchFamily="34" charset="0"/>
                <a:ea typeface="Tahoma" pitchFamily="34" charset="-122"/>
                <a:cs typeface="Tahoma" pitchFamily="34" charset="-120"/>
              </a:rPr>
              <a:t>100 %</a:t>
            </a:r>
            <a:endParaRPr lang="en-US" sz="4000" dirty="0"/>
          </a:p>
        </p:txBody>
      </p:sp>
      <p:sp>
        <p:nvSpPr>
          <p:cNvPr id="17" name="Text 15"/>
          <p:cNvSpPr txBox="1"/>
          <p:nvPr/>
        </p:nvSpPr>
        <p:spPr>
          <a:xfrm>
            <a:off x="9052560" y="2926080"/>
            <a:ext cx="2606040" cy="411480"/>
          </a:xfrm>
          <a:prstGeom prst="rect">
            <a:avLst/>
          </a:prstGeom>
          <a:noFill/>
          <a:ln/>
        </p:spPr>
        <p:txBody>
          <a:bodyPr wrap="square" lIns="0" tIns="0" rIns="0" bIns="0" rtlCol="0" anchor="t"/>
          <a:lstStyle/>
          <a:p>
            <a:pPr marL="0" indent="0" algn="ctr">
              <a:buNone/>
            </a:pPr>
            <a:r>
              <a:rPr lang="en-US" sz="1700" b="1" dirty="0">
                <a:solidFill>
                  <a:srgbClr val="222222"/>
                </a:solidFill>
                <a:latin typeface="Tahoma" pitchFamily="34" charset="0"/>
                <a:ea typeface="Tahoma" pitchFamily="34" charset="-122"/>
                <a:cs typeface="Tahoma" pitchFamily="34" charset="-120"/>
              </a:rPr>
              <a:t>Precisión@3</a:t>
            </a:r>
            <a:endParaRPr lang="en-US" sz="1700" dirty="0"/>
          </a:p>
        </p:txBody>
      </p:sp>
      <p:sp>
        <p:nvSpPr>
          <p:cNvPr id="18" name="Text 16"/>
          <p:cNvSpPr txBox="1"/>
          <p:nvPr/>
        </p:nvSpPr>
        <p:spPr>
          <a:xfrm>
            <a:off x="9189720" y="3383280"/>
            <a:ext cx="2331720" cy="548640"/>
          </a:xfrm>
          <a:prstGeom prst="rect">
            <a:avLst/>
          </a:prstGeom>
          <a:noFill/>
          <a:ln/>
        </p:spPr>
        <p:txBody>
          <a:bodyPr wrap="square" lIns="0" tIns="0" rIns="0" bIns="0" rtlCol="0" anchor="t"/>
          <a:lstStyle/>
          <a:p>
            <a:pPr marL="0" indent="0" algn="ctr">
              <a:buNone/>
            </a:pPr>
            <a:r>
              <a:rPr lang="en-US" sz="1300" dirty="0">
                <a:solidFill>
                  <a:srgbClr val="5A5A5A"/>
                </a:solidFill>
                <a:latin typeface="Tahoma" pitchFamily="34" charset="0"/>
                <a:ea typeface="Tahoma" pitchFamily="34" charset="-122"/>
                <a:cs typeface="Tahoma" pitchFamily="34" charset="-120"/>
              </a:rPr>
              <a:t>recomendador, 6 casos</a:t>
            </a:r>
            <a:endParaRPr lang="en-US" sz="1300" dirty="0"/>
          </a:p>
        </p:txBody>
      </p:sp>
      <p:sp>
        <p:nvSpPr>
          <p:cNvPr id="19" name="Shape 17"/>
          <p:cNvSpPr/>
          <p:nvPr/>
        </p:nvSpPr>
        <p:spPr>
          <a:xfrm>
            <a:off x="548640" y="4480560"/>
            <a:ext cx="11109960" cy="1645920"/>
          </a:xfrm>
          <a:prstGeom prst="roundRect">
            <a:avLst>
              <a:gd name="adj" fmla="val 6667"/>
            </a:avLst>
          </a:prstGeom>
          <a:solidFill>
            <a:srgbClr val="FDF1E0"/>
          </a:solidFill>
          <a:ln w="12700">
            <a:solidFill>
              <a:srgbClr val="FDF1E0"/>
            </a:solidFill>
            <a:prstDash val="solid"/>
          </a:ln>
        </p:spPr>
        <p:txBody>
          <a:bodyPr/>
          <a:lstStyle/>
          <a:p>
            <a:endParaRPr lang="es-CO"/>
          </a:p>
        </p:txBody>
      </p:sp>
      <p:sp>
        <p:nvSpPr>
          <p:cNvPr id="20" name="Shape 18"/>
          <p:cNvSpPr/>
          <p:nvPr/>
        </p:nvSpPr>
        <p:spPr>
          <a:xfrm>
            <a:off x="868680" y="4892040"/>
            <a:ext cx="777240" cy="777240"/>
          </a:xfrm>
          <a:prstGeom prst="ellipse">
            <a:avLst/>
          </a:prstGeom>
          <a:solidFill>
            <a:srgbClr val="E8890C"/>
          </a:solidFill>
          <a:ln w="12700">
            <a:solidFill>
              <a:srgbClr val="E8890C"/>
            </a:solidFill>
            <a:prstDash val="solid"/>
          </a:ln>
        </p:spPr>
        <p:txBody>
          <a:bodyPr/>
          <a:lstStyle/>
          <a:p>
            <a:endParaRPr lang="es-CO"/>
          </a:p>
        </p:txBody>
      </p:sp>
      <p:pic>
        <p:nvPicPr>
          <p:cNvPr id="21" name="Image 0" descr="preencoded.png"/>
          <p:cNvPicPr>
            <a:picLocks noChangeAspect="1"/>
          </p:cNvPicPr>
          <p:nvPr/>
        </p:nvPicPr>
        <p:blipFill>
          <a:blip r:embed="rId4"/>
          <a:stretch>
            <a:fillRect/>
          </a:stretch>
        </p:blipFill>
        <p:spPr>
          <a:xfrm>
            <a:off x="1055218" y="5078578"/>
            <a:ext cx="404165" cy="404165"/>
          </a:xfrm>
          <a:prstGeom prst="rect">
            <a:avLst/>
          </a:prstGeom>
        </p:spPr>
      </p:pic>
      <p:sp>
        <p:nvSpPr>
          <p:cNvPr id="22" name="Text 19"/>
          <p:cNvSpPr txBox="1"/>
          <p:nvPr/>
        </p:nvSpPr>
        <p:spPr>
          <a:xfrm>
            <a:off x="1874520" y="4663440"/>
            <a:ext cx="9509760" cy="1325880"/>
          </a:xfrm>
          <a:prstGeom prst="rect">
            <a:avLst/>
          </a:prstGeom>
          <a:noFill/>
          <a:ln/>
        </p:spPr>
        <p:txBody>
          <a:bodyPr wrap="square" lIns="0" tIns="0" rIns="0" bIns="0" rtlCol="0" anchor="ctr"/>
          <a:lstStyle/>
          <a:p>
            <a:pPr marL="0" indent="0">
              <a:buNone/>
            </a:pPr>
            <a:r>
              <a:rPr lang="en-US" sz="1600" b="1" dirty="0">
                <a:solidFill>
                  <a:srgbClr val="9A5400"/>
                </a:solidFill>
                <a:latin typeface="Tahoma" pitchFamily="34" charset="0"/>
                <a:ea typeface="Tahoma" pitchFamily="34" charset="-122"/>
                <a:cs typeface="Tahoma" pitchFamily="34" charset="-120"/>
              </a:rPr>
              <a:t>Hallazgo: validación cruzada de 33.8 %</a:t>
            </a:r>
            <a:endParaRPr lang="en-US" sz="1600" dirty="0"/>
          </a:p>
          <a:p>
            <a:pPr marL="0" indent="0">
              <a:buNone/>
            </a:pPr>
            <a:r>
              <a:rPr lang="en-US" sz="1600" dirty="0">
                <a:solidFill>
                  <a:srgbClr val="222222"/>
                </a:solidFill>
                <a:latin typeface="Tahoma" pitchFamily="34" charset="0"/>
                <a:ea typeface="Tahoma" pitchFamily="34" charset="-122"/>
                <a:cs typeface="Tahoma" pitchFamily="34" charset="-120"/>
              </a:rPr>
              <a:t>El modelo acierta con frases nuevas, pero con solo 65 ejemplos todavía es inestable. Por eso el sprint 7 amplía el dataset a más de 200 frases.</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Lo que falta (semanas 8 a 13)</a:t>
            </a:r>
            <a:endParaRPr lang="en-US" sz="2800" dirty="0"/>
          </a:p>
        </p:txBody>
      </p:sp>
      <p:sp>
        <p:nvSpPr>
          <p:cNvPr id="3" name="Shape 1"/>
          <p:cNvSpPr/>
          <p:nvPr/>
        </p:nvSpPr>
        <p:spPr>
          <a:xfrm>
            <a:off x="960120" y="2011680"/>
            <a:ext cx="0" cy="3931920"/>
          </a:xfrm>
          <a:prstGeom prst="line">
            <a:avLst/>
          </a:prstGeom>
          <a:noFill/>
          <a:ln w="25400">
            <a:solidFill>
              <a:srgbClr val="BFBFBF"/>
            </a:solidFill>
            <a:prstDash val="solid"/>
          </a:ln>
        </p:spPr>
        <p:txBody>
          <a:bodyPr/>
          <a:lstStyle/>
          <a:p>
            <a:endParaRPr lang="es-CO"/>
          </a:p>
        </p:txBody>
      </p:sp>
      <p:sp>
        <p:nvSpPr>
          <p:cNvPr id="4" name="Shape 2"/>
          <p:cNvSpPr/>
          <p:nvPr/>
        </p:nvSpPr>
        <p:spPr>
          <a:xfrm>
            <a:off x="731520" y="1892808"/>
            <a:ext cx="457200" cy="457200"/>
          </a:xfrm>
          <a:prstGeom prst="ellipse">
            <a:avLst/>
          </a:prstGeom>
          <a:solidFill>
            <a:srgbClr val="E8890C"/>
          </a:solidFill>
          <a:ln w="25400">
            <a:solidFill>
              <a:srgbClr val="FFFFFF"/>
            </a:solidFill>
            <a:prstDash val="solid"/>
          </a:ln>
        </p:spPr>
        <p:txBody>
          <a:bodyPr/>
          <a:lstStyle/>
          <a:p>
            <a:endParaRPr lang="es-CO"/>
          </a:p>
        </p:txBody>
      </p:sp>
      <p:sp>
        <p:nvSpPr>
          <p:cNvPr id="5" name="Shape 3"/>
          <p:cNvSpPr/>
          <p:nvPr/>
        </p:nvSpPr>
        <p:spPr>
          <a:xfrm>
            <a:off x="1463040" y="1783080"/>
            <a:ext cx="10149840" cy="868680"/>
          </a:xfrm>
          <a:prstGeom prst="roundRect">
            <a:avLst>
              <a:gd name="adj" fmla="val 12632"/>
            </a:avLst>
          </a:prstGeom>
          <a:solidFill>
            <a:srgbClr val="FDF1E0"/>
          </a:solidFill>
          <a:ln w="12700">
            <a:solidFill>
              <a:srgbClr val="FDF1E0"/>
            </a:solidFill>
            <a:prstDash val="solid"/>
          </a:ln>
        </p:spPr>
        <p:txBody>
          <a:bodyPr/>
          <a:lstStyle/>
          <a:p>
            <a:endParaRPr lang="es-CO"/>
          </a:p>
        </p:txBody>
      </p:sp>
      <p:sp>
        <p:nvSpPr>
          <p:cNvPr id="6" name="Text 4"/>
          <p:cNvSpPr txBox="1"/>
          <p:nvPr/>
        </p:nvSpPr>
        <p:spPr>
          <a:xfrm>
            <a:off x="1691640" y="178308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7</a:t>
            </a:r>
            <a:endParaRPr lang="en-US" sz="1700" dirty="0"/>
          </a:p>
        </p:txBody>
      </p:sp>
      <p:sp>
        <p:nvSpPr>
          <p:cNvPr id="7" name="Text 5"/>
          <p:cNvSpPr txBox="1"/>
          <p:nvPr/>
        </p:nvSpPr>
        <p:spPr>
          <a:xfrm>
            <a:off x="3063240" y="178308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8–9</a:t>
            </a:r>
            <a:endParaRPr lang="en-US" sz="1400" dirty="0"/>
          </a:p>
        </p:txBody>
      </p:sp>
      <p:sp>
        <p:nvSpPr>
          <p:cNvPr id="8" name="Text 6"/>
          <p:cNvSpPr txBox="1"/>
          <p:nvPr/>
        </p:nvSpPr>
        <p:spPr>
          <a:xfrm>
            <a:off x="4480560" y="178308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Dataset de 65 → 200+ frases, reentrenar y sugerencia de pedido en Pedidos</a:t>
            </a:r>
            <a:endParaRPr lang="en-US" sz="1500" dirty="0"/>
          </a:p>
        </p:txBody>
      </p:sp>
      <p:sp>
        <p:nvSpPr>
          <p:cNvPr id="9" name="Shape 7"/>
          <p:cNvSpPr/>
          <p:nvPr/>
        </p:nvSpPr>
        <p:spPr>
          <a:xfrm>
            <a:off x="731520" y="2990088"/>
            <a:ext cx="457200" cy="457200"/>
          </a:xfrm>
          <a:prstGeom prst="ellipse">
            <a:avLst/>
          </a:prstGeom>
          <a:solidFill>
            <a:srgbClr val="BFBFBF"/>
          </a:solidFill>
          <a:ln w="25400">
            <a:solidFill>
              <a:srgbClr val="FFFFFF"/>
            </a:solidFill>
            <a:prstDash val="solid"/>
          </a:ln>
        </p:spPr>
        <p:txBody>
          <a:bodyPr/>
          <a:lstStyle/>
          <a:p>
            <a:endParaRPr lang="es-CO"/>
          </a:p>
        </p:txBody>
      </p:sp>
      <p:sp>
        <p:nvSpPr>
          <p:cNvPr id="10" name="Shape 8"/>
          <p:cNvSpPr/>
          <p:nvPr/>
        </p:nvSpPr>
        <p:spPr>
          <a:xfrm>
            <a:off x="1463040" y="2880360"/>
            <a:ext cx="10149840" cy="868680"/>
          </a:xfrm>
          <a:prstGeom prst="roundRect">
            <a:avLst>
              <a:gd name="adj" fmla="val 12632"/>
            </a:avLst>
          </a:prstGeom>
          <a:solidFill>
            <a:srgbClr val="EEF4FA"/>
          </a:solidFill>
          <a:ln w="12700">
            <a:solidFill>
              <a:srgbClr val="EEF4FA"/>
            </a:solidFill>
            <a:prstDash val="solid"/>
          </a:ln>
        </p:spPr>
        <p:txBody>
          <a:bodyPr/>
          <a:lstStyle/>
          <a:p>
            <a:endParaRPr lang="es-CO"/>
          </a:p>
        </p:txBody>
      </p:sp>
      <p:sp>
        <p:nvSpPr>
          <p:cNvPr id="11" name="Text 9"/>
          <p:cNvSpPr txBox="1"/>
          <p:nvPr/>
        </p:nvSpPr>
        <p:spPr>
          <a:xfrm>
            <a:off x="1691640" y="288036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8</a:t>
            </a:r>
            <a:endParaRPr lang="en-US" sz="1700" dirty="0"/>
          </a:p>
        </p:txBody>
      </p:sp>
      <p:sp>
        <p:nvSpPr>
          <p:cNvPr id="12" name="Text 10"/>
          <p:cNvSpPr txBox="1"/>
          <p:nvPr/>
        </p:nvSpPr>
        <p:spPr>
          <a:xfrm>
            <a:off x="3063240" y="288036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10–11</a:t>
            </a:r>
            <a:endParaRPr lang="en-US" sz="1400" dirty="0"/>
          </a:p>
        </p:txBody>
      </p:sp>
      <p:sp>
        <p:nvSpPr>
          <p:cNvPr id="13" name="Text 11"/>
          <p:cNvSpPr txBox="1"/>
          <p:nvPr/>
        </p:nvSpPr>
        <p:spPr>
          <a:xfrm>
            <a:off x="4480560" y="288036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Venta cruzada en Ventas y Cotizaciones, aviso «¿Quisiste decir…?» y más categorías en el NER</a:t>
            </a:r>
            <a:endParaRPr lang="en-US" sz="1500" dirty="0"/>
          </a:p>
        </p:txBody>
      </p:sp>
      <p:sp>
        <p:nvSpPr>
          <p:cNvPr id="14" name="Shape 12"/>
          <p:cNvSpPr/>
          <p:nvPr/>
        </p:nvSpPr>
        <p:spPr>
          <a:xfrm>
            <a:off x="731520" y="4087368"/>
            <a:ext cx="457200" cy="457200"/>
          </a:xfrm>
          <a:prstGeom prst="ellipse">
            <a:avLst/>
          </a:prstGeom>
          <a:solidFill>
            <a:srgbClr val="BFBFBF"/>
          </a:solidFill>
          <a:ln w="25400">
            <a:solidFill>
              <a:srgbClr val="FFFFFF"/>
            </a:solidFill>
            <a:prstDash val="solid"/>
          </a:ln>
        </p:spPr>
        <p:txBody>
          <a:bodyPr/>
          <a:lstStyle/>
          <a:p>
            <a:endParaRPr lang="es-CO"/>
          </a:p>
        </p:txBody>
      </p:sp>
      <p:sp>
        <p:nvSpPr>
          <p:cNvPr id="15" name="Shape 13"/>
          <p:cNvSpPr/>
          <p:nvPr/>
        </p:nvSpPr>
        <p:spPr>
          <a:xfrm>
            <a:off x="1463040" y="3977640"/>
            <a:ext cx="10149840" cy="868680"/>
          </a:xfrm>
          <a:prstGeom prst="roundRect">
            <a:avLst>
              <a:gd name="adj" fmla="val 12632"/>
            </a:avLst>
          </a:prstGeom>
          <a:solidFill>
            <a:srgbClr val="EEF4FA"/>
          </a:solidFill>
          <a:ln w="12700">
            <a:solidFill>
              <a:srgbClr val="EEF4FA"/>
            </a:solidFill>
            <a:prstDash val="solid"/>
          </a:ln>
        </p:spPr>
        <p:txBody>
          <a:bodyPr/>
          <a:lstStyle/>
          <a:p>
            <a:endParaRPr lang="es-CO"/>
          </a:p>
        </p:txBody>
      </p:sp>
      <p:sp>
        <p:nvSpPr>
          <p:cNvPr id="16" name="Text 14"/>
          <p:cNvSpPr txBox="1"/>
          <p:nvPr/>
        </p:nvSpPr>
        <p:spPr>
          <a:xfrm>
            <a:off x="1691640" y="397764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9</a:t>
            </a:r>
            <a:endParaRPr lang="en-US" sz="1700" dirty="0"/>
          </a:p>
        </p:txBody>
      </p:sp>
      <p:sp>
        <p:nvSpPr>
          <p:cNvPr id="17" name="Text 15"/>
          <p:cNvSpPr txBox="1"/>
          <p:nvPr/>
        </p:nvSpPr>
        <p:spPr>
          <a:xfrm>
            <a:off x="3063240" y="397764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12</a:t>
            </a:r>
            <a:endParaRPr lang="en-US" sz="1400" dirty="0"/>
          </a:p>
        </p:txBody>
      </p:sp>
      <p:sp>
        <p:nvSpPr>
          <p:cNvPr id="18" name="Text 16"/>
          <p:cNvSpPr txBox="1"/>
          <p:nvPr/>
        </p:nvSpPr>
        <p:spPr>
          <a:xfrm>
            <a:off x="4480560" y="397764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Pruebas integrales y evaluación final comparada con el sprint 6</a:t>
            </a:r>
            <a:endParaRPr lang="en-US" sz="1500" dirty="0"/>
          </a:p>
        </p:txBody>
      </p:sp>
      <p:sp>
        <p:nvSpPr>
          <p:cNvPr id="19" name="Shape 17"/>
          <p:cNvSpPr/>
          <p:nvPr/>
        </p:nvSpPr>
        <p:spPr>
          <a:xfrm>
            <a:off x="731520" y="5184648"/>
            <a:ext cx="457200" cy="457200"/>
          </a:xfrm>
          <a:prstGeom prst="ellipse">
            <a:avLst/>
          </a:prstGeom>
          <a:solidFill>
            <a:srgbClr val="BFBFBF"/>
          </a:solidFill>
          <a:ln w="25400">
            <a:solidFill>
              <a:srgbClr val="FFFFFF"/>
            </a:solidFill>
            <a:prstDash val="solid"/>
          </a:ln>
        </p:spPr>
        <p:txBody>
          <a:bodyPr/>
          <a:lstStyle/>
          <a:p>
            <a:endParaRPr lang="es-CO"/>
          </a:p>
        </p:txBody>
      </p:sp>
      <p:sp>
        <p:nvSpPr>
          <p:cNvPr id="20" name="Shape 18"/>
          <p:cNvSpPr/>
          <p:nvPr/>
        </p:nvSpPr>
        <p:spPr>
          <a:xfrm>
            <a:off x="1463040" y="5074920"/>
            <a:ext cx="10149840" cy="868680"/>
          </a:xfrm>
          <a:prstGeom prst="roundRect">
            <a:avLst>
              <a:gd name="adj" fmla="val 12632"/>
            </a:avLst>
          </a:prstGeom>
          <a:solidFill>
            <a:srgbClr val="EEF4FA"/>
          </a:solidFill>
          <a:ln w="12700">
            <a:solidFill>
              <a:srgbClr val="EEF4FA"/>
            </a:solidFill>
            <a:prstDash val="solid"/>
          </a:ln>
        </p:spPr>
        <p:txBody>
          <a:bodyPr/>
          <a:lstStyle/>
          <a:p>
            <a:endParaRPr lang="es-CO"/>
          </a:p>
        </p:txBody>
      </p:sp>
      <p:sp>
        <p:nvSpPr>
          <p:cNvPr id="21" name="Text 19"/>
          <p:cNvSpPr txBox="1"/>
          <p:nvPr/>
        </p:nvSpPr>
        <p:spPr>
          <a:xfrm>
            <a:off x="1691640" y="5074920"/>
            <a:ext cx="1371600" cy="86868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Sprint 10</a:t>
            </a:r>
            <a:endParaRPr lang="en-US" sz="1700" dirty="0"/>
          </a:p>
        </p:txBody>
      </p:sp>
      <p:sp>
        <p:nvSpPr>
          <p:cNvPr id="22" name="Text 20"/>
          <p:cNvSpPr txBox="1"/>
          <p:nvPr/>
        </p:nvSpPr>
        <p:spPr>
          <a:xfrm>
            <a:off x="3063240" y="5074920"/>
            <a:ext cx="1371600" cy="868680"/>
          </a:xfrm>
          <a:prstGeom prst="rect">
            <a:avLst/>
          </a:prstGeom>
          <a:noFill/>
          <a:ln/>
        </p:spPr>
        <p:txBody>
          <a:bodyPr wrap="square" lIns="0" tIns="0" rIns="0" bIns="0" rtlCol="0" anchor="ctr"/>
          <a:lstStyle/>
          <a:p>
            <a:pPr marL="0" indent="0">
              <a:buNone/>
            </a:pPr>
            <a:r>
              <a:rPr lang="en-US" sz="1400" dirty="0">
                <a:solidFill>
                  <a:srgbClr val="5A5A5A"/>
                </a:solidFill>
                <a:latin typeface="Tahoma" pitchFamily="34" charset="0"/>
                <a:ea typeface="Tahoma" pitchFamily="34" charset="-122"/>
                <a:cs typeface="Tahoma" pitchFamily="34" charset="-120"/>
              </a:rPr>
              <a:t>Sem. 13</a:t>
            </a:r>
            <a:endParaRPr lang="en-US" sz="1400" dirty="0"/>
          </a:p>
        </p:txBody>
      </p:sp>
      <p:sp>
        <p:nvSpPr>
          <p:cNvPr id="23" name="Text 21"/>
          <p:cNvSpPr txBox="1"/>
          <p:nvPr/>
        </p:nvSpPr>
        <p:spPr>
          <a:xfrm>
            <a:off x="4480560" y="5074920"/>
            <a:ext cx="6949440" cy="868680"/>
          </a:xfrm>
          <a:prstGeom prst="rect">
            <a:avLst/>
          </a:prstGeom>
          <a:noFill/>
          <a:ln/>
        </p:spPr>
        <p:txBody>
          <a:bodyPr wrap="square" lIns="0" tIns="0" rIns="0" bIns="0" rtlCol="0" anchor="ctr"/>
          <a:lstStyle/>
          <a:p>
            <a:pPr marL="0" indent="0">
              <a:buNone/>
            </a:pPr>
            <a:r>
              <a:rPr lang="en-US" sz="1500" dirty="0">
                <a:solidFill>
                  <a:srgbClr val="222222"/>
                </a:solidFill>
                <a:latin typeface="Tahoma" pitchFamily="34" charset="0"/>
                <a:ea typeface="Tahoma" pitchFamily="34" charset="-122"/>
                <a:cs typeface="Tahoma" pitchFamily="34" charset="-120"/>
              </a:rPr>
              <a:t>Documentación final y sustentación</a:t>
            </a:r>
            <a:endParaRPr lang="en-US" sz="15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Limitaciones y riesgos</a:t>
            </a:r>
            <a:endParaRPr lang="en-US" sz="2800" dirty="0"/>
          </a:p>
        </p:txBody>
      </p:sp>
      <p:sp>
        <p:nvSpPr>
          <p:cNvPr id="3" name="Shape 1"/>
          <p:cNvSpPr/>
          <p:nvPr/>
        </p:nvSpPr>
        <p:spPr>
          <a:xfrm>
            <a:off x="548640" y="178308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4" name="Shape 2"/>
          <p:cNvSpPr/>
          <p:nvPr/>
        </p:nvSpPr>
        <p:spPr>
          <a:xfrm>
            <a:off x="822960" y="2103120"/>
            <a:ext cx="731520" cy="731520"/>
          </a:xfrm>
          <a:prstGeom prst="ellipse">
            <a:avLst/>
          </a:prstGeom>
          <a:solidFill>
            <a:srgbClr val="E8890C"/>
          </a:solidFill>
          <a:ln w="12700">
            <a:solidFill>
              <a:srgbClr val="E8890C"/>
            </a:solidFill>
            <a:prstDash val="solid"/>
          </a:ln>
        </p:spPr>
        <p:txBody>
          <a:bodyPr/>
          <a:lstStyle/>
          <a:p>
            <a:endParaRPr lang="es-CO"/>
          </a:p>
        </p:txBody>
      </p:sp>
      <p:pic>
        <p:nvPicPr>
          <p:cNvPr id="5" name="Image 0" descr="preencoded.png"/>
          <p:cNvPicPr>
            <a:picLocks noChangeAspect="1"/>
          </p:cNvPicPr>
          <p:nvPr/>
        </p:nvPicPr>
        <p:blipFill>
          <a:blip r:embed="rId4"/>
          <a:stretch>
            <a:fillRect/>
          </a:stretch>
        </p:blipFill>
        <p:spPr>
          <a:xfrm>
            <a:off x="998525" y="2278685"/>
            <a:ext cx="380390" cy="380390"/>
          </a:xfrm>
          <a:prstGeom prst="rect">
            <a:avLst/>
          </a:prstGeom>
        </p:spPr>
      </p:pic>
      <p:sp>
        <p:nvSpPr>
          <p:cNvPr id="6" name="Text 3"/>
          <p:cNvSpPr txBox="1"/>
          <p:nvPr/>
        </p:nvSpPr>
        <p:spPr>
          <a:xfrm>
            <a:off x="1783080" y="205740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Dataset pequeño (65 frases)</a:t>
            </a:r>
            <a:endParaRPr lang="en-US" sz="1700" dirty="0"/>
          </a:p>
        </p:txBody>
      </p:sp>
      <p:sp>
        <p:nvSpPr>
          <p:cNvPr id="7" name="Text 4"/>
          <p:cNvSpPr txBox="1"/>
          <p:nvPr/>
        </p:nvSpPr>
        <p:spPr>
          <a:xfrm>
            <a:off x="1783080" y="283464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Ampliación en el sprint 7</a:t>
            </a:r>
            <a:endParaRPr lang="en-US" sz="1400" dirty="0"/>
          </a:p>
        </p:txBody>
      </p:sp>
      <p:sp>
        <p:nvSpPr>
          <p:cNvPr id="8" name="Shape 5"/>
          <p:cNvSpPr/>
          <p:nvPr/>
        </p:nvSpPr>
        <p:spPr>
          <a:xfrm>
            <a:off x="6217920" y="178308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9" name="Shape 6"/>
          <p:cNvSpPr/>
          <p:nvPr/>
        </p:nvSpPr>
        <p:spPr>
          <a:xfrm>
            <a:off x="6492240" y="210312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10" name="Image 1" descr="preencoded.png"/>
          <p:cNvPicPr>
            <a:picLocks noChangeAspect="1"/>
          </p:cNvPicPr>
          <p:nvPr/>
        </p:nvPicPr>
        <p:blipFill>
          <a:blip r:embed="rId5"/>
          <a:stretch>
            <a:fillRect/>
          </a:stretch>
        </p:blipFill>
        <p:spPr>
          <a:xfrm>
            <a:off x="6667805" y="2278685"/>
            <a:ext cx="380390" cy="380390"/>
          </a:xfrm>
          <a:prstGeom prst="rect">
            <a:avLst/>
          </a:prstGeom>
        </p:spPr>
      </p:pic>
      <p:sp>
        <p:nvSpPr>
          <p:cNvPr id="11" name="Text 7"/>
          <p:cNvSpPr txBox="1"/>
          <p:nvPr/>
        </p:nvSpPr>
        <p:spPr>
          <a:xfrm>
            <a:off x="7452360" y="205740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El chat solo recuerda un turno</a:t>
            </a:r>
            <a:endParaRPr lang="en-US" sz="1700" dirty="0"/>
          </a:p>
        </p:txBody>
      </p:sp>
      <p:sp>
        <p:nvSpPr>
          <p:cNvPr id="12" name="Text 8"/>
          <p:cNvSpPr txBox="1"/>
          <p:nvPr/>
        </p:nvSpPr>
        <p:spPr>
          <a:xfrm>
            <a:off x="7452360" y="283464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Documentado; se puede reiniciar la conversación</a:t>
            </a:r>
            <a:endParaRPr lang="en-US" sz="1400" dirty="0"/>
          </a:p>
        </p:txBody>
      </p:sp>
      <p:sp>
        <p:nvSpPr>
          <p:cNvPr id="13" name="Shape 9"/>
          <p:cNvSpPr/>
          <p:nvPr/>
        </p:nvSpPr>
        <p:spPr>
          <a:xfrm>
            <a:off x="548640" y="402336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14" name="Shape 10"/>
          <p:cNvSpPr/>
          <p:nvPr/>
        </p:nvSpPr>
        <p:spPr>
          <a:xfrm>
            <a:off x="822960" y="434340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15" name="Image 2" descr="preencoded.png"/>
          <p:cNvPicPr>
            <a:picLocks noChangeAspect="1"/>
          </p:cNvPicPr>
          <p:nvPr/>
        </p:nvPicPr>
        <p:blipFill>
          <a:blip r:embed="rId6"/>
          <a:stretch>
            <a:fillRect/>
          </a:stretch>
        </p:blipFill>
        <p:spPr>
          <a:xfrm>
            <a:off x="998525" y="4518965"/>
            <a:ext cx="380390" cy="380390"/>
          </a:xfrm>
          <a:prstGeom prst="rect">
            <a:avLst/>
          </a:prstGeom>
        </p:spPr>
      </p:pic>
      <p:sp>
        <p:nvSpPr>
          <p:cNvPr id="16" name="Text 11"/>
          <p:cNvSpPr txBox="1"/>
          <p:nvPr/>
        </p:nvSpPr>
        <p:spPr>
          <a:xfrm>
            <a:off x="1783080" y="429768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El feedback no reentrena solo</a:t>
            </a:r>
            <a:endParaRPr lang="en-US" sz="1700" dirty="0"/>
          </a:p>
        </p:txBody>
      </p:sp>
      <p:sp>
        <p:nvSpPr>
          <p:cNvPr id="17" name="Text 12"/>
          <p:cNvSpPr txBox="1"/>
          <p:nvPr/>
        </p:nvSpPr>
        <p:spPr>
          <a:xfrm>
            <a:off x="1783080" y="507492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Revisión manual e ingreso al dataset</a:t>
            </a:r>
            <a:endParaRPr lang="en-US" sz="1400" dirty="0"/>
          </a:p>
        </p:txBody>
      </p:sp>
      <p:sp>
        <p:nvSpPr>
          <p:cNvPr id="18" name="Shape 13"/>
          <p:cNvSpPr/>
          <p:nvPr/>
        </p:nvSpPr>
        <p:spPr>
          <a:xfrm>
            <a:off x="6217920" y="4023360"/>
            <a:ext cx="5440680" cy="1965960"/>
          </a:xfrm>
          <a:prstGeom prst="roundRect">
            <a:avLst>
              <a:gd name="adj" fmla="val 5581"/>
            </a:avLst>
          </a:prstGeom>
          <a:solidFill>
            <a:srgbClr val="EEF4FA"/>
          </a:solidFill>
          <a:ln w="12700">
            <a:solidFill>
              <a:srgbClr val="EEF4FA"/>
            </a:solidFill>
            <a:prstDash val="solid"/>
          </a:ln>
        </p:spPr>
        <p:txBody>
          <a:bodyPr/>
          <a:lstStyle/>
          <a:p>
            <a:endParaRPr lang="es-CO"/>
          </a:p>
        </p:txBody>
      </p:sp>
      <p:sp>
        <p:nvSpPr>
          <p:cNvPr id="19" name="Shape 14"/>
          <p:cNvSpPr/>
          <p:nvPr/>
        </p:nvSpPr>
        <p:spPr>
          <a:xfrm>
            <a:off x="6492240" y="4343400"/>
            <a:ext cx="731520" cy="731520"/>
          </a:xfrm>
          <a:prstGeom prst="ellipse">
            <a:avLst/>
          </a:prstGeom>
          <a:solidFill>
            <a:srgbClr val="1B6FA8"/>
          </a:solidFill>
          <a:ln w="12700">
            <a:solidFill>
              <a:srgbClr val="1B6FA8"/>
            </a:solidFill>
            <a:prstDash val="solid"/>
          </a:ln>
        </p:spPr>
        <p:txBody>
          <a:bodyPr/>
          <a:lstStyle/>
          <a:p>
            <a:endParaRPr lang="es-CO"/>
          </a:p>
        </p:txBody>
      </p:sp>
      <p:pic>
        <p:nvPicPr>
          <p:cNvPr id="20" name="Image 3" descr="preencoded.png"/>
          <p:cNvPicPr>
            <a:picLocks noChangeAspect="1"/>
          </p:cNvPicPr>
          <p:nvPr/>
        </p:nvPicPr>
        <p:blipFill>
          <a:blip r:embed="rId7"/>
          <a:stretch>
            <a:fillRect/>
          </a:stretch>
        </p:blipFill>
        <p:spPr>
          <a:xfrm>
            <a:off x="6667805" y="4518965"/>
            <a:ext cx="380390" cy="380390"/>
          </a:xfrm>
          <a:prstGeom prst="rect">
            <a:avLst/>
          </a:prstGeom>
        </p:spPr>
      </p:pic>
      <p:sp>
        <p:nvSpPr>
          <p:cNvPr id="21" name="Text 15"/>
          <p:cNvSpPr txBox="1"/>
          <p:nvPr/>
        </p:nvSpPr>
        <p:spPr>
          <a:xfrm>
            <a:off x="7452360" y="4297680"/>
            <a:ext cx="4023360" cy="731520"/>
          </a:xfrm>
          <a:prstGeom prst="rect">
            <a:avLst/>
          </a:prstGeom>
          <a:noFill/>
          <a:ln/>
        </p:spPr>
        <p:txBody>
          <a:bodyPr wrap="square" lIns="0" tIns="0" rIns="0" bIns="0" rtlCol="0" anchor="ctr"/>
          <a:lstStyle/>
          <a:p>
            <a:pPr marL="0" indent="0">
              <a:buNone/>
            </a:pPr>
            <a:r>
              <a:rPr lang="en-US" sz="1700" b="1" dirty="0">
                <a:solidFill>
                  <a:srgbClr val="0E4C7C"/>
                </a:solidFill>
                <a:latin typeface="Tahoma" pitchFamily="34" charset="0"/>
                <a:ea typeface="Tahoma" pitchFamily="34" charset="-122"/>
                <a:cs typeface="Tahoma" pitchFamily="34" charset="-120"/>
              </a:rPr>
              <a:t>Si el microservicio cae, no hay asistente</a:t>
            </a:r>
            <a:endParaRPr lang="en-US" sz="1700" dirty="0"/>
          </a:p>
        </p:txBody>
      </p:sp>
      <p:sp>
        <p:nvSpPr>
          <p:cNvPr id="22" name="Text 16"/>
          <p:cNvSpPr txBox="1"/>
          <p:nvPr/>
        </p:nvSpPr>
        <p:spPr>
          <a:xfrm>
            <a:off x="7452360" y="5074920"/>
            <a:ext cx="4023360" cy="731520"/>
          </a:xfrm>
          <a:prstGeom prst="rect">
            <a:avLst/>
          </a:prstGeom>
          <a:noFill/>
          <a:ln/>
        </p:spPr>
        <p:txBody>
          <a:bodyPr wrap="square" lIns="0" tIns="0" rIns="0" bIns="0" rtlCol="0" anchor="t"/>
          <a:lstStyle/>
          <a:p>
            <a:pPr marL="0" indent="0">
              <a:buNone/>
            </a:pPr>
            <a:r>
              <a:rPr lang="en-US" sz="1400" b="1" dirty="0">
                <a:solidFill>
                  <a:srgbClr val="222222"/>
                </a:solidFill>
                <a:latin typeface="Tahoma" pitchFamily="34" charset="0"/>
                <a:ea typeface="Tahoma" pitchFamily="34" charset="-122"/>
                <a:cs typeface="Tahoma" pitchFamily="34" charset="-120"/>
              </a:rPr>
              <a:t>Medida: </a:t>
            </a:r>
            <a:r>
              <a:rPr lang="en-US" sz="1400" dirty="0">
                <a:solidFill>
                  <a:srgbClr val="222222"/>
                </a:solidFill>
                <a:latin typeface="Tahoma" pitchFamily="34" charset="0"/>
                <a:ea typeface="Tahoma" pitchFamily="34" charset="-122"/>
                <a:cs typeface="Tahoma" pitchFamily="34" charset="-120"/>
              </a:rPr>
              <a:t>El resto del sistema sigue funcionando</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
        <p:nvSpPr>
          <p:cNvPr id="2" name="Text 0"/>
          <p:cNvSpPr txBox="1"/>
          <p:nvPr/>
        </p:nvSpPr>
        <p:spPr>
          <a:xfrm>
            <a:off x="320040" y="384048"/>
            <a:ext cx="8778240" cy="594360"/>
          </a:xfrm>
          <a:prstGeom prst="rect">
            <a:avLst/>
          </a:prstGeom>
          <a:noFill/>
          <a:ln/>
        </p:spPr>
        <p:txBody>
          <a:bodyPr wrap="square" lIns="0" tIns="0" rIns="0" bIns="0" rtlCol="0" anchor="ctr"/>
          <a:lstStyle/>
          <a:p>
            <a:pPr marL="0" indent="0">
              <a:buNone/>
            </a:pPr>
            <a:r>
              <a:rPr lang="en-US" sz="2800" b="1" dirty="0">
                <a:solidFill>
                  <a:srgbClr val="FFFFFF"/>
                </a:solidFill>
                <a:latin typeface="Tahoma" pitchFamily="34" charset="0"/>
                <a:ea typeface="Tahoma" pitchFamily="34" charset="-122"/>
                <a:cs typeface="Tahoma" pitchFamily="34" charset="-120"/>
              </a:rPr>
              <a:t>Conclusiones</a:t>
            </a:r>
            <a:endParaRPr lang="en-US" sz="2800" dirty="0"/>
          </a:p>
        </p:txBody>
      </p:sp>
      <p:sp>
        <p:nvSpPr>
          <p:cNvPr id="3" name="Shape 1"/>
          <p:cNvSpPr/>
          <p:nvPr/>
        </p:nvSpPr>
        <p:spPr>
          <a:xfrm>
            <a:off x="822960" y="1828800"/>
            <a:ext cx="868680" cy="868680"/>
          </a:xfrm>
          <a:prstGeom prst="ellipse">
            <a:avLst/>
          </a:prstGeom>
          <a:solidFill>
            <a:srgbClr val="1B6FA8"/>
          </a:solidFill>
          <a:ln w="12700">
            <a:solidFill>
              <a:srgbClr val="1B6FA8"/>
            </a:solidFill>
            <a:prstDash val="solid"/>
          </a:ln>
        </p:spPr>
        <p:txBody>
          <a:bodyPr/>
          <a:lstStyle/>
          <a:p>
            <a:endParaRPr lang="es-CO"/>
          </a:p>
        </p:txBody>
      </p:sp>
      <p:pic>
        <p:nvPicPr>
          <p:cNvPr id="4" name="Image 0" descr="preencoded.png"/>
          <p:cNvPicPr>
            <a:picLocks noChangeAspect="1"/>
          </p:cNvPicPr>
          <p:nvPr/>
        </p:nvPicPr>
        <p:blipFill>
          <a:blip r:embed="rId4"/>
          <a:stretch>
            <a:fillRect/>
          </a:stretch>
        </p:blipFill>
        <p:spPr>
          <a:xfrm>
            <a:off x="1031443" y="2037283"/>
            <a:ext cx="451714" cy="451714"/>
          </a:xfrm>
          <a:prstGeom prst="rect">
            <a:avLst/>
          </a:prstGeom>
        </p:spPr>
      </p:pic>
      <p:sp>
        <p:nvSpPr>
          <p:cNvPr id="5" name="Text 2"/>
          <p:cNvSpPr txBox="1"/>
          <p:nvPr/>
        </p:nvSpPr>
        <p:spPr>
          <a:xfrm>
            <a:off x="2011680" y="1737360"/>
            <a:ext cx="9418320" cy="1051560"/>
          </a:xfrm>
          <a:prstGeom prst="rect">
            <a:avLst/>
          </a:prstGeom>
          <a:noFill/>
          <a:ln/>
        </p:spPr>
        <p:txBody>
          <a:bodyPr wrap="square" lIns="0" tIns="0" rIns="0" bIns="0" rtlCol="0" anchor="ctr"/>
          <a:lstStyle/>
          <a:p>
            <a:pPr marL="0" indent="0">
              <a:buNone/>
            </a:pPr>
            <a:r>
              <a:rPr lang="en-US" sz="1900" dirty="0">
                <a:solidFill>
                  <a:srgbClr val="222222"/>
                </a:solidFill>
                <a:latin typeface="Tahoma" pitchFamily="34" charset="0"/>
                <a:ea typeface="Tahoma" pitchFamily="34" charset="-122"/>
                <a:cs typeface="Tahoma" pitchFamily="34" charset="-120"/>
              </a:rPr>
              <a:t>El asistente ya funciona en producción: entiende la consulta, identifica el vehículo y recomienda repuestos reales.</a:t>
            </a:r>
            <a:endParaRPr lang="en-US" sz="1900" dirty="0"/>
          </a:p>
        </p:txBody>
      </p:sp>
      <p:sp>
        <p:nvSpPr>
          <p:cNvPr id="6" name="Shape 3"/>
          <p:cNvSpPr/>
          <p:nvPr/>
        </p:nvSpPr>
        <p:spPr>
          <a:xfrm>
            <a:off x="822960" y="3291840"/>
            <a:ext cx="868680" cy="868680"/>
          </a:xfrm>
          <a:prstGeom prst="ellipse">
            <a:avLst/>
          </a:prstGeom>
          <a:solidFill>
            <a:srgbClr val="1B6FA8"/>
          </a:solidFill>
          <a:ln w="12700">
            <a:solidFill>
              <a:srgbClr val="1B6FA8"/>
            </a:solidFill>
            <a:prstDash val="solid"/>
          </a:ln>
        </p:spPr>
        <p:txBody>
          <a:bodyPr/>
          <a:lstStyle/>
          <a:p>
            <a:endParaRPr lang="es-CO"/>
          </a:p>
        </p:txBody>
      </p:sp>
      <p:pic>
        <p:nvPicPr>
          <p:cNvPr id="7" name="Image 1" descr="preencoded.png"/>
          <p:cNvPicPr>
            <a:picLocks noChangeAspect="1"/>
          </p:cNvPicPr>
          <p:nvPr/>
        </p:nvPicPr>
        <p:blipFill>
          <a:blip r:embed="rId5"/>
          <a:stretch>
            <a:fillRect/>
          </a:stretch>
        </p:blipFill>
        <p:spPr>
          <a:xfrm>
            <a:off x="1031443" y="3500323"/>
            <a:ext cx="451714" cy="451714"/>
          </a:xfrm>
          <a:prstGeom prst="rect">
            <a:avLst/>
          </a:prstGeom>
        </p:spPr>
      </p:pic>
      <p:sp>
        <p:nvSpPr>
          <p:cNvPr id="8" name="Text 4"/>
          <p:cNvSpPr txBox="1"/>
          <p:nvPr/>
        </p:nvSpPr>
        <p:spPr>
          <a:xfrm>
            <a:off x="2011680" y="3200400"/>
            <a:ext cx="9418320" cy="1051560"/>
          </a:xfrm>
          <a:prstGeom prst="rect">
            <a:avLst/>
          </a:prstGeom>
          <a:noFill/>
          <a:ln/>
        </p:spPr>
        <p:txBody>
          <a:bodyPr wrap="square" lIns="0" tIns="0" rIns="0" bIns="0" rtlCol="0" anchor="ctr"/>
          <a:lstStyle/>
          <a:p>
            <a:pPr marL="0" indent="0">
              <a:buNone/>
            </a:pPr>
            <a:r>
              <a:rPr lang="en-US" sz="1900" dirty="0">
                <a:solidFill>
                  <a:srgbClr val="222222"/>
                </a:solidFill>
                <a:latin typeface="Tahoma" pitchFamily="34" charset="0"/>
                <a:ea typeface="Tahoma" pitchFamily="34" charset="-122"/>
                <a:cs typeface="Tahoma" pitchFamily="34" charset="-120"/>
              </a:rPr>
              <a:t>Un modelo propio y explicable, sin LLM externo, logra 82.1 % de exactitud y 100 % de precisión@3.</a:t>
            </a:r>
            <a:endParaRPr lang="en-US" sz="1900" dirty="0"/>
          </a:p>
        </p:txBody>
      </p:sp>
      <p:sp>
        <p:nvSpPr>
          <p:cNvPr id="9" name="Shape 5"/>
          <p:cNvSpPr/>
          <p:nvPr/>
        </p:nvSpPr>
        <p:spPr>
          <a:xfrm>
            <a:off x="822960" y="4754880"/>
            <a:ext cx="868680" cy="868680"/>
          </a:xfrm>
          <a:prstGeom prst="ellipse">
            <a:avLst/>
          </a:prstGeom>
          <a:solidFill>
            <a:srgbClr val="E8890C"/>
          </a:solidFill>
          <a:ln w="12700">
            <a:solidFill>
              <a:srgbClr val="E8890C"/>
            </a:solidFill>
            <a:prstDash val="solid"/>
          </a:ln>
        </p:spPr>
        <p:txBody>
          <a:bodyPr/>
          <a:lstStyle/>
          <a:p>
            <a:endParaRPr lang="es-CO"/>
          </a:p>
        </p:txBody>
      </p:sp>
      <p:pic>
        <p:nvPicPr>
          <p:cNvPr id="10" name="Image 2" descr="preencoded.png"/>
          <p:cNvPicPr>
            <a:picLocks noChangeAspect="1"/>
          </p:cNvPicPr>
          <p:nvPr/>
        </p:nvPicPr>
        <p:blipFill>
          <a:blip r:embed="rId6"/>
          <a:stretch>
            <a:fillRect/>
          </a:stretch>
        </p:blipFill>
        <p:spPr>
          <a:xfrm>
            <a:off x="1031443" y="4963363"/>
            <a:ext cx="451714" cy="451714"/>
          </a:xfrm>
          <a:prstGeom prst="rect">
            <a:avLst/>
          </a:prstGeom>
        </p:spPr>
      </p:pic>
      <p:sp>
        <p:nvSpPr>
          <p:cNvPr id="11" name="Text 6"/>
          <p:cNvSpPr txBox="1"/>
          <p:nvPr/>
        </p:nvSpPr>
        <p:spPr>
          <a:xfrm>
            <a:off x="2011680" y="4663440"/>
            <a:ext cx="9418320" cy="1051560"/>
          </a:xfrm>
          <a:prstGeom prst="rect">
            <a:avLst/>
          </a:prstGeom>
          <a:noFill/>
          <a:ln/>
        </p:spPr>
        <p:txBody>
          <a:bodyPr wrap="square" lIns="0" tIns="0" rIns="0" bIns="0" rtlCol="0" anchor="ctr"/>
          <a:lstStyle/>
          <a:p>
            <a:pPr marL="0" indent="0">
              <a:buNone/>
            </a:pPr>
            <a:r>
              <a:rPr lang="en-US" sz="1900" dirty="0">
                <a:solidFill>
                  <a:srgbClr val="222222"/>
                </a:solidFill>
                <a:latin typeface="Tahoma" pitchFamily="34" charset="0"/>
                <a:ea typeface="Tahoma" pitchFamily="34" charset="-122"/>
                <a:cs typeface="Tahoma" pitchFamily="34" charset="-120"/>
              </a:rPr>
              <a:t>La evaluación mostró el límite actual, el tamaño del dataset, y eso guía los sprints que faltan.</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Flujo de entrada y salida de datos</a:t>
            </a:r>
          </a:p>
        </p:txBody>
      </p:sp>
      <p:sp>
        <p:nvSpPr>
          <p:cNvPr id="3" name="Rounded Rectangle 2"/>
          <p:cNvSpPr/>
          <p:nvPr/>
        </p:nvSpPr>
        <p:spPr>
          <a:xfrm>
            <a:off x="548640" y="1600200"/>
            <a:ext cx="3383280" cy="47548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Rounded Rectangle 3"/>
          <p:cNvSpPr/>
          <p:nvPr/>
        </p:nvSpPr>
        <p:spPr>
          <a:xfrm>
            <a:off x="777240" y="1783080"/>
            <a:ext cx="2926080" cy="4572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1783080"/>
            <a:ext cx="2926080" cy="457200"/>
          </a:xfrm>
          <a:prstGeom prst="rect">
            <a:avLst/>
          </a:prstGeom>
          <a:noFill/>
        </p:spPr>
        <p:txBody>
          <a:bodyPr wrap="square" lIns="0" rIns="0" tIns="0" bIns="0" anchor="ctr">
            <a:spAutoFit/>
          </a:bodyPr>
          <a:lstStyle/>
          <a:p>
            <a:pPr algn="ctr"/>
            <a:r>
              <a:rPr sz="1600" b="1" i="0">
                <a:solidFill>
                  <a:srgbClr val="FFFFFF"/>
                </a:solidFill>
                <a:latin typeface="Tahoma"/>
              </a:rPr>
              <a:t>ENTRADA</a:t>
            </a:r>
          </a:p>
        </p:txBody>
      </p:sp>
      <p:sp>
        <p:nvSpPr>
          <p:cNvPr id="6" name="Oval 5"/>
          <p:cNvSpPr/>
          <p:nvPr/>
        </p:nvSpPr>
        <p:spPr>
          <a:xfrm>
            <a:off x="777240" y="2514600"/>
            <a:ext cx="411480" cy="411480"/>
          </a:xfrm>
          <a:prstGeom prst="ellipse">
            <a:avLst/>
          </a:prstGeom>
          <a:solidFill>
            <a:srgbClr val="1B6FA8"/>
          </a:solidFill>
          <a:ln>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1</a:t>
            </a:r>
          </a:p>
        </p:txBody>
      </p:sp>
      <p:sp>
        <p:nvSpPr>
          <p:cNvPr id="7" name="TextBox 6"/>
          <p:cNvSpPr txBox="1"/>
          <p:nvPr/>
        </p:nvSpPr>
        <p:spPr>
          <a:xfrm>
            <a:off x="1325880" y="2468880"/>
            <a:ext cx="2423160" cy="1188720"/>
          </a:xfrm>
          <a:prstGeom prst="rect">
            <a:avLst/>
          </a:prstGeom>
          <a:noFill/>
        </p:spPr>
        <p:txBody>
          <a:bodyPr wrap="square" lIns="0" rIns="0" tIns="0" bIns="0" anchor="t">
            <a:spAutoFit/>
          </a:bodyPr>
          <a:lstStyle/>
          <a:p>
            <a:pPr algn="l"/>
            <a:r>
              <a:rPr sz="1300" b="0" i="0">
                <a:solidFill>
                  <a:srgbClr val="222222"/>
                </a:solidFill>
                <a:latin typeface="Tahoma"/>
              </a:rPr>
              <a:t>El equipo redacta frases de mostrador y las etiqueta</a:t>
            </a:r>
          </a:p>
        </p:txBody>
      </p:sp>
      <p:sp>
        <p:nvSpPr>
          <p:cNvPr id="8" name="Oval 7"/>
          <p:cNvSpPr/>
          <p:nvPr/>
        </p:nvSpPr>
        <p:spPr>
          <a:xfrm>
            <a:off x="777240" y="3794759"/>
            <a:ext cx="411480" cy="411480"/>
          </a:xfrm>
          <a:prstGeom prst="ellipse">
            <a:avLst/>
          </a:prstGeom>
          <a:solidFill>
            <a:srgbClr val="1B6FA8"/>
          </a:solidFill>
          <a:ln>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2</a:t>
            </a:r>
          </a:p>
        </p:txBody>
      </p:sp>
      <p:sp>
        <p:nvSpPr>
          <p:cNvPr id="9" name="TextBox 8"/>
          <p:cNvSpPr txBox="1"/>
          <p:nvPr/>
        </p:nvSpPr>
        <p:spPr>
          <a:xfrm>
            <a:off x="1325880" y="3749039"/>
            <a:ext cx="2423160" cy="1188720"/>
          </a:xfrm>
          <a:prstGeom prst="rect">
            <a:avLst/>
          </a:prstGeom>
          <a:noFill/>
        </p:spPr>
        <p:txBody>
          <a:bodyPr wrap="square" lIns="0" rIns="0" tIns="0" bIns="0" anchor="t">
            <a:spAutoFit/>
          </a:bodyPr>
          <a:lstStyle/>
          <a:p>
            <a:pPr algn="l"/>
            <a:r>
              <a:rPr sz="1300" b="0" i="0">
                <a:solidFill>
                  <a:srgbClr val="222222"/>
                </a:solidFill>
                <a:latin typeface="Tahoma"/>
              </a:rPr>
              <a:t>Archivos CSV: data/intents_dataset.csv y eval/holdout_intent.csv</a:t>
            </a:r>
          </a:p>
        </p:txBody>
      </p:sp>
      <p:sp>
        <p:nvSpPr>
          <p:cNvPr id="10" name="Oval 9"/>
          <p:cNvSpPr/>
          <p:nvPr/>
        </p:nvSpPr>
        <p:spPr>
          <a:xfrm>
            <a:off x="777240" y="5074920"/>
            <a:ext cx="411480" cy="411480"/>
          </a:xfrm>
          <a:prstGeom prst="ellipse">
            <a:avLst/>
          </a:prstGeom>
          <a:solidFill>
            <a:srgbClr val="1B6FA8"/>
          </a:solidFill>
          <a:ln>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3</a:t>
            </a:r>
          </a:p>
        </p:txBody>
      </p:sp>
      <p:sp>
        <p:nvSpPr>
          <p:cNvPr id="11" name="TextBox 10"/>
          <p:cNvSpPr txBox="1"/>
          <p:nvPr/>
        </p:nvSpPr>
        <p:spPr>
          <a:xfrm>
            <a:off x="1325880" y="5029200"/>
            <a:ext cx="2423160" cy="1188720"/>
          </a:xfrm>
          <a:prstGeom prst="rect">
            <a:avLst/>
          </a:prstGeom>
          <a:noFill/>
        </p:spPr>
        <p:txBody>
          <a:bodyPr wrap="square" lIns="0" rIns="0" tIns="0" bIns="0" anchor="t">
            <a:spAutoFit/>
          </a:bodyPr>
          <a:lstStyle/>
          <a:p>
            <a:pPr algn="l"/>
            <a:r>
              <a:rPr sz="1300" b="0" i="0">
                <a:solidFill>
                  <a:srgbClr val="222222"/>
                </a:solidFill>
                <a:latin typeface="Tahoma"/>
              </a:rPr>
              <a:t>Carga en la base de datos (tablas nlp_intenciones y nlp_frases)</a:t>
            </a:r>
          </a:p>
        </p:txBody>
      </p:sp>
      <p:sp>
        <p:nvSpPr>
          <p:cNvPr id="12" name="Rounded Rectangle 11"/>
          <p:cNvSpPr/>
          <p:nvPr/>
        </p:nvSpPr>
        <p:spPr>
          <a:xfrm>
            <a:off x="4407408" y="1600200"/>
            <a:ext cx="3383280" cy="47548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636008" y="1783080"/>
            <a:ext cx="2926080" cy="45720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4636008" y="1783080"/>
            <a:ext cx="2926080" cy="457200"/>
          </a:xfrm>
          <a:prstGeom prst="rect">
            <a:avLst/>
          </a:prstGeom>
          <a:noFill/>
        </p:spPr>
        <p:txBody>
          <a:bodyPr wrap="square" lIns="0" rIns="0" tIns="0" bIns="0" anchor="ctr">
            <a:spAutoFit/>
          </a:bodyPr>
          <a:lstStyle/>
          <a:p>
            <a:pPr algn="ctr"/>
            <a:r>
              <a:rPr sz="1600" b="1" i="0">
                <a:solidFill>
                  <a:srgbClr val="FFFFFF"/>
                </a:solidFill>
                <a:latin typeface="Tahoma"/>
              </a:rPr>
              <a:t>PROCESAMIENTO</a:t>
            </a:r>
          </a:p>
        </p:txBody>
      </p:sp>
      <p:sp>
        <p:nvSpPr>
          <p:cNvPr id="15" name="Oval 14"/>
          <p:cNvSpPr/>
          <p:nvPr/>
        </p:nvSpPr>
        <p:spPr>
          <a:xfrm>
            <a:off x="4636008" y="2514600"/>
            <a:ext cx="411480" cy="411480"/>
          </a:xfrm>
          <a:prstGeom prst="ellipse">
            <a:avLst/>
          </a:prstGeom>
          <a:solidFill>
            <a:srgbClr val="0E4C7C"/>
          </a:solidFill>
          <a:ln>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4</a:t>
            </a:r>
          </a:p>
        </p:txBody>
      </p:sp>
      <p:sp>
        <p:nvSpPr>
          <p:cNvPr id="16" name="TextBox 15"/>
          <p:cNvSpPr txBox="1"/>
          <p:nvPr/>
        </p:nvSpPr>
        <p:spPr>
          <a:xfrm>
            <a:off x="5184648" y="2468880"/>
            <a:ext cx="2423160" cy="1188720"/>
          </a:xfrm>
          <a:prstGeom prst="rect">
            <a:avLst/>
          </a:prstGeom>
          <a:noFill/>
        </p:spPr>
        <p:txBody>
          <a:bodyPr wrap="square" lIns="0" rIns="0" tIns="0" bIns="0" anchor="t">
            <a:spAutoFit/>
          </a:bodyPr>
          <a:lstStyle/>
          <a:p>
            <a:pPr algn="l"/>
            <a:r>
              <a:rPr sz="1300" b="0" i="0">
                <a:solidFill>
                  <a:srgbClr val="222222"/>
                </a:solidFill>
                <a:latin typeface="Tahoma"/>
              </a:rPr>
              <a:t>Lectura con SQL</a:t>
            </a:r>
          </a:p>
        </p:txBody>
      </p:sp>
      <p:sp>
        <p:nvSpPr>
          <p:cNvPr id="17" name="Oval 16"/>
          <p:cNvSpPr/>
          <p:nvPr/>
        </p:nvSpPr>
        <p:spPr>
          <a:xfrm>
            <a:off x="4636008" y="3794759"/>
            <a:ext cx="411480" cy="411480"/>
          </a:xfrm>
          <a:prstGeom prst="ellipse">
            <a:avLst/>
          </a:prstGeom>
          <a:solidFill>
            <a:srgbClr val="0E4C7C"/>
          </a:solidFill>
          <a:ln>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5</a:t>
            </a:r>
          </a:p>
        </p:txBody>
      </p:sp>
      <p:sp>
        <p:nvSpPr>
          <p:cNvPr id="18" name="TextBox 17"/>
          <p:cNvSpPr txBox="1"/>
          <p:nvPr/>
        </p:nvSpPr>
        <p:spPr>
          <a:xfrm>
            <a:off x="5184648" y="3749039"/>
            <a:ext cx="2423160" cy="1188720"/>
          </a:xfrm>
          <a:prstGeom prst="rect">
            <a:avLst/>
          </a:prstGeom>
          <a:noFill/>
        </p:spPr>
        <p:txBody>
          <a:bodyPr wrap="square" lIns="0" rIns="0" tIns="0" bIns="0" anchor="t">
            <a:spAutoFit/>
          </a:bodyPr>
          <a:lstStyle/>
          <a:p>
            <a:pPr algn="l"/>
            <a:r>
              <a:rPr sz="1300" b="0" i="0">
                <a:solidFill>
                  <a:srgbClr val="222222"/>
                </a:solidFill>
                <a:latin typeface="Tahoma"/>
              </a:rPr>
              <a:t>Preprocesamiento: minúsculas, sin tildes, sin palabras vacías; se conserva «no»</a:t>
            </a:r>
          </a:p>
        </p:txBody>
      </p:sp>
      <p:sp>
        <p:nvSpPr>
          <p:cNvPr id="19" name="Oval 18"/>
          <p:cNvSpPr/>
          <p:nvPr/>
        </p:nvSpPr>
        <p:spPr>
          <a:xfrm>
            <a:off x="4636008" y="5074920"/>
            <a:ext cx="411480" cy="411480"/>
          </a:xfrm>
          <a:prstGeom prst="ellipse">
            <a:avLst/>
          </a:prstGeom>
          <a:solidFill>
            <a:srgbClr val="0E4C7C"/>
          </a:solidFill>
          <a:ln>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6</a:t>
            </a:r>
          </a:p>
        </p:txBody>
      </p:sp>
      <p:sp>
        <p:nvSpPr>
          <p:cNvPr id="20" name="TextBox 19"/>
          <p:cNvSpPr txBox="1"/>
          <p:nvPr/>
        </p:nvSpPr>
        <p:spPr>
          <a:xfrm>
            <a:off x="5184648" y="5029200"/>
            <a:ext cx="2423160" cy="1188720"/>
          </a:xfrm>
          <a:prstGeom prst="rect">
            <a:avLst/>
          </a:prstGeom>
          <a:noFill/>
        </p:spPr>
        <p:txBody>
          <a:bodyPr wrap="square" lIns="0" rIns="0" tIns="0" bIns="0" anchor="t">
            <a:spAutoFit/>
          </a:bodyPr>
          <a:lstStyle/>
          <a:p>
            <a:pPr algn="l"/>
            <a:r>
              <a:rPr sz="1300" b="0" i="0">
                <a:solidFill>
                  <a:srgbClr val="222222"/>
                </a:solidFill>
                <a:latin typeface="Tahoma"/>
              </a:rPr>
              <a:t>Modelo TF-IDF + regresión logística con umbral de confianza 0.35</a:t>
            </a:r>
          </a:p>
        </p:txBody>
      </p:sp>
      <p:sp>
        <p:nvSpPr>
          <p:cNvPr id="21" name="Rounded Rectangle 20"/>
          <p:cNvSpPr/>
          <p:nvPr/>
        </p:nvSpPr>
        <p:spPr>
          <a:xfrm>
            <a:off x="8266175" y="1600200"/>
            <a:ext cx="3383280" cy="47548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494776" y="1783080"/>
            <a:ext cx="2926080" cy="45720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494776" y="1783080"/>
            <a:ext cx="2926080" cy="457200"/>
          </a:xfrm>
          <a:prstGeom prst="rect">
            <a:avLst/>
          </a:prstGeom>
          <a:noFill/>
        </p:spPr>
        <p:txBody>
          <a:bodyPr wrap="square" lIns="0" rIns="0" tIns="0" bIns="0" anchor="ctr">
            <a:spAutoFit/>
          </a:bodyPr>
          <a:lstStyle/>
          <a:p>
            <a:pPr algn="ctr"/>
            <a:r>
              <a:rPr sz="1600" b="1" i="0">
                <a:solidFill>
                  <a:srgbClr val="FFFFFF"/>
                </a:solidFill>
                <a:latin typeface="Tahoma"/>
              </a:rPr>
              <a:t>SALIDA</a:t>
            </a:r>
          </a:p>
        </p:txBody>
      </p:sp>
      <p:sp>
        <p:nvSpPr>
          <p:cNvPr id="24" name="Oval 23"/>
          <p:cNvSpPr/>
          <p:nvPr/>
        </p:nvSpPr>
        <p:spPr>
          <a:xfrm>
            <a:off x="8494776" y="2514600"/>
            <a:ext cx="411480" cy="41148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7</a:t>
            </a:r>
          </a:p>
        </p:txBody>
      </p:sp>
      <p:sp>
        <p:nvSpPr>
          <p:cNvPr id="25" name="TextBox 24"/>
          <p:cNvSpPr txBox="1"/>
          <p:nvPr/>
        </p:nvSpPr>
        <p:spPr>
          <a:xfrm>
            <a:off x="9043415" y="2468880"/>
            <a:ext cx="2423160" cy="1188720"/>
          </a:xfrm>
          <a:prstGeom prst="rect">
            <a:avLst/>
          </a:prstGeom>
          <a:noFill/>
        </p:spPr>
        <p:txBody>
          <a:bodyPr wrap="square" lIns="0" rIns="0" tIns="0" bIns="0" anchor="t">
            <a:spAutoFit/>
          </a:bodyPr>
          <a:lstStyle/>
          <a:p>
            <a:pPr algn="l"/>
            <a:r>
              <a:rPr sz="1300" b="0" i="0">
                <a:solidFill>
                  <a:srgbClr val="222222"/>
                </a:solidFill>
                <a:latin typeface="Tahoma"/>
              </a:rPr>
              <a:t>Predicción en JSON: intención, confianza y entidades</a:t>
            </a:r>
          </a:p>
        </p:txBody>
      </p:sp>
      <p:sp>
        <p:nvSpPr>
          <p:cNvPr id="26" name="Oval 25"/>
          <p:cNvSpPr/>
          <p:nvPr/>
        </p:nvSpPr>
        <p:spPr>
          <a:xfrm>
            <a:off x="8494776" y="3794759"/>
            <a:ext cx="411480" cy="41148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8</a:t>
            </a:r>
          </a:p>
        </p:txBody>
      </p:sp>
      <p:sp>
        <p:nvSpPr>
          <p:cNvPr id="27" name="TextBox 26"/>
          <p:cNvSpPr txBox="1"/>
          <p:nvPr/>
        </p:nvSpPr>
        <p:spPr>
          <a:xfrm>
            <a:off x="9043415" y="3749039"/>
            <a:ext cx="2423160" cy="1188720"/>
          </a:xfrm>
          <a:prstGeom prst="rect">
            <a:avLst/>
          </a:prstGeom>
          <a:noFill/>
        </p:spPr>
        <p:txBody>
          <a:bodyPr wrap="square" lIns="0" rIns="0" tIns="0" bIns="0" anchor="t">
            <a:spAutoFit/>
          </a:bodyPr>
          <a:lstStyle/>
          <a:p>
            <a:pPr algn="l"/>
            <a:r>
              <a:rPr sz="1300" b="0" i="0">
                <a:solidFill>
                  <a:srgbClr val="222222"/>
                </a:solidFill>
                <a:latin typeface="Tahoma"/>
              </a:rPr>
              <a:t>Registro en la base: nlp_predicciones (evaluación) y consultas_asistente (producción)</a:t>
            </a:r>
          </a:p>
        </p:txBody>
      </p:sp>
      <p:sp>
        <p:nvSpPr>
          <p:cNvPr id="28" name="Oval 27"/>
          <p:cNvSpPr/>
          <p:nvPr/>
        </p:nvSpPr>
        <p:spPr>
          <a:xfrm>
            <a:off x="8494776" y="5074920"/>
            <a:ext cx="411480" cy="41148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9</a:t>
            </a:r>
          </a:p>
        </p:txBody>
      </p:sp>
      <p:sp>
        <p:nvSpPr>
          <p:cNvPr id="29" name="TextBox 28"/>
          <p:cNvSpPr txBox="1"/>
          <p:nvPr/>
        </p:nvSpPr>
        <p:spPr>
          <a:xfrm>
            <a:off x="9043415" y="5029200"/>
            <a:ext cx="2423160" cy="1188720"/>
          </a:xfrm>
          <a:prstGeom prst="rect">
            <a:avLst/>
          </a:prstGeom>
          <a:noFill/>
        </p:spPr>
        <p:txBody>
          <a:bodyPr wrap="square" lIns="0" rIns="0" tIns="0" bIns="0" anchor="t">
            <a:spAutoFit/>
          </a:bodyPr>
          <a:lstStyle/>
          <a:p>
            <a:pPr algn="l"/>
            <a:r>
              <a:rPr sz="1300" b="0" i="0">
                <a:solidFill>
                  <a:srgbClr val="222222"/>
                </a:solidFill>
                <a:latin typeface="Tahoma"/>
              </a:rPr>
              <a:t>Métricas y gráficas</a:t>
            </a:r>
          </a:p>
        </p:txBody>
      </p:sp>
      <p:sp>
        <p:nvSpPr>
          <p:cNvPr id="30" name="Right Arrow 29"/>
          <p:cNvSpPr/>
          <p:nvPr/>
        </p:nvSpPr>
        <p:spPr>
          <a:xfrm>
            <a:off x="3986784" y="3794760"/>
            <a:ext cx="384048" cy="384048"/>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ight Arrow 30"/>
          <p:cNvSpPr/>
          <p:nvPr/>
        </p:nvSpPr>
        <p:spPr>
          <a:xfrm>
            <a:off x="7845552" y="3794760"/>
            <a:ext cx="384048" cy="384048"/>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Construcción del dataset</a:t>
            </a:r>
          </a:p>
        </p:txBody>
      </p:sp>
      <p:sp>
        <p:nvSpPr>
          <p:cNvPr id="3" name="TextBox 2"/>
          <p:cNvSpPr txBox="1"/>
          <p:nvPr/>
        </p:nvSpPr>
        <p:spPr>
          <a:xfrm>
            <a:off x="548640" y="1645920"/>
            <a:ext cx="6400800" cy="3291840"/>
          </a:xfrm>
          <a:prstGeom prst="rect">
            <a:avLst/>
          </a:prstGeom>
          <a:noFill/>
        </p:spPr>
        <p:txBody>
          <a:bodyPr wrap="square" lIns="0" rIns="0" tIns="0" bIns="0">
            <a:spAutoFit/>
          </a:bodyPr>
          <a:lstStyle/>
          <a:p>
            <a:pPr marL="256032" indent="-256032">
              <a:spcAft>
                <a:spcPts val="1000"/>
              </a:spcAft>
              <a:buClr>
                <a:srgbClr val="E8890C"/>
              </a:buClr>
              <a:buFont typeface="Arial"/>
              <a:buChar char="•"/>
            </a:pPr>
            <a:r>
              <a:rPr sz="1500" b="0">
                <a:solidFill>
                  <a:srgbClr val="222222"/>
                </a:solidFill>
                <a:latin typeface="Tahoma"/>
              </a:rPr>
              <a:t>No había consultas reales de vendedores: el dataset se redactó a mano con vocabulario de mostrador.</a:t>
            </a:r>
          </a:p>
          <a:p>
            <a:pPr marL="256032" indent="-256032">
              <a:spcAft>
                <a:spcPts val="1000"/>
              </a:spcAft>
              <a:buClr>
                <a:srgbClr val="E8890C"/>
              </a:buClr>
              <a:buFont typeface="Arial"/>
              <a:buChar char="•"/>
            </a:pPr>
            <a:r>
              <a:rPr sz="1500" b="0">
                <a:solidFill>
                  <a:srgbClr val="222222"/>
                </a:solidFill>
                <a:latin typeface="Tahoma"/>
              </a:rPr>
              <a:t>Incluye marcas y modelos, códigos de repuesto, expresiones como «pa», «deme», «chao» y errores de tipeo como «toyta».</a:t>
            </a:r>
          </a:p>
          <a:p>
            <a:pPr marL="256032" indent="-256032">
              <a:spcAft>
                <a:spcPts val="1000"/>
              </a:spcAft>
              <a:buClr>
                <a:srgbClr val="E8890C"/>
              </a:buClr>
              <a:buFont typeface="Arial"/>
              <a:buChar char="•"/>
            </a:pPr>
            <a:r>
              <a:rPr sz="1500" b="0">
                <a:solidFill>
                  <a:srgbClr val="222222"/>
                </a:solidFill>
                <a:latin typeface="Tahoma"/>
              </a:rPr>
              <a:t>Creció de 65 frases (primera versión, 2026-09-05) a 374.</a:t>
            </a:r>
          </a:p>
          <a:p>
            <a:pPr marL="256032" indent="-256032">
              <a:spcAft>
                <a:spcPts val="1000"/>
              </a:spcAft>
              <a:buClr>
                <a:srgbClr val="E8890C"/>
              </a:buClr>
              <a:buFont typeface="Arial"/>
              <a:buChar char="•"/>
            </a:pPr>
            <a:r>
              <a:rPr sz="1500" b="0">
                <a:solidFill>
                  <a:srgbClr val="222222"/>
                </a:solidFill>
                <a:latin typeface="Tahoma"/>
              </a:rPr>
              <a:t>Conjunto de prueba aparte (holdout): 28 frases, 4 por intención.</a:t>
            </a:r>
          </a:p>
        </p:txBody>
      </p:sp>
      <p:sp>
        <p:nvSpPr>
          <p:cNvPr id="4" name="Rounded Rectangle 3"/>
          <p:cNvSpPr/>
          <p:nvPr/>
        </p:nvSpPr>
        <p:spPr>
          <a:xfrm>
            <a:off x="548640" y="4754880"/>
            <a:ext cx="6400800" cy="160020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777240" y="4846320"/>
            <a:ext cx="5943600" cy="1417320"/>
          </a:xfrm>
          <a:prstGeom prst="rect">
            <a:avLst/>
          </a:prstGeom>
          <a:noFill/>
        </p:spPr>
        <p:txBody>
          <a:bodyPr wrap="square" lIns="0" rIns="0" tIns="0" bIns="0" anchor="ctr">
            <a:spAutoFit/>
          </a:bodyPr>
          <a:lstStyle/>
          <a:p>
            <a:pPr algn="l">
              <a:spcAft>
                <a:spcPts val="300"/>
              </a:spcAft>
            </a:pPr>
            <a:r>
              <a:rPr sz="1500" b="1" i="0">
                <a:solidFill>
                  <a:srgbClr val="9A5400"/>
                </a:solidFill>
                <a:latin typeface="Tahoma"/>
              </a:rPr>
              <a:t>7 intenciones</a:t>
            </a:r>
          </a:p>
          <a:p>
            <a:pPr algn="l">
              <a:spcAft>
                <a:spcPts val="300"/>
              </a:spcAft>
            </a:pPr>
            <a:r>
              <a:rPr sz="1300" b="0" i="0">
                <a:solidFill>
                  <a:srgbClr val="222222"/>
                </a:solidFill>
                <a:latin typeface="Tahoma"/>
              </a:rPr>
              <a:t>buscar_repuesto · consultar_precio · consultar_stock · consultar_compatibilidad · saludo_despedida · fuera_de_dominio</a:t>
            </a:r>
          </a:p>
          <a:p>
            <a:pPr algn="l">
              <a:spcAft>
                <a:spcPts val="300"/>
              </a:spcAft>
            </a:pPr>
            <a:r>
              <a:rPr sz="1300" b="1" i="0">
                <a:solidFill>
                  <a:srgbClr val="9A5400"/>
                </a:solidFill>
                <a:latin typeface="Tahoma"/>
              </a:rPr>
              <a:t>recomendar_sustituto</a:t>
            </a:r>
            <a:r>
              <a:rPr sz="1300" b="0" i="0">
                <a:solidFill>
                  <a:srgbClr val="222222"/>
                </a:solidFill>
                <a:latin typeface="Tahoma"/>
              </a:rPr>
              <a:t> (la función central)</a:t>
            </a:r>
          </a:p>
        </p:txBody>
      </p:sp>
      <p:sp>
        <p:nvSpPr>
          <p:cNvPr id="6" name="Rounded Rectangle 5"/>
          <p:cNvSpPr/>
          <p:nvPr/>
        </p:nvSpPr>
        <p:spPr>
          <a:xfrm>
            <a:off x="7315200" y="1645920"/>
            <a:ext cx="2103120" cy="16002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7315200" y="1755648"/>
            <a:ext cx="2103120" cy="800100"/>
          </a:xfrm>
          <a:prstGeom prst="rect">
            <a:avLst/>
          </a:prstGeom>
          <a:noFill/>
        </p:spPr>
        <p:txBody>
          <a:bodyPr wrap="square" lIns="0" rIns="0" tIns="0" bIns="0" anchor="ctr">
            <a:spAutoFit/>
          </a:bodyPr>
          <a:lstStyle/>
          <a:p>
            <a:pPr algn="ctr"/>
            <a:r>
              <a:rPr sz="3400" b="1" i="0">
                <a:solidFill>
                  <a:srgbClr val="1B6FA8"/>
                </a:solidFill>
                <a:latin typeface="Tahoma"/>
              </a:rPr>
              <a:t>374</a:t>
            </a:r>
          </a:p>
        </p:txBody>
      </p:sp>
      <p:sp>
        <p:nvSpPr>
          <p:cNvPr id="8" name="TextBox 7"/>
          <p:cNvSpPr txBox="1"/>
          <p:nvPr/>
        </p:nvSpPr>
        <p:spPr>
          <a:xfrm>
            <a:off x="7406640" y="2519172"/>
            <a:ext cx="1920239" cy="411480"/>
          </a:xfrm>
          <a:prstGeom prst="rect">
            <a:avLst/>
          </a:prstGeom>
          <a:noFill/>
        </p:spPr>
        <p:txBody>
          <a:bodyPr wrap="square" lIns="0" rIns="0" tIns="0" bIns="0" anchor="t">
            <a:spAutoFit/>
          </a:bodyPr>
          <a:lstStyle/>
          <a:p>
            <a:pPr algn="ctr"/>
            <a:r>
              <a:rPr sz="1500" b="1" i="0">
                <a:solidFill>
                  <a:srgbClr val="222222"/>
                </a:solidFill>
                <a:latin typeface="Tahoma"/>
              </a:rPr>
              <a:t>frases</a:t>
            </a:r>
          </a:p>
        </p:txBody>
      </p:sp>
      <p:sp>
        <p:nvSpPr>
          <p:cNvPr id="9" name="TextBox 8"/>
          <p:cNvSpPr txBox="1"/>
          <p:nvPr/>
        </p:nvSpPr>
        <p:spPr>
          <a:xfrm>
            <a:off x="7452360" y="2921508"/>
            <a:ext cx="1828799" cy="251460"/>
          </a:xfrm>
          <a:prstGeom prst="rect">
            <a:avLst/>
          </a:prstGeom>
          <a:noFill/>
        </p:spPr>
        <p:txBody>
          <a:bodyPr wrap="square" lIns="0" rIns="0" tIns="0" bIns="0" anchor="t">
            <a:spAutoFit/>
          </a:bodyPr>
          <a:lstStyle/>
          <a:p>
            <a:pPr algn="ctr"/>
            <a:r>
              <a:rPr sz="1200" b="0" i="0">
                <a:solidFill>
                  <a:srgbClr val="5A5A5A"/>
                </a:solidFill>
                <a:latin typeface="Tahoma"/>
              </a:rPr>
              <a:t>antes: 65</a:t>
            </a:r>
          </a:p>
        </p:txBody>
      </p:sp>
      <p:sp>
        <p:nvSpPr>
          <p:cNvPr id="10" name="Rounded Rectangle 9"/>
          <p:cNvSpPr/>
          <p:nvPr/>
        </p:nvSpPr>
        <p:spPr>
          <a:xfrm>
            <a:off x="9555480" y="1645920"/>
            <a:ext cx="2103120" cy="16002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555480" y="1755648"/>
            <a:ext cx="2103120" cy="800100"/>
          </a:xfrm>
          <a:prstGeom prst="rect">
            <a:avLst/>
          </a:prstGeom>
          <a:noFill/>
        </p:spPr>
        <p:txBody>
          <a:bodyPr wrap="square" lIns="0" rIns="0" tIns="0" bIns="0" anchor="ctr">
            <a:spAutoFit/>
          </a:bodyPr>
          <a:lstStyle/>
          <a:p>
            <a:pPr algn="ctr"/>
            <a:r>
              <a:rPr sz="3000" b="1" i="0">
                <a:solidFill>
                  <a:srgbClr val="1B6FA8"/>
                </a:solidFill>
                <a:latin typeface="Tahoma"/>
              </a:rPr>
              <a:t>50–56</a:t>
            </a:r>
          </a:p>
        </p:txBody>
      </p:sp>
      <p:sp>
        <p:nvSpPr>
          <p:cNvPr id="12" name="TextBox 11"/>
          <p:cNvSpPr txBox="1"/>
          <p:nvPr/>
        </p:nvSpPr>
        <p:spPr>
          <a:xfrm>
            <a:off x="9646919" y="2519172"/>
            <a:ext cx="1920239" cy="411480"/>
          </a:xfrm>
          <a:prstGeom prst="rect">
            <a:avLst/>
          </a:prstGeom>
          <a:noFill/>
        </p:spPr>
        <p:txBody>
          <a:bodyPr wrap="square" lIns="0" rIns="0" tIns="0" bIns="0" anchor="t">
            <a:spAutoFit/>
          </a:bodyPr>
          <a:lstStyle/>
          <a:p>
            <a:pPr algn="ctr"/>
            <a:r>
              <a:rPr sz="1500" b="1" i="0">
                <a:solidFill>
                  <a:srgbClr val="222222"/>
                </a:solidFill>
                <a:latin typeface="Tahoma"/>
              </a:rPr>
              <a:t>por intención</a:t>
            </a:r>
          </a:p>
        </p:txBody>
      </p:sp>
      <p:sp>
        <p:nvSpPr>
          <p:cNvPr id="13" name="TextBox 12"/>
          <p:cNvSpPr txBox="1"/>
          <p:nvPr/>
        </p:nvSpPr>
        <p:spPr>
          <a:xfrm>
            <a:off x="9692640" y="2921508"/>
            <a:ext cx="1828799" cy="251460"/>
          </a:xfrm>
          <a:prstGeom prst="rect">
            <a:avLst/>
          </a:prstGeom>
          <a:noFill/>
        </p:spPr>
        <p:txBody>
          <a:bodyPr wrap="square" lIns="0" rIns="0" tIns="0" bIns="0" anchor="t">
            <a:spAutoFit/>
          </a:bodyPr>
          <a:lstStyle/>
          <a:p>
            <a:pPr algn="ctr"/>
            <a:r>
              <a:rPr sz="1200" b="0" i="0">
                <a:solidFill>
                  <a:srgbClr val="5A5A5A"/>
                </a:solidFill>
                <a:latin typeface="Tahoma"/>
              </a:rPr>
              <a:t>balanceado</a:t>
            </a:r>
          </a:p>
        </p:txBody>
      </p:sp>
      <p:sp>
        <p:nvSpPr>
          <p:cNvPr id="14" name="Rounded Rectangle 13"/>
          <p:cNvSpPr/>
          <p:nvPr/>
        </p:nvSpPr>
        <p:spPr>
          <a:xfrm>
            <a:off x="7315200" y="3429000"/>
            <a:ext cx="2103120" cy="14173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7315200" y="3538728"/>
            <a:ext cx="2103120" cy="708660"/>
          </a:xfrm>
          <a:prstGeom prst="rect">
            <a:avLst/>
          </a:prstGeom>
          <a:noFill/>
        </p:spPr>
        <p:txBody>
          <a:bodyPr wrap="square" lIns="0" rIns="0" tIns="0" bIns="0" anchor="ctr">
            <a:spAutoFit/>
          </a:bodyPr>
          <a:lstStyle/>
          <a:p>
            <a:pPr algn="ctr"/>
            <a:r>
              <a:rPr sz="3400" b="1" i="0">
                <a:solidFill>
                  <a:srgbClr val="2E8B57"/>
                </a:solidFill>
                <a:latin typeface="Tahoma"/>
              </a:rPr>
              <a:t>28</a:t>
            </a:r>
          </a:p>
        </p:txBody>
      </p:sp>
      <p:sp>
        <p:nvSpPr>
          <p:cNvPr id="16" name="TextBox 15"/>
          <p:cNvSpPr txBox="1"/>
          <p:nvPr/>
        </p:nvSpPr>
        <p:spPr>
          <a:xfrm>
            <a:off x="7406640" y="4210812"/>
            <a:ext cx="1920239" cy="411480"/>
          </a:xfrm>
          <a:prstGeom prst="rect">
            <a:avLst/>
          </a:prstGeom>
          <a:noFill/>
        </p:spPr>
        <p:txBody>
          <a:bodyPr wrap="square" lIns="0" rIns="0" tIns="0" bIns="0" anchor="t">
            <a:spAutoFit/>
          </a:bodyPr>
          <a:lstStyle/>
          <a:p>
            <a:pPr algn="ctr"/>
            <a:r>
              <a:rPr sz="1500" b="1" i="0">
                <a:solidFill>
                  <a:srgbClr val="222222"/>
                </a:solidFill>
                <a:latin typeface="Tahoma"/>
              </a:rPr>
              <a:t>holdout</a:t>
            </a:r>
          </a:p>
        </p:txBody>
      </p:sp>
      <p:sp>
        <p:nvSpPr>
          <p:cNvPr id="17" name="TextBox 16"/>
          <p:cNvSpPr txBox="1"/>
          <p:nvPr/>
        </p:nvSpPr>
        <p:spPr>
          <a:xfrm>
            <a:off x="7452360" y="4613148"/>
            <a:ext cx="1828799" cy="160020"/>
          </a:xfrm>
          <a:prstGeom prst="rect">
            <a:avLst/>
          </a:prstGeom>
          <a:noFill/>
        </p:spPr>
        <p:txBody>
          <a:bodyPr wrap="square" lIns="0" rIns="0" tIns="0" bIns="0" anchor="t">
            <a:spAutoFit/>
          </a:bodyPr>
          <a:lstStyle/>
          <a:p>
            <a:pPr algn="ctr"/>
            <a:r>
              <a:rPr sz="1200" b="0" i="0">
                <a:solidFill>
                  <a:srgbClr val="5A5A5A"/>
                </a:solidFill>
                <a:latin typeface="Tahoma"/>
              </a:rPr>
              <a:t>4 por intención</a:t>
            </a:r>
          </a:p>
        </p:txBody>
      </p:sp>
      <p:sp>
        <p:nvSpPr>
          <p:cNvPr id="18" name="Rounded Rectangle 17"/>
          <p:cNvSpPr/>
          <p:nvPr/>
        </p:nvSpPr>
        <p:spPr>
          <a:xfrm>
            <a:off x="9555480" y="3429000"/>
            <a:ext cx="2103120" cy="14173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555480" y="3538728"/>
            <a:ext cx="2103120" cy="708660"/>
          </a:xfrm>
          <a:prstGeom prst="rect">
            <a:avLst/>
          </a:prstGeom>
          <a:noFill/>
        </p:spPr>
        <p:txBody>
          <a:bodyPr wrap="square" lIns="0" rIns="0" tIns="0" bIns="0" anchor="ctr">
            <a:spAutoFit/>
          </a:bodyPr>
          <a:lstStyle/>
          <a:p>
            <a:pPr algn="ctr"/>
            <a:r>
              <a:rPr sz="3400" b="1" i="0">
                <a:solidFill>
                  <a:srgbClr val="2E8B57"/>
                </a:solidFill>
                <a:latin typeface="Tahoma"/>
              </a:rPr>
              <a:t>7</a:t>
            </a:r>
          </a:p>
        </p:txBody>
      </p:sp>
      <p:sp>
        <p:nvSpPr>
          <p:cNvPr id="20" name="TextBox 19"/>
          <p:cNvSpPr txBox="1"/>
          <p:nvPr/>
        </p:nvSpPr>
        <p:spPr>
          <a:xfrm>
            <a:off x="9646919" y="4210812"/>
            <a:ext cx="1920239" cy="411480"/>
          </a:xfrm>
          <a:prstGeom prst="rect">
            <a:avLst/>
          </a:prstGeom>
          <a:noFill/>
        </p:spPr>
        <p:txBody>
          <a:bodyPr wrap="square" lIns="0" rIns="0" tIns="0" bIns="0" anchor="t">
            <a:spAutoFit/>
          </a:bodyPr>
          <a:lstStyle/>
          <a:p>
            <a:pPr algn="ctr"/>
            <a:r>
              <a:rPr sz="1500" b="1" i="0">
                <a:solidFill>
                  <a:srgbClr val="222222"/>
                </a:solidFill>
                <a:latin typeface="Tahoma"/>
              </a:rPr>
              <a:t>intenciones</a:t>
            </a:r>
          </a:p>
        </p:txBody>
      </p:sp>
      <p:sp>
        <p:nvSpPr>
          <p:cNvPr id="21" name="TextBox 20"/>
          <p:cNvSpPr txBox="1"/>
          <p:nvPr/>
        </p:nvSpPr>
        <p:spPr>
          <a:xfrm>
            <a:off x="7315200" y="5029200"/>
            <a:ext cx="4343400" cy="320040"/>
          </a:xfrm>
          <a:prstGeom prst="rect">
            <a:avLst/>
          </a:prstGeom>
          <a:noFill/>
        </p:spPr>
        <p:txBody>
          <a:bodyPr wrap="square" lIns="0" rIns="0" tIns="0" bIns="0" anchor="t">
            <a:spAutoFit/>
          </a:bodyPr>
          <a:lstStyle/>
          <a:p>
            <a:pPr algn="l"/>
            <a:r>
              <a:rPr sz="1400" b="1" i="0">
                <a:solidFill>
                  <a:srgbClr val="0E4C7C"/>
                </a:solidFill>
                <a:latin typeface="Tahoma"/>
              </a:rPr>
              <a:t>Diccionario de datos</a:t>
            </a:r>
          </a:p>
        </p:txBody>
      </p:sp>
      <p:graphicFrame>
        <p:nvGraphicFramePr>
          <p:cNvPr id="22" name="Table 21"/>
          <p:cNvGraphicFramePr>
            <a:graphicFrameLocks noGrp="1"/>
          </p:cNvGraphicFramePr>
          <p:nvPr/>
        </p:nvGraphicFramePr>
        <p:xfrm>
          <a:off x="7315200" y="5394960"/>
          <a:ext cx="4343400" cy="987552"/>
        </p:xfrm>
        <a:graphic>
          <a:graphicData uri="http://schemas.openxmlformats.org/drawingml/2006/table">
            <a:tbl>
              <a:tblPr firstRow="0" bandRow="0">
                <a:tableStyleId>{5C22544A-7EE6-4342-B048-85BDC9FD1C3A}</a:tableStyleId>
              </a:tblPr>
              <a:tblGrid>
                <a:gridCol w="1280160"/>
                <a:gridCol w="3063240"/>
              </a:tblGrid>
              <a:tr h="329184">
                <a:tc>
                  <a:txBody>
                    <a:bodyPr wrap="square"/>
                    <a:lstStyle/>
                    <a:p>
                      <a:pPr algn="l"/>
                      <a:r>
                        <a:rPr sz="1200" b="1">
                          <a:solidFill>
                            <a:srgbClr val="FFFFFF"/>
                          </a:solidFill>
                          <a:latin typeface="Tahoma"/>
                        </a:rPr>
                        <a:t>Columna</a:t>
                      </a:r>
                    </a:p>
                  </a:txBody>
                  <a:tcPr marL="109728" marR="109728" marT="36576" marB="36576" anchor="ctr">
                    <a:solidFill>
                      <a:srgbClr val="0E4C7C"/>
                    </a:solidFill>
                  </a:tcPr>
                </a:tc>
                <a:tc>
                  <a:txBody>
                    <a:bodyPr wrap="square"/>
                    <a:lstStyle/>
                    <a:p>
                      <a:pPr algn="l"/>
                      <a:r>
                        <a:rPr sz="1200" b="1">
                          <a:solidFill>
                            <a:srgbClr val="FFFFFF"/>
                          </a:solidFill>
                          <a:latin typeface="Tahoma"/>
                        </a:rPr>
                        <a:t>Significado</a:t>
                      </a:r>
                    </a:p>
                  </a:txBody>
                  <a:tcPr marL="109728" marR="109728" marT="36576" marB="36576" anchor="ctr">
                    <a:solidFill>
                      <a:srgbClr val="0E4C7C"/>
                    </a:solidFill>
                  </a:tcPr>
                </a:tc>
              </a:tr>
              <a:tr h="329184">
                <a:tc>
                  <a:txBody>
                    <a:bodyPr wrap="square"/>
                    <a:lstStyle/>
                    <a:p>
                      <a:pPr algn="l"/>
                      <a:r>
                        <a:rPr sz="1200" b="0">
                          <a:solidFill>
                            <a:srgbClr val="222222"/>
                          </a:solidFill>
                          <a:latin typeface="Tahoma"/>
                        </a:rPr>
                        <a:t>texto</a:t>
                      </a:r>
                    </a:p>
                  </a:txBody>
                  <a:tcPr marL="109728" marR="109728" marT="36576" marB="36576" anchor="ctr">
                    <a:solidFill>
                      <a:srgbClr val="EEF4FA"/>
                    </a:solidFill>
                  </a:tcPr>
                </a:tc>
                <a:tc>
                  <a:txBody>
                    <a:bodyPr wrap="square"/>
                    <a:lstStyle/>
                    <a:p>
                      <a:pPr algn="l"/>
                      <a:r>
                        <a:rPr sz="1200" b="0">
                          <a:solidFill>
                            <a:srgbClr val="222222"/>
                          </a:solidFill>
                          <a:latin typeface="Tahoma"/>
                        </a:rPr>
                        <a:t>la frase</a:t>
                      </a:r>
                    </a:p>
                  </a:txBody>
                  <a:tcPr marL="109728" marR="109728" marT="36576" marB="36576" anchor="ctr">
                    <a:solidFill>
                      <a:srgbClr val="EEF4FA"/>
                    </a:solidFill>
                  </a:tcPr>
                </a:tc>
              </a:tr>
              <a:tr h="329184">
                <a:tc>
                  <a:txBody>
                    <a:bodyPr wrap="square"/>
                    <a:lstStyle/>
                    <a:p>
                      <a:pPr algn="l"/>
                      <a:r>
                        <a:rPr sz="1200" b="0">
                          <a:solidFill>
                            <a:srgbClr val="222222"/>
                          </a:solidFill>
                          <a:latin typeface="Tahoma"/>
                        </a:rPr>
                        <a:t>intencion</a:t>
                      </a:r>
                    </a:p>
                  </a:txBody>
                  <a:tcPr marL="109728" marR="109728" marT="36576" marB="36576" anchor="ctr">
                    <a:solidFill>
                      <a:srgbClr val="FFFFFF"/>
                    </a:solidFill>
                  </a:tcPr>
                </a:tc>
                <a:tc>
                  <a:txBody>
                    <a:bodyPr wrap="square"/>
                    <a:lstStyle/>
                    <a:p>
                      <a:pPr algn="l"/>
                      <a:r>
                        <a:rPr sz="1200" b="0">
                          <a:solidFill>
                            <a:srgbClr val="222222"/>
                          </a:solidFill>
                          <a:latin typeface="Tahoma"/>
                        </a:rPr>
                        <a:t>la etiqueta</a:t>
                      </a:r>
                    </a:p>
                  </a:txBody>
                  <a:tcPr marL="109728" marR="109728" marT="36576" marB="36576"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La base de datos</a:t>
            </a:r>
          </a:p>
        </p:txBody>
      </p:sp>
      <p:sp>
        <p:nvSpPr>
          <p:cNvPr id="3" name="TextBox 2"/>
          <p:cNvSpPr txBox="1"/>
          <p:nvPr/>
        </p:nvSpPr>
        <p:spPr>
          <a:xfrm>
            <a:off x="548640" y="1463040"/>
            <a:ext cx="7315200" cy="365760"/>
          </a:xfrm>
          <a:prstGeom prst="rect">
            <a:avLst/>
          </a:prstGeom>
          <a:noFill/>
        </p:spPr>
        <p:txBody>
          <a:bodyPr wrap="square" lIns="0" rIns="0" tIns="0" bIns="0" anchor="t">
            <a:spAutoFit/>
          </a:bodyPr>
          <a:lstStyle/>
          <a:p>
            <a:pPr algn="l"/>
            <a:r>
              <a:rPr sz="1600" b="1" i="0">
                <a:solidFill>
                  <a:srgbClr val="0E4C7C"/>
                </a:solidFill>
                <a:latin typeface="Tahoma"/>
              </a:rPr>
              <a:t>18 tablas en 3 grupos</a:t>
            </a:r>
          </a:p>
        </p:txBody>
      </p:sp>
      <p:sp>
        <p:nvSpPr>
          <p:cNvPr id="4" name="Rounded Rectangle 3"/>
          <p:cNvSpPr/>
          <p:nvPr/>
        </p:nvSpPr>
        <p:spPr>
          <a:xfrm>
            <a:off x="548640" y="1874519"/>
            <a:ext cx="3566160" cy="14173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Oval 4"/>
          <p:cNvSpPr/>
          <p:nvPr/>
        </p:nvSpPr>
        <p:spPr>
          <a:xfrm>
            <a:off x="731520" y="2057400"/>
            <a:ext cx="502920" cy="502920"/>
          </a:xfrm>
          <a:prstGeom prst="ellipse">
            <a:avLst/>
          </a:prstGeom>
          <a:solidFill>
            <a:srgbClr val="1B6FA8"/>
          </a:solidFill>
          <a:ln>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Tahoma"/>
              </a:rPr>
              <a:t>1</a:t>
            </a:r>
          </a:p>
        </p:txBody>
      </p:sp>
      <p:sp>
        <p:nvSpPr>
          <p:cNvPr id="6" name="TextBox 5"/>
          <p:cNvSpPr txBox="1"/>
          <p:nvPr/>
        </p:nvSpPr>
        <p:spPr>
          <a:xfrm>
            <a:off x="1371600" y="2057400"/>
            <a:ext cx="2651760" cy="502920"/>
          </a:xfrm>
          <a:prstGeom prst="rect">
            <a:avLst/>
          </a:prstGeom>
          <a:noFill/>
        </p:spPr>
        <p:txBody>
          <a:bodyPr wrap="square" lIns="0" rIns="0" tIns="0" bIns="0" anchor="ctr">
            <a:spAutoFit/>
          </a:bodyPr>
          <a:lstStyle/>
          <a:p>
            <a:pPr algn="l"/>
            <a:r>
              <a:rPr sz="1600" b="1" i="0">
                <a:solidFill>
                  <a:srgbClr val="222222"/>
                </a:solidFill>
                <a:latin typeface="Tahoma"/>
              </a:rPr>
              <a:t>Punto de venta</a:t>
            </a:r>
          </a:p>
        </p:txBody>
      </p:sp>
      <p:sp>
        <p:nvSpPr>
          <p:cNvPr id="7" name="TextBox 6"/>
          <p:cNvSpPr txBox="1"/>
          <p:nvPr/>
        </p:nvSpPr>
        <p:spPr>
          <a:xfrm>
            <a:off x="731520" y="2697480"/>
            <a:ext cx="3200400" cy="548640"/>
          </a:xfrm>
          <a:prstGeom prst="rect">
            <a:avLst/>
          </a:prstGeom>
          <a:noFill/>
        </p:spPr>
        <p:txBody>
          <a:bodyPr wrap="square" lIns="0" rIns="0" tIns="0" bIns="0" anchor="t">
            <a:spAutoFit/>
          </a:bodyPr>
          <a:lstStyle/>
          <a:p>
            <a:pPr algn="l"/>
            <a:r>
              <a:rPr sz="1200" b="0" i="0">
                <a:solidFill>
                  <a:srgbClr val="5A5A5A"/>
                </a:solidFill>
                <a:latin typeface="Tahoma"/>
              </a:rPr>
              <a:t>usuarios, clientes, ventas, cotizaciones…</a:t>
            </a:r>
          </a:p>
        </p:txBody>
      </p:sp>
      <p:sp>
        <p:nvSpPr>
          <p:cNvPr id="8" name="Rounded Rectangle 7"/>
          <p:cNvSpPr/>
          <p:nvPr/>
        </p:nvSpPr>
        <p:spPr>
          <a:xfrm>
            <a:off x="4297679" y="1874519"/>
            <a:ext cx="3566160" cy="14173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480559" y="2057400"/>
            <a:ext cx="502920" cy="502920"/>
          </a:xfrm>
          <a:prstGeom prst="ellipse">
            <a:avLst/>
          </a:prstGeom>
          <a:solidFill>
            <a:srgbClr val="0E4C7C"/>
          </a:solidFill>
          <a:ln>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Tahoma"/>
              </a:rPr>
              <a:t>2</a:t>
            </a:r>
          </a:p>
        </p:txBody>
      </p:sp>
      <p:sp>
        <p:nvSpPr>
          <p:cNvPr id="10" name="TextBox 9"/>
          <p:cNvSpPr txBox="1"/>
          <p:nvPr/>
        </p:nvSpPr>
        <p:spPr>
          <a:xfrm>
            <a:off x="5120640" y="2057400"/>
            <a:ext cx="2651760" cy="502920"/>
          </a:xfrm>
          <a:prstGeom prst="rect">
            <a:avLst/>
          </a:prstGeom>
          <a:noFill/>
        </p:spPr>
        <p:txBody>
          <a:bodyPr wrap="square" lIns="0" rIns="0" tIns="0" bIns="0" anchor="ctr">
            <a:spAutoFit/>
          </a:bodyPr>
          <a:lstStyle/>
          <a:p>
            <a:pPr algn="l"/>
            <a:r>
              <a:rPr sz="1600" b="1" i="0">
                <a:solidFill>
                  <a:srgbClr val="222222"/>
                </a:solidFill>
                <a:latin typeface="Tahoma"/>
              </a:rPr>
              <a:t>Catálogo</a:t>
            </a:r>
          </a:p>
        </p:txBody>
      </p:sp>
      <p:sp>
        <p:nvSpPr>
          <p:cNvPr id="11" name="TextBox 10"/>
          <p:cNvSpPr txBox="1"/>
          <p:nvPr/>
        </p:nvSpPr>
        <p:spPr>
          <a:xfrm>
            <a:off x="4480559" y="2697480"/>
            <a:ext cx="3200400" cy="548640"/>
          </a:xfrm>
          <a:prstGeom prst="rect">
            <a:avLst/>
          </a:prstGeom>
          <a:noFill/>
        </p:spPr>
        <p:txBody>
          <a:bodyPr wrap="square" lIns="0" rIns="0" tIns="0" bIns="0" anchor="t">
            <a:spAutoFit/>
          </a:bodyPr>
          <a:lstStyle/>
          <a:p>
            <a:pPr algn="l"/>
            <a:r>
              <a:rPr sz="1200" b="0" i="0">
                <a:solidFill>
                  <a:srgbClr val="5A5A5A"/>
                </a:solidFill>
                <a:latin typeface="Tahoma"/>
              </a:rPr>
              <a:t>repuestos, categorías, proveedores, vehículos, repuesto_compatibilidad</a:t>
            </a:r>
          </a:p>
        </p:txBody>
      </p:sp>
      <p:sp>
        <p:nvSpPr>
          <p:cNvPr id="12" name="Rounded Rectangle 11"/>
          <p:cNvSpPr/>
          <p:nvPr/>
        </p:nvSpPr>
        <p:spPr>
          <a:xfrm>
            <a:off x="8046719" y="1874519"/>
            <a:ext cx="3566160" cy="14173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8229599" y="2057400"/>
            <a:ext cx="502920" cy="50292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Tahoma"/>
              </a:rPr>
              <a:t>3</a:t>
            </a:r>
          </a:p>
        </p:txBody>
      </p:sp>
      <p:sp>
        <p:nvSpPr>
          <p:cNvPr id="14" name="TextBox 13"/>
          <p:cNvSpPr txBox="1"/>
          <p:nvPr/>
        </p:nvSpPr>
        <p:spPr>
          <a:xfrm>
            <a:off x="8869680" y="2057400"/>
            <a:ext cx="2651760" cy="502920"/>
          </a:xfrm>
          <a:prstGeom prst="rect">
            <a:avLst/>
          </a:prstGeom>
          <a:noFill/>
        </p:spPr>
        <p:txBody>
          <a:bodyPr wrap="square" lIns="0" rIns="0" tIns="0" bIns="0" anchor="ctr">
            <a:spAutoFit/>
          </a:bodyPr>
          <a:lstStyle/>
          <a:p>
            <a:pPr algn="l"/>
            <a:r>
              <a:rPr sz="1600" b="1" i="0">
                <a:solidFill>
                  <a:srgbClr val="222222"/>
                </a:solidFill>
                <a:latin typeface="Tahoma"/>
              </a:rPr>
              <a:t>Asistente NLP</a:t>
            </a:r>
          </a:p>
        </p:txBody>
      </p:sp>
      <p:sp>
        <p:nvSpPr>
          <p:cNvPr id="15" name="TextBox 14"/>
          <p:cNvSpPr txBox="1"/>
          <p:nvPr/>
        </p:nvSpPr>
        <p:spPr>
          <a:xfrm>
            <a:off x="8229599" y="2697480"/>
            <a:ext cx="3200400" cy="548640"/>
          </a:xfrm>
          <a:prstGeom prst="rect">
            <a:avLst/>
          </a:prstGeom>
          <a:noFill/>
        </p:spPr>
        <p:txBody>
          <a:bodyPr wrap="square" lIns="0" rIns="0" tIns="0" bIns="0" anchor="t">
            <a:spAutoFit/>
          </a:bodyPr>
          <a:lstStyle/>
          <a:p>
            <a:pPr algn="l"/>
            <a:r>
              <a:rPr sz="1200" b="0" i="0">
                <a:solidFill>
                  <a:srgbClr val="5A5A5A"/>
                </a:solidFill>
                <a:latin typeface="Tahoma"/>
              </a:rPr>
              <a:t>consultas del asistente y dataset de frases</a:t>
            </a:r>
          </a:p>
        </p:txBody>
      </p:sp>
      <p:sp>
        <p:nvSpPr>
          <p:cNvPr id="16" name="TextBox 15"/>
          <p:cNvSpPr txBox="1"/>
          <p:nvPr/>
        </p:nvSpPr>
        <p:spPr>
          <a:xfrm>
            <a:off x="548640" y="3520440"/>
            <a:ext cx="7315200" cy="365760"/>
          </a:xfrm>
          <a:prstGeom prst="rect">
            <a:avLst/>
          </a:prstGeom>
          <a:noFill/>
        </p:spPr>
        <p:txBody>
          <a:bodyPr wrap="square" lIns="0" rIns="0" tIns="0" bIns="0" anchor="t">
            <a:spAutoFit/>
          </a:bodyPr>
          <a:lstStyle/>
          <a:p>
            <a:pPr algn="l"/>
            <a:r>
              <a:rPr sz="1600" b="1" i="0">
                <a:solidFill>
                  <a:srgbClr val="0E4C7C"/>
                </a:solidFill>
                <a:latin typeface="Tahoma"/>
              </a:rPr>
              <a:t>3 tablas nuevas</a:t>
            </a:r>
          </a:p>
        </p:txBody>
      </p:sp>
      <p:graphicFrame>
        <p:nvGraphicFramePr>
          <p:cNvPr id="17" name="Table 16"/>
          <p:cNvGraphicFramePr>
            <a:graphicFrameLocks noGrp="1"/>
          </p:cNvGraphicFramePr>
          <p:nvPr/>
        </p:nvGraphicFramePr>
        <p:xfrm>
          <a:off x="548640" y="3931920"/>
          <a:ext cx="5852160" cy="1828800"/>
        </p:xfrm>
        <a:graphic>
          <a:graphicData uri="http://schemas.openxmlformats.org/drawingml/2006/table">
            <a:tbl>
              <a:tblPr firstRow="0" bandRow="0">
                <a:tableStyleId>{5C22544A-7EE6-4342-B048-85BDC9FD1C3A}</a:tableStyleId>
              </a:tblPr>
              <a:tblGrid>
                <a:gridCol w="3108960"/>
                <a:gridCol w="914400"/>
                <a:gridCol w="1828800"/>
              </a:tblGrid>
              <a:tr h="457200">
                <a:tc>
                  <a:txBody>
                    <a:bodyPr wrap="square"/>
                    <a:lstStyle/>
                    <a:p>
                      <a:pPr algn="l"/>
                      <a:r>
                        <a:rPr sz="1200" b="1">
                          <a:solidFill>
                            <a:srgbClr val="FFFFFF"/>
                          </a:solidFill>
                          <a:latin typeface="Tahoma"/>
                        </a:rPr>
                        <a:t>Tabla</a:t>
                      </a:r>
                    </a:p>
                  </a:txBody>
                  <a:tcPr marL="109728" marR="109728" marT="36576" marB="36576" anchor="ctr">
                    <a:solidFill>
                      <a:srgbClr val="0E4C7C"/>
                    </a:solidFill>
                  </a:tcPr>
                </a:tc>
                <a:tc>
                  <a:txBody>
                    <a:bodyPr wrap="square"/>
                    <a:lstStyle/>
                    <a:p>
                      <a:pPr algn="ctr"/>
                      <a:r>
                        <a:rPr sz="1200" b="1">
                          <a:solidFill>
                            <a:srgbClr val="FFFFFF"/>
                          </a:solidFill>
                          <a:latin typeface="Tahoma"/>
                        </a:rPr>
                        <a:t>Filas</a:t>
                      </a:r>
                    </a:p>
                  </a:txBody>
                  <a:tcPr marL="109728" marR="109728" marT="36576" marB="36576" anchor="ctr">
                    <a:solidFill>
                      <a:srgbClr val="0E4C7C"/>
                    </a:solidFill>
                  </a:tcPr>
                </a:tc>
                <a:tc>
                  <a:txBody>
                    <a:bodyPr wrap="square"/>
                    <a:lstStyle/>
                    <a:p>
                      <a:pPr algn="l"/>
                      <a:r>
                        <a:rPr sz="1200" b="1">
                          <a:solidFill>
                            <a:srgbClr val="FFFFFF"/>
                          </a:solidFill>
                          <a:latin typeface="Tahoma"/>
                        </a:rPr>
                        <a:t>Contenido</a:t>
                      </a:r>
                    </a:p>
                  </a:txBody>
                  <a:tcPr marL="109728" marR="109728" marT="36576" marB="36576" anchor="ctr">
                    <a:solidFill>
                      <a:srgbClr val="0E4C7C"/>
                    </a:solidFill>
                  </a:tcPr>
                </a:tc>
              </a:tr>
              <a:tr h="457200">
                <a:tc>
                  <a:txBody>
                    <a:bodyPr wrap="square"/>
                    <a:lstStyle/>
                    <a:p>
                      <a:pPr algn="l"/>
                      <a:r>
                        <a:rPr sz="1200" b="0">
                          <a:solidFill>
                            <a:srgbClr val="222222"/>
                          </a:solidFill>
                          <a:latin typeface="Tahoma"/>
                        </a:rPr>
                        <a:t>nlp_intenciones</a:t>
                      </a:r>
                    </a:p>
                  </a:txBody>
                  <a:tcPr marL="109728" marR="109728" marT="36576" marB="36576" anchor="ctr">
                    <a:solidFill>
                      <a:srgbClr val="EEF4FA"/>
                    </a:solidFill>
                  </a:tcPr>
                </a:tc>
                <a:tc>
                  <a:txBody>
                    <a:bodyPr wrap="square"/>
                    <a:lstStyle/>
                    <a:p>
                      <a:pPr algn="ctr"/>
                      <a:r>
                        <a:rPr sz="1200" b="0">
                          <a:solidFill>
                            <a:srgbClr val="222222"/>
                          </a:solidFill>
                          <a:latin typeface="Tahoma"/>
                        </a:rPr>
                        <a:t>7</a:t>
                      </a:r>
                    </a:p>
                  </a:txBody>
                  <a:tcPr marL="109728" marR="109728" marT="36576" marB="36576" anchor="ctr">
                    <a:solidFill>
                      <a:srgbClr val="EEF4FA"/>
                    </a:solidFill>
                  </a:tcPr>
                </a:tc>
                <a:tc>
                  <a:txBody>
                    <a:bodyPr wrap="square"/>
                    <a:lstStyle/>
                    <a:p>
                      <a:pPr algn="l"/>
                      <a:r>
                        <a:rPr sz="1200" b="0">
                          <a:solidFill>
                            <a:srgbClr val="222222"/>
                          </a:solidFill>
                          <a:latin typeface="Tahoma"/>
                        </a:rPr>
                        <a:t>las intenciones</a:t>
                      </a:r>
                    </a:p>
                  </a:txBody>
                  <a:tcPr marL="109728" marR="109728" marT="36576" marB="36576" anchor="ctr">
                    <a:solidFill>
                      <a:srgbClr val="EEF4FA"/>
                    </a:solidFill>
                  </a:tcPr>
                </a:tc>
              </a:tr>
              <a:tr h="457200">
                <a:tc>
                  <a:txBody>
                    <a:bodyPr wrap="square"/>
                    <a:lstStyle/>
                    <a:p>
                      <a:pPr algn="l"/>
                      <a:r>
                        <a:rPr sz="1200" b="0">
                          <a:solidFill>
                            <a:srgbClr val="222222"/>
                          </a:solidFill>
                          <a:latin typeface="Tahoma"/>
                        </a:rPr>
                        <a:t>nlp_frases</a:t>
                      </a:r>
                    </a:p>
                  </a:txBody>
                  <a:tcPr marL="109728" marR="109728" marT="36576" marB="36576" anchor="ctr">
                    <a:solidFill>
                      <a:srgbClr val="FFFFFF"/>
                    </a:solidFill>
                  </a:tcPr>
                </a:tc>
                <a:tc>
                  <a:txBody>
                    <a:bodyPr wrap="square"/>
                    <a:lstStyle/>
                    <a:p>
                      <a:pPr algn="ctr"/>
                      <a:r>
                        <a:rPr sz="1200" b="0">
                          <a:solidFill>
                            <a:srgbClr val="222222"/>
                          </a:solidFill>
                          <a:latin typeface="Tahoma"/>
                        </a:rPr>
                        <a:t>402</a:t>
                      </a:r>
                    </a:p>
                  </a:txBody>
                  <a:tcPr marL="109728" marR="109728" marT="36576" marB="36576" anchor="ctr">
                    <a:solidFill>
                      <a:srgbClr val="FFFFFF"/>
                    </a:solidFill>
                  </a:tcPr>
                </a:tc>
                <a:tc>
                  <a:txBody>
                    <a:bodyPr wrap="square"/>
                    <a:lstStyle/>
                    <a:p>
                      <a:pPr algn="l"/>
                      <a:r>
                        <a:rPr sz="1200" b="0">
                          <a:solidFill>
                            <a:srgbClr val="222222"/>
                          </a:solidFill>
                          <a:latin typeface="Tahoma"/>
                        </a:rPr>
                        <a:t>374 entrenamiento + 28 holdout</a:t>
                      </a:r>
                    </a:p>
                  </a:txBody>
                  <a:tcPr marL="109728" marR="109728" marT="36576" marB="36576" anchor="ctr">
                    <a:solidFill>
                      <a:srgbClr val="FFFFFF"/>
                    </a:solidFill>
                  </a:tcPr>
                </a:tc>
              </a:tr>
              <a:tr h="457200">
                <a:tc>
                  <a:txBody>
                    <a:bodyPr wrap="square"/>
                    <a:lstStyle/>
                    <a:p>
                      <a:pPr algn="l"/>
                      <a:r>
                        <a:rPr sz="1200" b="0">
                          <a:solidFill>
                            <a:srgbClr val="222222"/>
                          </a:solidFill>
                          <a:latin typeface="Tahoma"/>
                        </a:rPr>
                        <a:t>nlp_predicciones</a:t>
                      </a:r>
                    </a:p>
                  </a:txBody>
                  <a:tcPr marL="109728" marR="109728" marT="36576" marB="36576" anchor="ctr">
                    <a:solidFill>
                      <a:srgbClr val="EEF4FA"/>
                    </a:solidFill>
                  </a:tcPr>
                </a:tc>
                <a:tc>
                  <a:txBody>
                    <a:bodyPr wrap="square"/>
                    <a:lstStyle/>
                    <a:p>
                      <a:pPr algn="ctr"/>
                      <a:r>
                        <a:rPr sz="1200" b="0">
                          <a:solidFill>
                            <a:srgbClr val="222222"/>
                          </a:solidFill>
                          <a:latin typeface="Tahoma"/>
                        </a:rPr>
                        <a:t>401</a:t>
                      </a:r>
                    </a:p>
                  </a:txBody>
                  <a:tcPr marL="109728" marR="109728" marT="36576" marB="36576" anchor="ctr">
                    <a:solidFill>
                      <a:srgbClr val="EEF4FA"/>
                    </a:solidFill>
                  </a:tcPr>
                </a:tc>
                <a:tc>
                  <a:txBody>
                    <a:bodyPr wrap="square"/>
                    <a:lstStyle/>
                    <a:p>
                      <a:pPr algn="l"/>
                      <a:r>
                        <a:rPr sz="1200" b="0">
                          <a:solidFill>
                            <a:srgbClr val="222222"/>
                          </a:solidFill>
                          <a:latin typeface="Tahoma"/>
                        </a:rPr>
                        <a:t>resultados del modelo</a:t>
                      </a:r>
                    </a:p>
                  </a:txBody>
                  <a:tcPr marL="109728" marR="109728" marT="36576" marB="36576" anchor="ctr">
                    <a:solidFill>
                      <a:srgbClr val="EEF4FA"/>
                    </a:solidFill>
                  </a:tcPr>
                </a:tc>
              </a:tr>
            </a:tbl>
          </a:graphicData>
        </a:graphic>
      </p:graphicFrame>
      <p:sp>
        <p:nvSpPr>
          <p:cNvPr id="18" name="TextBox 17"/>
          <p:cNvSpPr txBox="1"/>
          <p:nvPr/>
        </p:nvSpPr>
        <p:spPr>
          <a:xfrm>
            <a:off x="6766560" y="3566160"/>
            <a:ext cx="4892040" cy="2834640"/>
          </a:xfrm>
          <a:prstGeom prst="rect">
            <a:avLst/>
          </a:prstGeom>
          <a:noFill/>
        </p:spPr>
        <p:txBody>
          <a:bodyPr wrap="square" lIns="0" rIns="0" tIns="0" bIns="0">
            <a:spAutoFit/>
          </a:bodyPr>
          <a:lstStyle/>
          <a:p>
            <a:pPr marL="256032" indent="-256032">
              <a:spcAft>
                <a:spcPts val="800"/>
              </a:spcAft>
              <a:buClr>
                <a:srgbClr val="E8890C"/>
              </a:buClr>
              <a:buFont typeface="Arial"/>
              <a:buChar char="•"/>
            </a:pPr>
            <a:r>
              <a:rPr sz="1300" b="0">
                <a:solidFill>
                  <a:srgbClr val="222222"/>
                </a:solidFill>
                <a:latin typeface="Tahoma"/>
              </a:rPr>
              <a:t>Base real: Oracle 23ai.</a:t>
            </a:r>
          </a:p>
          <a:p>
            <a:pPr marL="256032" indent="-256032">
              <a:spcAft>
                <a:spcPts val="800"/>
              </a:spcAft>
              <a:buClr>
                <a:srgbClr val="E8890C"/>
              </a:buClr>
              <a:buFont typeface="Arial"/>
              <a:buChar char="•"/>
            </a:pPr>
            <a:r>
              <a:rPr sz="1300" b="0">
                <a:solidFill>
                  <a:srgbClr val="222222"/>
                </a:solidFill>
                <a:latin typeface="Tahoma"/>
              </a:rPr>
              <a:t>Réplica en SQLite para el análisis, creada con oracle/02_ddl_tablas.sql y oracle/05_seed.sql.</a:t>
            </a:r>
          </a:p>
          <a:p>
            <a:pPr marL="256032" indent="-256032">
              <a:spcAft>
                <a:spcPts val="800"/>
              </a:spcAft>
              <a:buClr>
                <a:srgbClr val="E8890C"/>
              </a:buClr>
              <a:buFont typeface="Arial"/>
              <a:buChar char="•"/>
            </a:pPr>
            <a:r>
              <a:rPr sz="1300" b="0">
                <a:solidFill>
                  <a:srgbClr val="222222"/>
                </a:solidFill>
                <a:latin typeface="Tahoma"/>
              </a:rPr>
              <a:t>Carga verificada fila por fila contra los CSV originales: idénticos.</a:t>
            </a:r>
          </a:p>
          <a:p>
            <a:pPr marL="256032" indent="-256032">
              <a:spcAft>
                <a:spcPts val="800"/>
              </a:spcAft>
              <a:buClr>
                <a:srgbClr val="E8890C"/>
              </a:buClr>
              <a:buFont typeface="Arial"/>
              <a:buChar char="•"/>
            </a:pPr>
            <a:r>
              <a:rPr sz="1300" b="0">
                <a:solidFill>
                  <a:srgbClr val="222222"/>
                </a:solidFill>
                <a:latin typeface="Tahoma"/>
              </a:rPr>
              <a:t>Script 12_dataset_nlp_oracle.sql para cargar el dataset en el Oracle real.</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Diagrama entidad-relación</a:t>
            </a:r>
          </a:p>
        </p:txBody>
      </p:sp>
      <p:sp>
        <p:nvSpPr>
          <p:cNvPr id="3" name="Rounded Rectangle 2"/>
          <p:cNvSpPr/>
          <p:nvPr/>
        </p:nvSpPr>
        <p:spPr>
          <a:xfrm>
            <a:off x="365760" y="1463040"/>
            <a:ext cx="6858000" cy="4937760"/>
          </a:xfrm>
          <a:prstGeom prst="roundRect">
            <a:avLst>
              <a:gd name="adj" fmla="val 4600"/>
            </a:avLst>
          </a:prstGeom>
          <a:solidFill>
            <a:srgbClr val="F6F9FC"/>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536192"/>
            <a:ext cx="2743200" cy="274320"/>
          </a:xfrm>
          <a:prstGeom prst="rect">
            <a:avLst/>
          </a:prstGeom>
          <a:noFill/>
        </p:spPr>
        <p:txBody>
          <a:bodyPr wrap="square" lIns="0" rIns="0" tIns="0" bIns="0" anchor="t">
            <a:spAutoFit/>
          </a:bodyPr>
          <a:lstStyle/>
          <a:p>
            <a:pPr algn="l"/>
            <a:r>
              <a:rPr sz="1300" b="1" i="0">
                <a:solidFill>
                  <a:srgbClr val="5A5A5A"/>
                </a:solidFill>
                <a:latin typeface="Tahoma"/>
              </a:rPr>
              <a:t>Catálogo</a:t>
            </a:r>
          </a:p>
        </p:txBody>
      </p:sp>
      <p:sp>
        <p:nvSpPr>
          <p:cNvPr id="5" name="Rounded Rectangle 4"/>
          <p:cNvSpPr/>
          <p:nvPr/>
        </p:nvSpPr>
        <p:spPr>
          <a:xfrm>
            <a:off x="7452360" y="1463040"/>
            <a:ext cx="2194560" cy="4937760"/>
          </a:xfrm>
          <a:prstGeom prst="roundRect">
            <a:avLst>
              <a:gd name="adj" fmla="val 4600"/>
            </a:avLst>
          </a:prstGeom>
          <a:solidFill>
            <a:srgbClr val="F6F9FC"/>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635240" y="1536192"/>
            <a:ext cx="2011680" cy="274320"/>
          </a:xfrm>
          <a:prstGeom prst="rect">
            <a:avLst/>
          </a:prstGeom>
          <a:noFill/>
        </p:spPr>
        <p:txBody>
          <a:bodyPr wrap="square" lIns="0" rIns="0" tIns="0" bIns="0" anchor="t">
            <a:spAutoFit/>
          </a:bodyPr>
          <a:lstStyle/>
          <a:p>
            <a:pPr algn="l"/>
            <a:r>
              <a:rPr sz="1300" b="1" i="0">
                <a:solidFill>
                  <a:srgbClr val="5A5A5A"/>
                </a:solidFill>
                <a:latin typeface="Tahoma"/>
              </a:rPr>
              <a:t>Asistente</a:t>
            </a:r>
          </a:p>
        </p:txBody>
      </p:sp>
      <p:sp>
        <p:nvSpPr>
          <p:cNvPr id="7" name="Rounded Rectangle 6"/>
          <p:cNvSpPr/>
          <p:nvPr/>
        </p:nvSpPr>
        <p:spPr>
          <a:xfrm>
            <a:off x="9784080" y="1463040"/>
            <a:ext cx="2057400" cy="4937760"/>
          </a:xfrm>
          <a:prstGeom prst="roundRect">
            <a:avLst>
              <a:gd name="adj" fmla="val 4600"/>
            </a:avLst>
          </a:prstGeom>
          <a:solidFill>
            <a:srgbClr val="F6F9FC"/>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966960" y="1536192"/>
            <a:ext cx="1828800" cy="274320"/>
          </a:xfrm>
          <a:prstGeom prst="rect">
            <a:avLst/>
          </a:prstGeom>
          <a:noFill/>
        </p:spPr>
        <p:txBody>
          <a:bodyPr wrap="square" lIns="0" rIns="0" tIns="0" bIns="0" anchor="t">
            <a:spAutoFit/>
          </a:bodyPr>
          <a:lstStyle/>
          <a:p>
            <a:pPr algn="l"/>
            <a:r>
              <a:rPr sz="1300" b="1" i="0">
                <a:solidFill>
                  <a:srgbClr val="5A5A5A"/>
                </a:solidFill>
                <a:latin typeface="Tahoma"/>
              </a:rPr>
              <a:t>Dataset NLP</a:t>
            </a:r>
          </a:p>
        </p:txBody>
      </p:sp>
      <p:cxnSp>
        <p:nvCxnSpPr>
          <p:cNvPr id="9" name="Connector 8"/>
          <p:cNvCxnSpPr/>
          <p:nvPr/>
        </p:nvCxnSpPr>
        <p:spPr>
          <a:xfrm>
            <a:off x="1783080" y="2606040"/>
            <a:ext cx="1234440" cy="64008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flipH="1">
            <a:off x="4297680" y="2606040"/>
            <a:ext cx="1234440" cy="64008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200400" y="3931920"/>
            <a:ext cx="0" cy="77724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4389120" y="5056632"/>
            <a:ext cx="548640" cy="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31520" y="1920240"/>
            <a:ext cx="2103120" cy="6858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731520" y="1920240"/>
            <a:ext cx="2103120" cy="685800"/>
          </a:xfrm>
          <a:prstGeom prst="rect">
            <a:avLst/>
          </a:prstGeom>
          <a:noFill/>
        </p:spPr>
        <p:txBody>
          <a:bodyPr wrap="square" lIns="0" rIns="0" tIns="0" bIns="0" anchor="ctr">
            <a:spAutoFit/>
          </a:bodyPr>
          <a:lstStyle/>
          <a:p>
            <a:pPr algn="ctr"/>
            <a:r>
              <a:rPr sz="1300" b="1" i="0">
                <a:solidFill>
                  <a:srgbClr val="FFFFFF"/>
                </a:solidFill>
                <a:latin typeface="Tahoma"/>
              </a:rPr>
              <a:t>categorias</a:t>
            </a:r>
          </a:p>
        </p:txBody>
      </p:sp>
      <p:sp>
        <p:nvSpPr>
          <p:cNvPr id="15" name="Rounded Rectangle 14"/>
          <p:cNvSpPr/>
          <p:nvPr/>
        </p:nvSpPr>
        <p:spPr>
          <a:xfrm>
            <a:off x="4434840" y="1920240"/>
            <a:ext cx="2103120" cy="6858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434840" y="1920240"/>
            <a:ext cx="2103120" cy="685800"/>
          </a:xfrm>
          <a:prstGeom prst="rect">
            <a:avLst/>
          </a:prstGeom>
          <a:noFill/>
        </p:spPr>
        <p:txBody>
          <a:bodyPr wrap="square" lIns="0" rIns="0" tIns="0" bIns="0" anchor="ctr">
            <a:spAutoFit/>
          </a:bodyPr>
          <a:lstStyle/>
          <a:p>
            <a:pPr algn="ctr"/>
            <a:r>
              <a:rPr sz="1300" b="1" i="0">
                <a:solidFill>
                  <a:srgbClr val="FFFFFF"/>
                </a:solidFill>
                <a:latin typeface="Tahoma"/>
              </a:rPr>
              <a:t>proveedores</a:t>
            </a:r>
          </a:p>
        </p:txBody>
      </p:sp>
      <p:sp>
        <p:nvSpPr>
          <p:cNvPr id="17" name="Rounded Rectangle 16"/>
          <p:cNvSpPr/>
          <p:nvPr/>
        </p:nvSpPr>
        <p:spPr>
          <a:xfrm>
            <a:off x="2103120" y="3246120"/>
            <a:ext cx="2194560" cy="685800"/>
          </a:xfrm>
          <a:prstGeom prst="roundRect">
            <a:avLst>
              <a:gd name="adj" fmla="val 4600"/>
            </a:avLst>
          </a:prstGeom>
          <a:solidFill>
            <a:srgbClr val="0E4C7C"/>
          </a:solidFill>
          <a:ln w="12700">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2103120" y="3246120"/>
            <a:ext cx="2194560" cy="685800"/>
          </a:xfrm>
          <a:prstGeom prst="rect">
            <a:avLst/>
          </a:prstGeom>
          <a:noFill/>
        </p:spPr>
        <p:txBody>
          <a:bodyPr wrap="square" lIns="0" rIns="0" tIns="0" bIns="0" anchor="ctr">
            <a:spAutoFit/>
          </a:bodyPr>
          <a:lstStyle/>
          <a:p>
            <a:pPr algn="ctr"/>
            <a:r>
              <a:rPr sz="1300" b="1" i="0">
                <a:solidFill>
                  <a:srgbClr val="FFFFFF"/>
                </a:solidFill>
                <a:latin typeface="Tahoma"/>
              </a:rPr>
              <a:t>repuestos</a:t>
            </a:r>
          </a:p>
        </p:txBody>
      </p:sp>
      <p:sp>
        <p:nvSpPr>
          <p:cNvPr id="19" name="Rounded Rectangle 18"/>
          <p:cNvSpPr/>
          <p:nvPr/>
        </p:nvSpPr>
        <p:spPr>
          <a:xfrm>
            <a:off x="2103120" y="4709160"/>
            <a:ext cx="2194560" cy="6858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2103120" y="4709160"/>
            <a:ext cx="2194560" cy="685800"/>
          </a:xfrm>
          <a:prstGeom prst="rect">
            <a:avLst/>
          </a:prstGeom>
          <a:noFill/>
        </p:spPr>
        <p:txBody>
          <a:bodyPr wrap="square" lIns="0" rIns="0" tIns="0" bIns="0" anchor="ctr">
            <a:spAutoFit/>
          </a:bodyPr>
          <a:lstStyle/>
          <a:p>
            <a:pPr algn="ctr"/>
            <a:r>
              <a:rPr sz="1100" b="1" i="0">
                <a:solidFill>
                  <a:srgbClr val="FFFFFF"/>
                </a:solidFill>
                <a:latin typeface="Tahoma"/>
              </a:rPr>
              <a:t>repuesto_compatibilidad</a:t>
            </a:r>
          </a:p>
        </p:txBody>
      </p:sp>
      <p:sp>
        <p:nvSpPr>
          <p:cNvPr id="21" name="Rounded Rectangle 20"/>
          <p:cNvSpPr/>
          <p:nvPr/>
        </p:nvSpPr>
        <p:spPr>
          <a:xfrm>
            <a:off x="4937760" y="4709160"/>
            <a:ext cx="2103120" cy="6858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4937760" y="4709160"/>
            <a:ext cx="2103120" cy="685800"/>
          </a:xfrm>
          <a:prstGeom prst="rect">
            <a:avLst/>
          </a:prstGeom>
          <a:noFill/>
        </p:spPr>
        <p:txBody>
          <a:bodyPr wrap="square" lIns="0" rIns="0" tIns="0" bIns="0" anchor="ctr">
            <a:spAutoFit/>
          </a:bodyPr>
          <a:lstStyle/>
          <a:p>
            <a:pPr algn="ctr"/>
            <a:r>
              <a:rPr sz="1300" b="1" i="0">
                <a:solidFill>
                  <a:srgbClr val="FFFFFF"/>
                </a:solidFill>
                <a:latin typeface="Tahoma"/>
              </a:rPr>
              <a:t>vehiculos</a:t>
            </a:r>
          </a:p>
        </p:txBody>
      </p:sp>
      <p:sp>
        <p:nvSpPr>
          <p:cNvPr id="23" name="Rounded Rectangle 22"/>
          <p:cNvSpPr/>
          <p:nvPr/>
        </p:nvSpPr>
        <p:spPr>
          <a:xfrm>
            <a:off x="2121408" y="2788920"/>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2121408" y="2788920"/>
            <a:ext cx="512064" cy="274320"/>
          </a:xfrm>
          <a:prstGeom prst="rect">
            <a:avLst/>
          </a:prstGeom>
          <a:noFill/>
        </p:spPr>
        <p:txBody>
          <a:bodyPr wrap="square" lIns="0" rIns="0" tIns="0" bIns="0" anchor="ctr">
            <a:spAutoFit/>
          </a:bodyPr>
          <a:lstStyle/>
          <a:p>
            <a:pPr algn="ctr"/>
            <a:r>
              <a:rPr sz="1100" b="1" i="0">
                <a:solidFill>
                  <a:srgbClr val="0E4C7C"/>
                </a:solidFill>
                <a:latin typeface="Tahoma"/>
              </a:rPr>
              <a:t>1:N</a:t>
            </a:r>
          </a:p>
        </p:txBody>
      </p:sp>
      <p:sp>
        <p:nvSpPr>
          <p:cNvPr id="25" name="Rounded Rectangle 24"/>
          <p:cNvSpPr/>
          <p:nvPr/>
        </p:nvSpPr>
        <p:spPr>
          <a:xfrm>
            <a:off x="4681728" y="2788920"/>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4681728" y="2788920"/>
            <a:ext cx="512064" cy="274320"/>
          </a:xfrm>
          <a:prstGeom prst="rect">
            <a:avLst/>
          </a:prstGeom>
          <a:noFill/>
        </p:spPr>
        <p:txBody>
          <a:bodyPr wrap="square" lIns="0" rIns="0" tIns="0" bIns="0" anchor="ctr">
            <a:spAutoFit/>
          </a:bodyPr>
          <a:lstStyle/>
          <a:p>
            <a:pPr algn="ctr"/>
            <a:r>
              <a:rPr sz="1100" b="1" i="0">
                <a:solidFill>
                  <a:srgbClr val="0E4C7C"/>
                </a:solidFill>
                <a:latin typeface="Tahoma"/>
              </a:rPr>
              <a:t>1:N</a:t>
            </a:r>
          </a:p>
        </p:txBody>
      </p:sp>
      <p:sp>
        <p:nvSpPr>
          <p:cNvPr id="27" name="Rounded Rectangle 26"/>
          <p:cNvSpPr/>
          <p:nvPr/>
        </p:nvSpPr>
        <p:spPr>
          <a:xfrm>
            <a:off x="2944368" y="4178807"/>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2944368" y="4178807"/>
            <a:ext cx="512064" cy="274320"/>
          </a:xfrm>
          <a:prstGeom prst="rect">
            <a:avLst/>
          </a:prstGeom>
          <a:noFill/>
        </p:spPr>
        <p:txBody>
          <a:bodyPr wrap="square" lIns="0" rIns="0" tIns="0" bIns="0" anchor="ctr">
            <a:spAutoFit/>
          </a:bodyPr>
          <a:lstStyle/>
          <a:p>
            <a:pPr algn="ctr"/>
            <a:r>
              <a:rPr sz="1100" b="1" i="0">
                <a:solidFill>
                  <a:srgbClr val="0E4C7C"/>
                </a:solidFill>
                <a:latin typeface="Tahoma"/>
              </a:rPr>
              <a:t>1:N</a:t>
            </a:r>
          </a:p>
        </p:txBody>
      </p:sp>
      <p:sp>
        <p:nvSpPr>
          <p:cNvPr id="29" name="Rounded Rectangle 28"/>
          <p:cNvSpPr/>
          <p:nvPr/>
        </p:nvSpPr>
        <p:spPr>
          <a:xfrm>
            <a:off x="4407407" y="4919472"/>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4407407" y="4919472"/>
            <a:ext cx="512064" cy="274320"/>
          </a:xfrm>
          <a:prstGeom prst="rect">
            <a:avLst/>
          </a:prstGeom>
          <a:noFill/>
        </p:spPr>
        <p:txBody>
          <a:bodyPr wrap="square" lIns="0" rIns="0" tIns="0" bIns="0" anchor="ctr">
            <a:spAutoFit/>
          </a:bodyPr>
          <a:lstStyle/>
          <a:p>
            <a:pPr algn="ctr"/>
            <a:r>
              <a:rPr sz="1100" b="1" i="0">
                <a:solidFill>
                  <a:srgbClr val="0E4C7C"/>
                </a:solidFill>
                <a:latin typeface="Tahoma"/>
              </a:rPr>
              <a:t>N:1</a:t>
            </a:r>
          </a:p>
        </p:txBody>
      </p:sp>
      <p:sp>
        <p:nvSpPr>
          <p:cNvPr id="31" name="TextBox 30"/>
          <p:cNvSpPr txBox="1"/>
          <p:nvPr/>
        </p:nvSpPr>
        <p:spPr>
          <a:xfrm>
            <a:off x="640080" y="5715000"/>
            <a:ext cx="6309360" cy="548640"/>
          </a:xfrm>
          <a:prstGeom prst="rect">
            <a:avLst/>
          </a:prstGeom>
          <a:noFill/>
        </p:spPr>
        <p:txBody>
          <a:bodyPr wrap="square" lIns="0" rIns="0" tIns="0" bIns="0" anchor="ctr">
            <a:spAutoFit/>
          </a:bodyPr>
          <a:lstStyle/>
          <a:p>
            <a:pPr algn="l"/>
            <a:r>
              <a:rPr sz="1200" b="0" i="1">
                <a:solidFill>
                  <a:srgbClr val="5A5A5A"/>
                </a:solidFill>
                <a:latin typeface="Tahoma"/>
              </a:rPr>
              <a:t>Repuestos y vehículos: relación muchos a muchos, a través de repuesto_compatibilidad.</a:t>
            </a:r>
          </a:p>
        </p:txBody>
      </p:sp>
      <p:sp>
        <p:nvSpPr>
          <p:cNvPr id="32" name="Rounded Rectangle 31"/>
          <p:cNvSpPr/>
          <p:nvPr/>
        </p:nvSpPr>
        <p:spPr>
          <a:xfrm>
            <a:off x="7589520" y="1920240"/>
            <a:ext cx="1920240" cy="6858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7589520" y="1920240"/>
            <a:ext cx="1920240" cy="685800"/>
          </a:xfrm>
          <a:prstGeom prst="rect">
            <a:avLst/>
          </a:prstGeom>
          <a:noFill/>
        </p:spPr>
        <p:txBody>
          <a:bodyPr wrap="square" lIns="0" rIns="0" tIns="0" bIns="0" anchor="ctr">
            <a:spAutoFit/>
          </a:bodyPr>
          <a:lstStyle/>
          <a:p>
            <a:pPr algn="ctr"/>
            <a:r>
              <a:rPr sz="1300" b="1" i="0">
                <a:solidFill>
                  <a:srgbClr val="FFFFFF"/>
                </a:solidFill>
                <a:latin typeface="Tahoma"/>
              </a:rPr>
              <a:t>usuarios</a:t>
            </a:r>
          </a:p>
        </p:txBody>
      </p:sp>
      <p:sp>
        <p:nvSpPr>
          <p:cNvPr id="34" name="Rounded Rectangle 33"/>
          <p:cNvSpPr/>
          <p:nvPr/>
        </p:nvSpPr>
        <p:spPr>
          <a:xfrm>
            <a:off x="7589520" y="3383280"/>
            <a:ext cx="1920240" cy="68580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extBox 34"/>
          <p:cNvSpPr txBox="1"/>
          <p:nvPr/>
        </p:nvSpPr>
        <p:spPr>
          <a:xfrm>
            <a:off x="7589520" y="3383280"/>
            <a:ext cx="1920240" cy="685800"/>
          </a:xfrm>
          <a:prstGeom prst="rect">
            <a:avLst/>
          </a:prstGeom>
          <a:noFill/>
        </p:spPr>
        <p:txBody>
          <a:bodyPr wrap="square" lIns="0" rIns="0" tIns="0" bIns="0" anchor="ctr">
            <a:spAutoFit/>
          </a:bodyPr>
          <a:lstStyle/>
          <a:p>
            <a:pPr algn="ctr"/>
            <a:r>
              <a:rPr sz="1100" b="1" i="0">
                <a:solidFill>
                  <a:srgbClr val="FFFFFF"/>
                </a:solidFill>
                <a:latin typeface="Tahoma"/>
              </a:rPr>
              <a:t>consultas_asistente</a:t>
            </a:r>
          </a:p>
        </p:txBody>
      </p:sp>
      <p:cxnSp>
        <p:nvCxnSpPr>
          <p:cNvPr id="36" name="Connector 35"/>
          <p:cNvCxnSpPr/>
          <p:nvPr/>
        </p:nvCxnSpPr>
        <p:spPr>
          <a:xfrm>
            <a:off x="8549640" y="2606040"/>
            <a:ext cx="0" cy="77724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sp>
        <p:nvSpPr>
          <p:cNvPr id="37" name="Rounded Rectangle 36"/>
          <p:cNvSpPr/>
          <p:nvPr/>
        </p:nvSpPr>
        <p:spPr>
          <a:xfrm>
            <a:off x="8293608" y="2852928"/>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extBox 37"/>
          <p:cNvSpPr txBox="1"/>
          <p:nvPr/>
        </p:nvSpPr>
        <p:spPr>
          <a:xfrm>
            <a:off x="8293608" y="2852928"/>
            <a:ext cx="512064" cy="274320"/>
          </a:xfrm>
          <a:prstGeom prst="rect">
            <a:avLst/>
          </a:prstGeom>
          <a:noFill/>
        </p:spPr>
        <p:txBody>
          <a:bodyPr wrap="square" lIns="0" rIns="0" tIns="0" bIns="0" anchor="ctr">
            <a:spAutoFit/>
          </a:bodyPr>
          <a:lstStyle/>
          <a:p>
            <a:pPr algn="ctr"/>
            <a:r>
              <a:rPr sz="1100" b="1" i="0">
                <a:solidFill>
                  <a:srgbClr val="0E4C7C"/>
                </a:solidFill>
                <a:latin typeface="Tahoma"/>
              </a:rPr>
              <a:t>1:N</a:t>
            </a:r>
          </a:p>
        </p:txBody>
      </p:sp>
      <p:sp>
        <p:nvSpPr>
          <p:cNvPr id="39" name="TextBox 38"/>
          <p:cNvSpPr txBox="1"/>
          <p:nvPr/>
        </p:nvSpPr>
        <p:spPr>
          <a:xfrm>
            <a:off x="7589520" y="4297680"/>
            <a:ext cx="1920240" cy="1280160"/>
          </a:xfrm>
          <a:prstGeom prst="rect">
            <a:avLst/>
          </a:prstGeom>
          <a:noFill/>
        </p:spPr>
        <p:txBody>
          <a:bodyPr wrap="square" lIns="0" rIns="0" tIns="0" bIns="0" anchor="t">
            <a:spAutoFit/>
          </a:bodyPr>
          <a:lstStyle/>
          <a:p>
            <a:pPr algn="l"/>
            <a:r>
              <a:rPr sz="1200" b="0" i="0">
                <a:solidFill>
                  <a:srgbClr val="5A5A5A"/>
                </a:solidFill>
                <a:latin typeface="Tahoma"/>
              </a:rPr>
              <a:t>Cada consulta que hace un vendedor queda registrada.</a:t>
            </a:r>
          </a:p>
        </p:txBody>
      </p:sp>
      <p:sp>
        <p:nvSpPr>
          <p:cNvPr id="40" name="Rounded Rectangle 39"/>
          <p:cNvSpPr/>
          <p:nvPr/>
        </p:nvSpPr>
        <p:spPr>
          <a:xfrm>
            <a:off x="9902952" y="1920240"/>
            <a:ext cx="1828800" cy="68580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extBox 40"/>
          <p:cNvSpPr txBox="1"/>
          <p:nvPr/>
        </p:nvSpPr>
        <p:spPr>
          <a:xfrm>
            <a:off x="9902952" y="1920240"/>
            <a:ext cx="1828800" cy="685800"/>
          </a:xfrm>
          <a:prstGeom prst="rect">
            <a:avLst/>
          </a:prstGeom>
          <a:noFill/>
        </p:spPr>
        <p:txBody>
          <a:bodyPr wrap="square" lIns="0" rIns="0" tIns="0" bIns="0" anchor="ctr">
            <a:spAutoFit/>
          </a:bodyPr>
          <a:lstStyle/>
          <a:p>
            <a:pPr algn="ctr"/>
            <a:r>
              <a:rPr sz="1100" b="1" i="0">
                <a:solidFill>
                  <a:srgbClr val="FFFFFF"/>
                </a:solidFill>
                <a:latin typeface="Tahoma"/>
              </a:rPr>
              <a:t>nlp_intenciones</a:t>
            </a:r>
          </a:p>
        </p:txBody>
      </p:sp>
      <p:sp>
        <p:nvSpPr>
          <p:cNvPr id="42" name="Rounded Rectangle 41"/>
          <p:cNvSpPr/>
          <p:nvPr/>
        </p:nvSpPr>
        <p:spPr>
          <a:xfrm>
            <a:off x="9902952" y="3383280"/>
            <a:ext cx="1828800" cy="68580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3" name="TextBox 42"/>
          <p:cNvSpPr txBox="1"/>
          <p:nvPr/>
        </p:nvSpPr>
        <p:spPr>
          <a:xfrm>
            <a:off x="9902952" y="3383280"/>
            <a:ext cx="1828800" cy="685800"/>
          </a:xfrm>
          <a:prstGeom prst="rect">
            <a:avLst/>
          </a:prstGeom>
          <a:noFill/>
        </p:spPr>
        <p:txBody>
          <a:bodyPr wrap="square" lIns="0" rIns="0" tIns="0" bIns="0" anchor="ctr">
            <a:spAutoFit/>
          </a:bodyPr>
          <a:lstStyle/>
          <a:p>
            <a:pPr algn="ctr"/>
            <a:r>
              <a:rPr sz="1200" b="1" i="0">
                <a:solidFill>
                  <a:srgbClr val="FFFFFF"/>
                </a:solidFill>
                <a:latin typeface="Tahoma"/>
              </a:rPr>
              <a:t>nlp_frases</a:t>
            </a:r>
          </a:p>
        </p:txBody>
      </p:sp>
      <p:sp>
        <p:nvSpPr>
          <p:cNvPr id="44" name="Rounded Rectangle 43"/>
          <p:cNvSpPr/>
          <p:nvPr/>
        </p:nvSpPr>
        <p:spPr>
          <a:xfrm>
            <a:off x="9902952" y="4846320"/>
            <a:ext cx="1828800" cy="68580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extBox 44"/>
          <p:cNvSpPr txBox="1"/>
          <p:nvPr/>
        </p:nvSpPr>
        <p:spPr>
          <a:xfrm>
            <a:off x="9902952" y="4846320"/>
            <a:ext cx="1828800" cy="685800"/>
          </a:xfrm>
          <a:prstGeom prst="rect">
            <a:avLst/>
          </a:prstGeom>
          <a:noFill/>
        </p:spPr>
        <p:txBody>
          <a:bodyPr wrap="square" lIns="0" rIns="0" tIns="0" bIns="0" anchor="ctr">
            <a:spAutoFit/>
          </a:bodyPr>
          <a:lstStyle/>
          <a:p>
            <a:pPr algn="ctr"/>
            <a:r>
              <a:rPr sz="1100" b="1" i="0">
                <a:solidFill>
                  <a:srgbClr val="FFFFFF"/>
                </a:solidFill>
                <a:latin typeface="Tahoma"/>
              </a:rPr>
              <a:t>nlp_predicciones</a:t>
            </a:r>
          </a:p>
        </p:txBody>
      </p:sp>
      <p:cxnSp>
        <p:nvCxnSpPr>
          <p:cNvPr id="46" name="Connector 45"/>
          <p:cNvCxnSpPr/>
          <p:nvPr/>
        </p:nvCxnSpPr>
        <p:spPr>
          <a:xfrm>
            <a:off x="10817352" y="2606040"/>
            <a:ext cx="0" cy="77724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sp>
        <p:nvSpPr>
          <p:cNvPr id="47" name="Rounded Rectangle 46"/>
          <p:cNvSpPr/>
          <p:nvPr/>
        </p:nvSpPr>
        <p:spPr>
          <a:xfrm>
            <a:off x="10561320" y="2852928"/>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extBox 47"/>
          <p:cNvSpPr txBox="1"/>
          <p:nvPr/>
        </p:nvSpPr>
        <p:spPr>
          <a:xfrm>
            <a:off x="10561320" y="2852928"/>
            <a:ext cx="512064" cy="274320"/>
          </a:xfrm>
          <a:prstGeom prst="rect">
            <a:avLst/>
          </a:prstGeom>
          <a:noFill/>
        </p:spPr>
        <p:txBody>
          <a:bodyPr wrap="square" lIns="0" rIns="0" tIns="0" bIns="0" anchor="ctr">
            <a:spAutoFit/>
          </a:bodyPr>
          <a:lstStyle/>
          <a:p>
            <a:pPr algn="ctr"/>
            <a:r>
              <a:rPr sz="1100" b="1" i="0">
                <a:solidFill>
                  <a:srgbClr val="0E4C7C"/>
                </a:solidFill>
                <a:latin typeface="Tahoma"/>
              </a:rPr>
              <a:t>1:N</a:t>
            </a:r>
          </a:p>
        </p:txBody>
      </p:sp>
      <p:cxnSp>
        <p:nvCxnSpPr>
          <p:cNvPr id="49" name="Connector 48"/>
          <p:cNvCxnSpPr/>
          <p:nvPr/>
        </p:nvCxnSpPr>
        <p:spPr>
          <a:xfrm>
            <a:off x="10817352" y="4069080"/>
            <a:ext cx="0" cy="777240"/>
          </a:xfrm>
          <a:prstGeom prst="line">
            <a:avLst/>
          </a:prstGeom>
          <a:ln w="22225">
            <a:solidFill>
              <a:srgbClr val="0E4C7C"/>
            </a:solidFill>
          </a:ln>
        </p:spPr>
        <p:style>
          <a:lnRef idx="2">
            <a:schemeClr val="accent1"/>
          </a:lnRef>
          <a:fillRef idx="0">
            <a:schemeClr val="accent1"/>
          </a:fillRef>
          <a:effectRef idx="1">
            <a:schemeClr val="accent1"/>
          </a:effectRef>
          <a:fontRef idx="minor">
            <a:schemeClr val="tx1"/>
          </a:fontRef>
        </p:style>
      </p:cxnSp>
      <p:sp>
        <p:nvSpPr>
          <p:cNvPr id="50" name="Rounded Rectangle 49"/>
          <p:cNvSpPr/>
          <p:nvPr/>
        </p:nvSpPr>
        <p:spPr>
          <a:xfrm>
            <a:off x="10561320" y="4315968"/>
            <a:ext cx="512064" cy="274320"/>
          </a:xfrm>
          <a:prstGeom prst="roundRect">
            <a:avLst>
              <a:gd name="adj" fmla="val 4600"/>
            </a:avLst>
          </a:prstGeom>
          <a:solidFill>
            <a:srgbClr val="FFFFFF"/>
          </a:solidFill>
          <a:ln w="12700">
            <a:solidFill>
              <a:srgbClr val="FFFFFF"/>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1" name="TextBox 50"/>
          <p:cNvSpPr txBox="1"/>
          <p:nvPr/>
        </p:nvSpPr>
        <p:spPr>
          <a:xfrm>
            <a:off x="10561320" y="4315968"/>
            <a:ext cx="512064" cy="274320"/>
          </a:xfrm>
          <a:prstGeom prst="rect">
            <a:avLst/>
          </a:prstGeom>
          <a:noFill/>
        </p:spPr>
        <p:txBody>
          <a:bodyPr wrap="square" lIns="0" rIns="0" tIns="0" bIns="0" anchor="ctr">
            <a:spAutoFit/>
          </a:bodyPr>
          <a:lstStyle/>
          <a:p>
            <a:pPr algn="ctr"/>
            <a:r>
              <a:rPr sz="1100" b="1" i="0">
                <a:solidFill>
                  <a:srgbClr val="0E4C7C"/>
                </a:solidFill>
                <a:latin typeface="Tahoma"/>
              </a:rPr>
              <a:t>1:N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Gráficas de la base: catálogo</a:t>
            </a:r>
          </a:p>
        </p:txBody>
      </p:sp>
      <p:sp>
        <p:nvSpPr>
          <p:cNvPr id="3" name="Rounded Rectangle 2"/>
          <p:cNvSpPr/>
          <p:nvPr/>
        </p:nvSpPr>
        <p:spPr>
          <a:xfrm>
            <a:off x="548640" y="1600200"/>
            <a:ext cx="2606040" cy="173736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709928"/>
            <a:ext cx="2606040" cy="868680"/>
          </a:xfrm>
          <a:prstGeom prst="rect">
            <a:avLst/>
          </a:prstGeom>
          <a:noFill/>
        </p:spPr>
        <p:txBody>
          <a:bodyPr wrap="square" lIns="0" rIns="0" tIns="0" bIns="0" anchor="ctr">
            <a:spAutoFit/>
          </a:bodyPr>
          <a:lstStyle/>
          <a:p>
            <a:pPr algn="ctr"/>
            <a:r>
              <a:rPr sz="4000" b="1" i="0">
                <a:solidFill>
                  <a:srgbClr val="1B6FA8"/>
                </a:solidFill>
                <a:latin typeface="Tahoma"/>
              </a:rPr>
              <a:t>23</a:t>
            </a:r>
          </a:p>
        </p:txBody>
      </p:sp>
      <p:sp>
        <p:nvSpPr>
          <p:cNvPr id="5" name="TextBox 4"/>
          <p:cNvSpPr txBox="1"/>
          <p:nvPr/>
        </p:nvSpPr>
        <p:spPr>
          <a:xfrm>
            <a:off x="640080" y="2542032"/>
            <a:ext cx="2423160" cy="411480"/>
          </a:xfrm>
          <a:prstGeom prst="rect">
            <a:avLst/>
          </a:prstGeom>
          <a:noFill/>
        </p:spPr>
        <p:txBody>
          <a:bodyPr wrap="square" lIns="0" rIns="0" tIns="0" bIns="0" anchor="t">
            <a:spAutoFit/>
          </a:bodyPr>
          <a:lstStyle/>
          <a:p>
            <a:pPr algn="ctr"/>
            <a:r>
              <a:rPr sz="1500" b="1" i="0">
                <a:solidFill>
                  <a:srgbClr val="222222"/>
                </a:solidFill>
                <a:latin typeface="Tahoma"/>
              </a:rPr>
              <a:t>repuestos</a:t>
            </a:r>
          </a:p>
        </p:txBody>
      </p:sp>
      <p:sp>
        <p:nvSpPr>
          <p:cNvPr id="6" name="TextBox 5"/>
          <p:cNvSpPr txBox="1"/>
          <p:nvPr/>
        </p:nvSpPr>
        <p:spPr>
          <a:xfrm>
            <a:off x="685800" y="2944368"/>
            <a:ext cx="2331720" cy="320040"/>
          </a:xfrm>
          <a:prstGeom prst="rect">
            <a:avLst/>
          </a:prstGeom>
          <a:noFill/>
        </p:spPr>
        <p:txBody>
          <a:bodyPr wrap="square" lIns="0" rIns="0" tIns="0" bIns="0" anchor="t">
            <a:spAutoFit/>
          </a:bodyPr>
          <a:lstStyle/>
          <a:p>
            <a:pPr algn="ctr"/>
            <a:r>
              <a:rPr sz="1200" b="0" i="0">
                <a:solidFill>
                  <a:srgbClr val="5A5A5A"/>
                </a:solidFill>
                <a:latin typeface="Tahoma"/>
              </a:rPr>
              <a:t>en 12 categorías</a:t>
            </a:r>
          </a:p>
        </p:txBody>
      </p:sp>
      <p:sp>
        <p:nvSpPr>
          <p:cNvPr id="7" name="Rounded Rectangle 6"/>
          <p:cNvSpPr/>
          <p:nvPr/>
        </p:nvSpPr>
        <p:spPr>
          <a:xfrm>
            <a:off x="3383280" y="1600200"/>
            <a:ext cx="2606040" cy="173736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383280" y="1709928"/>
            <a:ext cx="2606040" cy="868680"/>
          </a:xfrm>
          <a:prstGeom prst="rect">
            <a:avLst/>
          </a:prstGeom>
          <a:noFill/>
        </p:spPr>
        <p:txBody>
          <a:bodyPr wrap="square" lIns="0" rIns="0" tIns="0" bIns="0" anchor="ctr">
            <a:spAutoFit/>
          </a:bodyPr>
          <a:lstStyle/>
          <a:p>
            <a:pPr algn="ctr"/>
            <a:r>
              <a:rPr sz="4000" b="1" i="0">
                <a:solidFill>
                  <a:srgbClr val="1B6FA8"/>
                </a:solidFill>
                <a:latin typeface="Tahoma"/>
              </a:rPr>
              <a:t>27</a:t>
            </a:r>
          </a:p>
        </p:txBody>
      </p:sp>
      <p:sp>
        <p:nvSpPr>
          <p:cNvPr id="9" name="TextBox 8"/>
          <p:cNvSpPr txBox="1"/>
          <p:nvPr/>
        </p:nvSpPr>
        <p:spPr>
          <a:xfrm>
            <a:off x="3474720" y="2542032"/>
            <a:ext cx="2423160" cy="411480"/>
          </a:xfrm>
          <a:prstGeom prst="rect">
            <a:avLst/>
          </a:prstGeom>
          <a:noFill/>
        </p:spPr>
        <p:txBody>
          <a:bodyPr wrap="square" lIns="0" rIns="0" tIns="0" bIns="0" anchor="t">
            <a:spAutoFit/>
          </a:bodyPr>
          <a:lstStyle/>
          <a:p>
            <a:pPr algn="ctr"/>
            <a:r>
              <a:rPr sz="1500" b="1" i="0">
                <a:solidFill>
                  <a:srgbClr val="222222"/>
                </a:solidFill>
                <a:latin typeface="Tahoma"/>
              </a:rPr>
              <a:t>vehículos</a:t>
            </a:r>
          </a:p>
        </p:txBody>
      </p:sp>
      <p:sp>
        <p:nvSpPr>
          <p:cNvPr id="10" name="TextBox 9"/>
          <p:cNvSpPr txBox="1"/>
          <p:nvPr/>
        </p:nvSpPr>
        <p:spPr>
          <a:xfrm>
            <a:off x="3520440" y="2944368"/>
            <a:ext cx="2331720" cy="320040"/>
          </a:xfrm>
          <a:prstGeom prst="rect">
            <a:avLst/>
          </a:prstGeom>
          <a:noFill/>
        </p:spPr>
        <p:txBody>
          <a:bodyPr wrap="square" lIns="0" rIns="0" tIns="0" bIns="0" anchor="t">
            <a:spAutoFit/>
          </a:bodyPr>
          <a:lstStyle/>
          <a:p>
            <a:pPr algn="ctr"/>
            <a:r>
              <a:rPr sz="1200" b="0" i="0">
                <a:solidFill>
                  <a:srgbClr val="5A5A5A"/>
                </a:solidFill>
                <a:latin typeface="Tahoma"/>
              </a:rPr>
              <a:t>de 13 marcas</a:t>
            </a:r>
          </a:p>
        </p:txBody>
      </p:sp>
      <p:sp>
        <p:nvSpPr>
          <p:cNvPr id="11" name="Rounded Rectangle 10"/>
          <p:cNvSpPr/>
          <p:nvPr/>
        </p:nvSpPr>
        <p:spPr>
          <a:xfrm>
            <a:off x="6217920" y="1600200"/>
            <a:ext cx="2606040" cy="173736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6217920" y="1709928"/>
            <a:ext cx="2606040" cy="868680"/>
          </a:xfrm>
          <a:prstGeom prst="rect">
            <a:avLst/>
          </a:prstGeom>
          <a:noFill/>
        </p:spPr>
        <p:txBody>
          <a:bodyPr wrap="square" lIns="0" rIns="0" tIns="0" bIns="0" anchor="ctr">
            <a:spAutoFit/>
          </a:bodyPr>
          <a:lstStyle/>
          <a:p>
            <a:pPr algn="ctr"/>
            <a:r>
              <a:rPr sz="4000" b="1" i="0">
                <a:solidFill>
                  <a:srgbClr val="1B6FA8"/>
                </a:solidFill>
                <a:latin typeface="Tahoma"/>
              </a:rPr>
              <a:t>42</a:t>
            </a:r>
          </a:p>
        </p:txBody>
      </p:sp>
      <p:sp>
        <p:nvSpPr>
          <p:cNvPr id="13" name="TextBox 12"/>
          <p:cNvSpPr txBox="1"/>
          <p:nvPr/>
        </p:nvSpPr>
        <p:spPr>
          <a:xfrm>
            <a:off x="6309359" y="2542032"/>
            <a:ext cx="2423160" cy="411480"/>
          </a:xfrm>
          <a:prstGeom prst="rect">
            <a:avLst/>
          </a:prstGeom>
          <a:noFill/>
        </p:spPr>
        <p:txBody>
          <a:bodyPr wrap="square" lIns="0" rIns="0" tIns="0" bIns="0" anchor="t">
            <a:spAutoFit/>
          </a:bodyPr>
          <a:lstStyle/>
          <a:p>
            <a:pPr algn="ctr"/>
            <a:r>
              <a:rPr sz="1500" b="1" i="0">
                <a:solidFill>
                  <a:srgbClr val="222222"/>
                </a:solidFill>
                <a:latin typeface="Tahoma"/>
              </a:rPr>
              <a:t>relaciones</a:t>
            </a:r>
          </a:p>
        </p:txBody>
      </p:sp>
      <p:sp>
        <p:nvSpPr>
          <p:cNvPr id="14" name="TextBox 13"/>
          <p:cNvSpPr txBox="1"/>
          <p:nvPr/>
        </p:nvSpPr>
        <p:spPr>
          <a:xfrm>
            <a:off x="6355080" y="2944368"/>
            <a:ext cx="2331720" cy="320040"/>
          </a:xfrm>
          <a:prstGeom prst="rect">
            <a:avLst/>
          </a:prstGeom>
          <a:noFill/>
        </p:spPr>
        <p:txBody>
          <a:bodyPr wrap="square" lIns="0" rIns="0" tIns="0" bIns="0" anchor="t">
            <a:spAutoFit/>
          </a:bodyPr>
          <a:lstStyle/>
          <a:p>
            <a:pPr algn="ctr"/>
            <a:r>
              <a:rPr sz="1200" b="0" i="0">
                <a:solidFill>
                  <a:srgbClr val="5A5A5A"/>
                </a:solidFill>
                <a:latin typeface="Tahoma"/>
              </a:rPr>
              <a:t>repuesto–vehículo</a:t>
            </a:r>
          </a:p>
        </p:txBody>
      </p:sp>
      <p:sp>
        <p:nvSpPr>
          <p:cNvPr id="15" name="Rounded Rectangle 14"/>
          <p:cNvSpPr/>
          <p:nvPr/>
        </p:nvSpPr>
        <p:spPr>
          <a:xfrm>
            <a:off x="9052560" y="1600200"/>
            <a:ext cx="2606040" cy="173736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052560" y="1709928"/>
            <a:ext cx="2606040" cy="868680"/>
          </a:xfrm>
          <a:prstGeom prst="rect">
            <a:avLst/>
          </a:prstGeom>
          <a:noFill/>
        </p:spPr>
        <p:txBody>
          <a:bodyPr wrap="square" lIns="0" rIns="0" tIns="0" bIns="0" anchor="ctr">
            <a:spAutoFit/>
          </a:bodyPr>
          <a:lstStyle/>
          <a:p>
            <a:pPr algn="ctr"/>
            <a:r>
              <a:rPr sz="4000" b="1" i="0">
                <a:solidFill>
                  <a:srgbClr val="E8890C"/>
                </a:solidFill>
                <a:latin typeface="Tahoma"/>
              </a:rPr>
              <a:t>4</a:t>
            </a:r>
          </a:p>
        </p:txBody>
      </p:sp>
      <p:sp>
        <p:nvSpPr>
          <p:cNvPr id="17" name="TextBox 16"/>
          <p:cNvSpPr txBox="1"/>
          <p:nvPr/>
        </p:nvSpPr>
        <p:spPr>
          <a:xfrm>
            <a:off x="9144000" y="2542032"/>
            <a:ext cx="2423160" cy="411480"/>
          </a:xfrm>
          <a:prstGeom prst="rect">
            <a:avLst/>
          </a:prstGeom>
          <a:noFill/>
        </p:spPr>
        <p:txBody>
          <a:bodyPr wrap="square" lIns="0" rIns="0" tIns="0" bIns="0" anchor="t">
            <a:spAutoFit/>
          </a:bodyPr>
          <a:lstStyle/>
          <a:p>
            <a:pPr algn="ctr"/>
            <a:r>
              <a:rPr sz="1500" b="1" i="0">
                <a:solidFill>
                  <a:srgbClr val="222222"/>
                </a:solidFill>
                <a:latin typeface="Tahoma"/>
              </a:rPr>
              <a:t>marcas agrícolas</a:t>
            </a:r>
          </a:p>
        </p:txBody>
      </p:sp>
      <p:sp>
        <p:nvSpPr>
          <p:cNvPr id="18" name="TextBox 17"/>
          <p:cNvSpPr txBox="1"/>
          <p:nvPr/>
        </p:nvSpPr>
        <p:spPr>
          <a:xfrm>
            <a:off x="9189720" y="2944368"/>
            <a:ext cx="2331720" cy="320040"/>
          </a:xfrm>
          <a:prstGeom prst="rect">
            <a:avLst/>
          </a:prstGeom>
          <a:noFill/>
        </p:spPr>
        <p:txBody>
          <a:bodyPr wrap="square" lIns="0" rIns="0" tIns="0" bIns="0" anchor="t">
            <a:spAutoFit/>
          </a:bodyPr>
          <a:lstStyle/>
          <a:p>
            <a:pPr algn="ctr"/>
            <a:r>
              <a:rPr sz="1200" b="0" i="0">
                <a:solidFill>
                  <a:srgbClr val="5A5A5A"/>
                </a:solidFill>
                <a:latin typeface="Tahoma"/>
              </a:rPr>
              <a:t>de las 13 marcas</a:t>
            </a:r>
          </a:p>
        </p:txBody>
      </p:sp>
      <p:sp>
        <p:nvSpPr>
          <p:cNvPr id="19" name="Rounded Rectangle 18"/>
          <p:cNvSpPr/>
          <p:nvPr/>
        </p:nvSpPr>
        <p:spPr>
          <a:xfrm>
            <a:off x="548640" y="3611880"/>
            <a:ext cx="11109960" cy="2743200"/>
          </a:xfrm>
          <a:prstGeom prst="roundRect">
            <a:avLst>
              <a:gd name="adj" fmla="val 4600"/>
            </a:avLst>
          </a:prstGeom>
          <a:solidFill>
            <a:srgbClr val="F6F9FC"/>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822960" y="3794760"/>
            <a:ext cx="4937760" cy="320040"/>
          </a:xfrm>
          <a:prstGeom prst="rect">
            <a:avLst/>
          </a:prstGeom>
          <a:noFill/>
        </p:spPr>
        <p:txBody>
          <a:bodyPr wrap="square" lIns="0" rIns="0" tIns="0" bIns="0" anchor="t">
            <a:spAutoFit/>
          </a:bodyPr>
          <a:lstStyle/>
          <a:p>
            <a:pPr algn="l"/>
            <a:r>
              <a:rPr sz="1400" b="1" i="0">
                <a:solidFill>
                  <a:srgbClr val="222222"/>
                </a:solidFill>
                <a:latin typeface="Tahoma"/>
              </a:rPr>
              <a:t>Filtros: la categoría con más repuestos</a:t>
            </a:r>
          </a:p>
        </p:txBody>
      </p:sp>
      <p:sp>
        <p:nvSpPr>
          <p:cNvPr id="21" name="Rounded Rectangle 20"/>
          <p:cNvSpPr/>
          <p:nvPr/>
        </p:nvSpPr>
        <p:spPr>
          <a:xfrm>
            <a:off x="822960" y="4206240"/>
            <a:ext cx="4937760" cy="457200"/>
          </a:xfrm>
          <a:prstGeom prst="roundRect">
            <a:avLst>
              <a:gd name="adj" fmla="val 4600"/>
            </a:avLst>
          </a:prstGeom>
          <a:solidFill>
            <a:srgbClr val="D5DEE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Rounded Rectangle 21"/>
          <p:cNvSpPr/>
          <p:nvPr/>
        </p:nvSpPr>
        <p:spPr>
          <a:xfrm>
            <a:off x="822960" y="4206240"/>
            <a:ext cx="1502796" cy="457200"/>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822960" y="4754880"/>
            <a:ext cx="4937760" cy="320040"/>
          </a:xfrm>
          <a:prstGeom prst="rect">
            <a:avLst/>
          </a:prstGeom>
          <a:noFill/>
        </p:spPr>
        <p:txBody>
          <a:bodyPr wrap="square" lIns="0" rIns="0" tIns="0" bIns="0" anchor="t">
            <a:spAutoFit/>
          </a:bodyPr>
          <a:lstStyle/>
          <a:p>
            <a:pPr algn="l"/>
            <a:r>
              <a:rPr sz="1200" b="0" i="0">
                <a:solidFill>
                  <a:srgbClr val="5A5A5A"/>
                </a:solidFill>
                <a:latin typeface="Tahoma"/>
              </a:rPr>
              <a:t>7 de los 23 repuestos</a:t>
            </a:r>
          </a:p>
        </p:txBody>
      </p:sp>
      <p:sp>
        <p:nvSpPr>
          <p:cNvPr id="24" name="TextBox 23"/>
          <p:cNvSpPr txBox="1"/>
          <p:nvPr/>
        </p:nvSpPr>
        <p:spPr>
          <a:xfrm>
            <a:off x="6309360" y="3794760"/>
            <a:ext cx="5029200" cy="320040"/>
          </a:xfrm>
          <a:prstGeom prst="rect">
            <a:avLst/>
          </a:prstGeom>
          <a:noFill/>
        </p:spPr>
        <p:txBody>
          <a:bodyPr wrap="square" lIns="0" rIns="0" tIns="0" bIns="0" anchor="t">
            <a:spAutoFit/>
          </a:bodyPr>
          <a:lstStyle/>
          <a:p>
            <a:pPr algn="l"/>
            <a:r>
              <a:rPr sz="1400" b="1" i="0">
                <a:solidFill>
                  <a:srgbClr val="222222"/>
                </a:solidFill>
                <a:latin typeface="Tahoma"/>
              </a:rPr>
              <a:t>Marcas de maquinaria agrícola</a:t>
            </a:r>
          </a:p>
        </p:txBody>
      </p:sp>
      <p:sp>
        <p:nvSpPr>
          <p:cNvPr id="25" name="Rounded Rectangle 24"/>
          <p:cNvSpPr/>
          <p:nvPr/>
        </p:nvSpPr>
        <p:spPr>
          <a:xfrm>
            <a:off x="6309360" y="4206240"/>
            <a:ext cx="5029200" cy="457200"/>
          </a:xfrm>
          <a:prstGeom prst="roundRect">
            <a:avLst>
              <a:gd name="adj" fmla="val 4600"/>
            </a:avLst>
          </a:prstGeom>
          <a:solidFill>
            <a:srgbClr val="D5DEE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Rounded Rectangle 25"/>
          <p:cNvSpPr/>
          <p:nvPr/>
        </p:nvSpPr>
        <p:spPr>
          <a:xfrm>
            <a:off x="6309360" y="4206240"/>
            <a:ext cx="1547446" cy="457200"/>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extBox 26"/>
          <p:cNvSpPr txBox="1"/>
          <p:nvPr/>
        </p:nvSpPr>
        <p:spPr>
          <a:xfrm>
            <a:off x="6309360" y="4754880"/>
            <a:ext cx="5029200" cy="320040"/>
          </a:xfrm>
          <a:prstGeom prst="rect">
            <a:avLst/>
          </a:prstGeom>
          <a:noFill/>
        </p:spPr>
        <p:txBody>
          <a:bodyPr wrap="square" lIns="0" rIns="0" tIns="0" bIns="0" anchor="t">
            <a:spAutoFit/>
          </a:bodyPr>
          <a:lstStyle/>
          <a:p>
            <a:pPr algn="l"/>
            <a:r>
              <a:rPr sz="1200" b="0" i="0">
                <a:solidFill>
                  <a:srgbClr val="5A5A5A"/>
                </a:solidFill>
                <a:latin typeface="Tahoma"/>
              </a:rPr>
              <a:t>4 de las 13 marcas</a:t>
            </a:r>
          </a:p>
        </p:txBody>
      </p:sp>
      <p:sp>
        <p:nvSpPr>
          <p:cNvPr id="28" name="TextBox 27"/>
          <p:cNvSpPr txBox="1"/>
          <p:nvPr/>
        </p:nvSpPr>
        <p:spPr>
          <a:xfrm>
            <a:off x="822960" y="5349240"/>
            <a:ext cx="10515600" cy="822960"/>
          </a:xfrm>
          <a:prstGeom prst="rect">
            <a:avLst/>
          </a:prstGeom>
          <a:noFill/>
        </p:spPr>
        <p:txBody>
          <a:bodyPr wrap="square" lIns="0" rIns="0" tIns="0" bIns="0" anchor="ctr">
            <a:spAutoFit/>
          </a:bodyPr>
          <a:lstStyle/>
          <a:p>
            <a:pPr algn="l"/>
            <a:r>
              <a:rPr sz="1300" b="0" i="1">
                <a:solidFill>
                  <a:srgbClr val="5A5A5A"/>
                </a:solidFill>
                <a:latin typeface="Tahoma"/>
              </a:rPr>
              <a:t>El catálogo mezcla repuestos automotrices y agrícolas: por eso el asistente necesita saber de qué vehículo se habla antes de recomendar un sustituto.</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Gráficas de la base: inventario</a:t>
            </a:r>
          </a:p>
        </p:txBody>
      </p:sp>
      <p:sp>
        <p:nvSpPr>
          <p:cNvPr id="3" name="Rounded Rectangle 2"/>
          <p:cNvSpPr/>
          <p:nvPr/>
        </p:nvSpPr>
        <p:spPr>
          <a:xfrm>
            <a:off x="548640" y="1600200"/>
            <a:ext cx="5486400" cy="47548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737360"/>
            <a:ext cx="4937760" cy="365760"/>
          </a:xfrm>
          <a:prstGeom prst="rect">
            <a:avLst/>
          </a:prstGeom>
          <a:noFill/>
        </p:spPr>
        <p:txBody>
          <a:bodyPr wrap="square" lIns="0" rIns="0" tIns="0" bIns="0" anchor="t">
            <a:spAutoFit/>
          </a:bodyPr>
          <a:lstStyle/>
          <a:p>
            <a:pPr algn="l"/>
            <a:r>
              <a:rPr sz="1800" b="1" i="0">
                <a:solidFill>
                  <a:srgbClr val="B23A3A"/>
                </a:solidFill>
                <a:latin typeface="Tahoma"/>
              </a:rPr>
              <a:t>2 repuestos agotados</a:t>
            </a:r>
          </a:p>
        </p:txBody>
      </p:sp>
      <p:sp>
        <p:nvSpPr>
          <p:cNvPr id="5" name="Rounded Rectangle 4"/>
          <p:cNvSpPr/>
          <p:nvPr/>
        </p:nvSpPr>
        <p:spPr>
          <a:xfrm>
            <a:off x="822960" y="2286000"/>
            <a:ext cx="4937760" cy="731520"/>
          </a:xfrm>
          <a:prstGeom prst="roundRect">
            <a:avLst>
              <a:gd name="adj" fmla="val 4600"/>
            </a:avLst>
          </a:prstGeom>
          <a:solidFill>
            <a:srgbClr val="FBE9E7"/>
          </a:solidFill>
          <a:ln w="12700">
            <a:solidFill>
              <a:srgbClr val="FBE9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960120" y="2286000"/>
            <a:ext cx="4663440" cy="731520"/>
          </a:xfrm>
          <a:prstGeom prst="rect">
            <a:avLst/>
          </a:prstGeom>
          <a:noFill/>
        </p:spPr>
        <p:txBody>
          <a:bodyPr wrap="square" lIns="0" rIns="0" tIns="0" bIns="0" anchor="ctr">
            <a:spAutoFit/>
          </a:bodyPr>
          <a:lstStyle/>
          <a:p>
            <a:pPr algn="l"/>
            <a:r>
              <a:rPr sz="1400" b="1" i="0">
                <a:solidFill>
                  <a:srgbClr val="222222"/>
                </a:solidFill>
                <a:latin typeface="Tahoma"/>
              </a:rPr>
              <a:t>90915-YZZD4</a:t>
            </a:r>
            <a:r>
              <a:rPr sz="1400" b="0" i="0">
                <a:solidFill>
                  <a:srgbClr val="222222"/>
                </a:solidFill>
                <a:latin typeface="Tahoma"/>
              </a:rPr>
              <a:t>  filtro original Toyota</a:t>
            </a:r>
          </a:p>
        </p:txBody>
      </p:sp>
      <p:sp>
        <p:nvSpPr>
          <p:cNvPr id="7" name="Rounded Rectangle 6"/>
          <p:cNvSpPr/>
          <p:nvPr/>
        </p:nvSpPr>
        <p:spPr>
          <a:xfrm>
            <a:off x="822960" y="3108960"/>
            <a:ext cx="4937760" cy="731520"/>
          </a:xfrm>
          <a:prstGeom prst="roundRect">
            <a:avLst>
              <a:gd name="adj" fmla="val 4600"/>
            </a:avLst>
          </a:prstGeom>
          <a:solidFill>
            <a:srgbClr val="FBE9E7"/>
          </a:solidFill>
          <a:ln w="12700">
            <a:solidFill>
              <a:srgbClr val="FBE9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60120" y="3108960"/>
            <a:ext cx="4663440" cy="731520"/>
          </a:xfrm>
          <a:prstGeom prst="rect">
            <a:avLst/>
          </a:prstGeom>
          <a:noFill/>
        </p:spPr>
        <p:txBody>
          <a:bodyPr wrap="square" lIns="0" rIns="0" tIns="0" bIns="0" anchor="ctr">
            <a:spAutoFit/>
          </a:bodyPr>
          <a:lstStyle/>
          <a:p>
            <a:pPr algn="l"/>
            <a:r>
              <a:rPr sz="1400" b="1" i="0">
                <a:solidFill>
                  <a:srgbClr val="222222"/>
                </a:solidFill>
                <a:latin typeface="Tahoma"/>
              </a:rPr>
              <a:t>FG-FF5320</a:t>
            </a:r>
            <a:r>
              <a:rPr sz="1400" b="0" i="0">
                <a:solidFill>
                  <a:srgbClr val="222222"/>
                </a:solidFill>
                <a:latin typeface="Tahoma"/>
              </a:rPr>
              <a:t>  filtro</a:t>
            </a:r>
          </a:p>
        </p:txBody>
      </p:sp>
      <p:sp>
        <p:nvSpPr>
          <p:cNvPr id="9" name="Right Arrow 8"/>
          <p:cNvSpPr/>
          <p:nvPr/>
        </p:nvSpPr>
        <p:spPr>
          <a:xfrm>
            <a:off x="3108960" y="3977639"/>
            <a:ext cx="365760"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22960" y="4434840"/>
            <a:ext cx="4937760" cy="365760"/>
          </a:xfrm>
          <a:prstGeom prst="rect">
            <a:avLst/>
          </a:prstGeom>
          <a:noFill/>
        </p:spPr>
        <p:txBody>
          <a:bodyPr wrap="square" lIns="0" rIns="0" tIns="0" bIns="0" anchor="t">
            <a:spAutoFit/>
          </a:bodyPr>
          <a:lstStyle/>
          <a:p>
            <a:pPr algn="l"/>
            <a:r>
              <a:rPr sz="1400" b="1" i="0">
                <a:solidFill>
                  <a:srgbClr val="2E8B57"/>
                </a:solidFill>
                <a:latin typeface="Tahoma"/>
              </a:rPr>
              <a:t>Sustitutos del filtro Toyota con stock</a:t>
            </a:r>
          </a:p>
        </p:txBody>
      </p:sp>
      <p:sp>
        <p:nvSpPr>
          <p:cNvPr id="11" name="Rounded Rectangle 10"/>
          <p:cNvSpPr/>
          <p:nvPr/>
        </p:nvSpPr>
        <p:spPr>
          <a:xfrm>
            <a:off x="822960" y="4846320"/>
            <a:ext cx="2377440" cy="731520"/>
          </a:xfrm>
          <a:prstGeom prst="roundRect">
            <a:avLst>
              <a:gd name="adj" fmla="val 4600"/>
            </a:avLst>
          </a:prstGeom>
          <a:solidFill>
            <a:srgbClr val="E4F3EA"/>
          </a:solidFill>
          <a:ln w="12700">
            <a:solidFill>
              <a:srgbClr val="E4F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822960" y="4846320"/>
            <a:ext cx="2377440" cy="731520"/>
          </a:xfrm>
          <a:prstGeom prst="rect">
            <a:avLst/>
          </a:prstGeom>
          <a:noFill/>
        </p:spPr>
        <p:txBody>
          <a:bodyPr wrap="square" lIns="0" rIns="0" tIns="0" bIns="0" anchor="ctr">
            <a:spAutoFit/>
          </a:bodyPr>
          <a:lstStyle/>
          <a:p>
            <a:pPr algn="ctr"/>
            <a:r>
              <a:rPr sz="1600" b="1" i="0">
                <a:solidFill>
                  <a:srgbClr val="222222"/>
                </a:solidFill>
                <a:latin typeface="Tahoma"/>
              </a:rPr>
              <a:t>HP-1002</a:t>
            </a:r>
          </a:p>
        </p:txBody>
      </p:sp>
      <p:sp>
        <p:nvSpPr>
          <p:cNvPr id="13" name="Rounded Rectangle 12"/>
          <p:cNvSpPr/>
          <p:nvPr/>
        </p:nvSpPr>
        <p:spPr>
          <a:xfrm>
            <a:off x="3383280" y="4846320"/>
            <a:ext cx="2377440" cy="731520"/>
          </a:xfrm>
          <a:prstGeom prst="roundRect">
            <a:avLst>
              <a:gd name="adj" fmla="val 4600"/>
            </a:avLst>
          </a:prstGeom>
          <a:solidFill>
            <a:srgbClr val="E4F3EA"/>
          </a:solidFill>
          <a:ln w="12700">
            <a:solidFill>
              <a:srgbClr val="E4F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3383280" y="4846320"/>
            <a:ext cx="2377440" cy="731520"/>
          </a:xfrm>
          <a:prstGeom prst="rect">
            <a:avLst/>
          </a:prstGeom>
          <a:noFill/>
        </p:spPr>
        <p:txBody>
          <a:bodyPr wrap="square" lIns="0" rIns="0" tIns="0" bIns="0" anchor="ctr">
            <a:spAutoFit/>
          </a:bodyPr>
          <a:lstStyle/>
          <a:p>
            <a:pPr algn="ctr"/>
            <a:r>
              <a:rPr sz="1600" b="1" i="0">
                <a:solidFill>
                  <a:srgbClr val="222222"/>
                </a:solidFill>
                <a:latin typeface="Tahoma"/>
              </a:rPr>
              <a:t>M1-102</a:t>
            </a:r>
          </a:p>
        </p:txBody>
      </p:sp>
      <p:sp>
        <p:nvSpPr>
          <p:cNvPr id="15" name="TextBox 14"/>
          <p:cNvSpPr txBox="1"/>
          <p:nvPr/>
        </p:nvSpPr>
        <p:spPr>
          <a:xfrm>
            <a:off x="822960" y="5715000"/>
            <a:ext cx="4937760" cy="457200"/>
          </a:xfrm>
          <a:prstGeom prst="rect">
            <a:avLst/>
          </a:prstGeom>
          <a:noFill/>
        </p:spPr>
        <p:txBody>
          <a:bodyPr wrap="square" lIns="0" rIns="0" tIns="0" bIns="0" anchor="t">
            <a:spAutoFit/>
          </a:bodyPr>
          <a:lstStyle/>
          <a:p>
            <a:pPr algn="l"/>
            <a:r>
              <a:rPr sz="1200" b="0" i="1">
                <a:solidFill>
                  <a:srgbClr val="5A5A5A"/>
                </a:solidFill>
                <a:latin typeface="Tahoma"/>
              </a:rPr>
              <a:t>Justo ahí el vendedor pide un sustituto.</a:t>
            </a:r>
          </a:p>
        </p:txBody>
      </p:sp>
      <p:sp>
        <p:nvSpPr>
          <p:cNvPr id="16" name="Rounded Rectangle 15"/>
          <p:cNvSpPr/>
          <p:nvPr/>
        </p:nvSpPr>
        <p:spPr>
          <a:xfrm>
            <a:off x="6263640" y="1600200"/>
            <a:ext cx="5394960" cy="22402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537960" y="1737360"/>
            <a:ext cx="4846320" cy="365760"/>
          </a:xfrm>
          <a:prstGeom prst="rect">
            <a:avLst/>
          </a:prstGeom>
          <a:noFill/>
        </p:spPr>
        <p:txBody>
          <a:bodyPr wrap="square" lIns="0" rIns="0" tIns="0" bIns="0" anchor="t">
            <a:spAutoFit/>
          </a:bodyPr>
          <a:lstStyle/>
          <a:p>
            <a:pPr algn="l"/>
            <a:r>
              <a:rPr sz="1700" b="1" i="0">
                <a:solidFill>
                  <a:srgbClr val="222222"/>
                </a:solidFill>
                <a:latin typeface="Tahoma"/>
              </a:rPr>
              <a:t>Precios de venta</a:t>
            </a:r>
          </a:p>
        </p:txBody>
      </p:sp>
      <p:sp>
        <p:nvSpPr>
          <p:cNvPr id="18" name="Rounded Rectangle 17"/>
          <p:cNvSpPr/>
          <p:nvPr/>
        </p:nvSpPr>
        <p:spPr>
          <a:xfrm>
            <a:off x="6537960" y="2560320"/>
            <a:ext cx="4846320" cy="256032"/>
          </a:xfrm>
          <a:prstGeom prst="roundRect">
            <a:avLst>
              <a:gd name="adj" fmla="val 4600"/>
            </a:avLst>
          </a:prstGeom>
          <a:solidFill>
            <a:srgbClr val="D5DEE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6565392" y="2560320"/>
            <a:ext cx="4791456" cy="256032"/>
          </a:xfrm>
          <a:prstGeom prst="roundRect">
            <a:avLst>
              <a:gd name="adj" fmla="val 4600"/>
            </a:avLst>
          </a:prstGeom>
          <a:solidFill>
            <a:srgbClr val="1B6FA8"/>
          </a:solidFill>
          <a:ln w="12700">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537960" y="2907791"/>
            <a:ext cx="2423160" cy="365760"/>
          </a:xfrm>
          <a:prstGeom prst="rect">
            <a:avLst/>
          </a:prstGeom>
          <a:noFill/>
        </p:spPr>
        <p:txBody>
          <a:bodyPr wrap="square" lIns="0" rIns="0" tIns="0" bIns="0" anchor="t">
            <a:spAutoFit/>
          </a:bodyPr>
          <a:lstStyle/>
          <a:p>
            <a:pPr algn="l"/>
            <a:r>
              <a:rPr sz="2000" b="1" i="0">
                <a:solidFill>
                  <a:srgbClr val="1B6FA8"/>
                </a:solidFill>
                <a:latin typeface="Tahoma"/>
              </a:rPr>
              <a:t>$15.000</a:t>
            </a:r>
          </a:p>
        </p:txBody>
      </p:sp>
      <p:sp>
        <p:nvSpPr>
          <p:cNvPr id="21" name="TextBox 20"/>
          <p:cNvSpPr txBox="1"/>
          <p:nvPr/>
        </p:nvSpPr>
        <p:spPr>
          <a:xfrm>
            <a:off x="8961120" y="2907791"/>
            <a:ext cx="2423160" cy="365760"/>
          </a:xfrm>
          <a:prstGeom prst="rect">
            <a:avLst/>
          </a:prstGeom>
          <a:noFill/>
        </p:spPr>
        <p:txBody>
          <a:bodyPr wrap="square" lIns="0" rIns="0" tIns="0" bIns="0" anchor="t">
            <a:spAutoFit/>
          </a:bodyPr>
          <a:lstStyle/>
          <a:p>
            <a:pPr algn="r"/>
            <a:r>
              <a:rPr sz="2000" b="1" i="0">
                <a:solidFill>
                  <a:srgbClr val="1B6FA8"/>
                </a:solidFill>
                <a:latin typeface="Tahoma"/>
              </a:rPr>
              <a:t>$2.100.000</a:t>
            </a:r>
          </a:p>
        </p:txBody>
      </p:sp>
      <p:sp>
        <p:nvSpPr>
          <p:cNvPr id="22" name="Rounded Rectangle 21"/>
          <p:cNvSpPr/>
          <p:nvPr/>
        </p:nvSpPr>
        <p:spPr>
          <a:xfrm>
            <a:off x="6263640" y="4114800"/>
            <a:ext cx="5394960" cy="224028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extBox 22"/>
          <p:cNvSpPr txBox="1"/>
          <p:nvPr/>
        </p:nvSpPr>
        <p:spPr>
          <a:xfrm>
            <a:off x="6537960" y="4251960"/>
            <a:ext cx="4846320" cy="365760"/>
          </a:xfrm>
          <a:prstGeom prst="rect">
            <a:avLst/>
          </a:prstGeom>
          <a:noFill/>
        </p:spPr>
        <p:txBody>
          <a:bodyPr wrap="square" lIns="0" rIns="0" tIns="0" bIns="0" anchor="t">
            <a:spAutoFit/>
          </a:bodyPr>
          <a:lstStyle/>
          <a:p>
            <a:pPr algn="l"/>
            <a:r>
              <a:rPr sz="1700" b="1" i="0">
                <a:solidFill>
                  <a:srgbClr val="222222"/>
                </a:solidFill>
                <a:latin typeface="Tahoma"/>
              </a:rPr>
              <a:t>Margen: parejo</a:t>
            </a:r>
          </a:p>
        </p:txBody>
      </p:sp>
      <p:sp>
        <p:nvSpPr>
          <p:cNvPr id="24" name="Rounded Rectangle 23"/>
          <p:cNvSpPr/>
          <p:nvPr/>
        </p:nvSpPr>
        <p:spPr>
          <a:xfrm>
            <a:off x="6537960" y="5074920"/>
            <a:ext cx="4846320" cy="256032"/>
          </a:xfrm>
          <a:prstGeom prst="roundRect">
            <a:avLst>
              <a:gd name="adj" fmla="val 4600"/>
            </a:avLst>
          </a:prstGeom>
          <a:solidFill>
            <a:srgbClr val="D5DEE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565392" y="5074920"/>
            <a:ext cx="4791456" cy="256032"/>
          </a:xfrm>
          <a:prstGeom prst="roundRect">
            <a:avLst>
              <a:gd name="adj" fmla="val 4600"/>
            </a:avLst>
          </a:prstGeom>
          <a:solidFill>
            <a:srgbClr val="E8890C"/>
          </a:solidFill>
          <a:ln w="12700">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6537960" y="5422392"/>
            <a:ext cx="2423160" cy="365760"/>
          </a:xfrm>
          <a:prstGeom prst="rect">
            <a:avLst/>
          </a:prstGeom>
          <a:noFill/>
        </p:spPr>
        <p:txBody>
          <a:bodyPr wrap="square" lIns="0" rIns="0" tIns="0" bIns="0" anchor="t">
            <a:spAutoFit/>
          </a:bodyPr>
          <a:lstStyle/>
          <a:p>
            <a:pPr algn="l"/>
            <a:r>
              <a:rPr sz="2000" b="1" i="0">
                <a:solidFill>
                  <a:srgbClr val="E8890C"/>
                </a:solidFill>
                <a:latin typeface="Tahoma"/>
              </a:rPr>
              <a:t>29 %</a:t>
            </a:r>
          </a:p>
        </p:txBody>
      </p:sp>
      <p:sp>
        <p:nvSpPr>
          <p:cNvPr id="27" name="TextBox 26"/>
          <p:cNvSpPr txBox="1"/>
          <p:nvPr/>
        </p:nvSpPr>
        <p:spPr>
          <a:xfrm>
            <a:off x="8961120" y="5422392"/>
            <a:ext cx="2423160" cy="365760"/>
          </a:xfrm>
          <a:prstGeom prst="rect">
            <a:avLst/>
          </a:prstGeom>
          <a:noFill/>
        </p:spPr>
        <p:txBody>
          <a:bodyPr wrap="square" lIns="0" rIns="0" tIns="0" bIns="0" anchor="t">
            <a:spAutoFit/>
          </a:bodyPr>
          <a:lstStyle/>
          <a:p>
            <a:pPr algn="r"/>
            <a:r>
              <a:rPr sz="2000" b="1" i="0">
                <a:solidFill>
                  <a:srgbClr val="E8890C"/>
                </a:solidFill>
                <a:latin typeface="Tahoma"/>
              </a:rPr>
              <a:t>40 %</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Media, mediana y moda</a:t>
            </a:r>
          </a:p>
        </p:txBody>
      </p:sp>
      <p:graphicFrame>
        <p:nvGraphicFramePr>
          <p:cNvPr id="3" name="Table 2"/>
          <p:cNvGraphicFramePr>
            <a:graphicFrameLocks noGrp="1"/>
          </p:cNvGraphicFramePr>
          <p:nvPr/>
        </p:nvGraphicFramePr>
        <p:xfrm>
          <a:off x="548640" y="1600200"/>
          <a:ext cx="11109960" cy="2852928"/>
        </p:xfrm>
        <a:graphic>
          <a:graphicData uri="http://schemas.openxmlformats.org/drawingml/2006/table">
            <a:tbl>
              <a:tblPr firstRow="0" bandRow="0">
                <a:tableStyleId>{5C22544A-7EE6-4342-B048-85BDC9FD1C3A}</a:tableStyleId>
              </a:tblPr>
              <a:tblGrid>
                <a:gridCol w="3291840"/>
                <a:gridCol w="1828800"/>
                <a:gridCol w="1828800"/>
                <a:gridCol w="4160520"/>
              </a:tblGrid>
              <a:tr h="475488">
                <a:tc>
                  <a:txBody>
                    <a:bodyPr wrap="square"/>
                    <a:lstStyle/>
                    <a:p>
                      <a:pPr algn="l"/>
                      <a:r>
                        <a:rPr sz="1500" b="1">
                          <a:solidFill>
                            <a:srgbClr val="FFFFFF"/>
                          </a:solidFill>
                          <a:latin typeface="Tahoma"/>
                        </a:rPr>
                        <a:t>Variable</a:t>
                      </a:r>
                    </a:p>
                  </a:txBody>
                  <a:tcPr marL="109728" marR="109728" marT="36576" marB="36576" anchor="ctr">
                    <a:solidFill>
                      <a:srgbClr val="0E4C7C"/>
                    </a:solidFill>
                  </a:tcPr>
                </a:tc>
                <a:tc>
                  <a:txBody>
                    <a:bodyPr wrap="square"/>
                    <a:lstStyle/>
                    <a:p>
                      <a:pPr algn="ctr"/>
                      <a:r>
                        <a:rPr sz="1500" b="1">
                          <a:solidFill>
                            <a:srgbClr val="FFFFFF"/>
                          </a:solidFill>
                          <a:latin typeface="Tahoma"/>
                        </a:rPr>
                        <a:t>Media</a:t>
                      </a:r>
                    </a:p>
                  </a:txBody>
                  <a:tcPr marL="109728" marR="109728" marT="36576" marB="36576" anchor="ctr">
                    <a:solidFill>
                      <a:srgbClr val="0E4C7C"/>
                    </a:solidFill>
                  </a:tcPr>
                </a:tc>
                <a:tc>
                  <a:txBody>
                    <a:bodyPr wrap="square"/>
                    <a:lstStyle/>
                    <a:p>
                      <a:pPr algn="ctr"/>
                      <a:r>
                        <a:rPr sz="1500" b="1">
                          <a:solidFill>
                            <a:srgbClr val="FFFFFF"/>
                          </a:solidFill>
                          <a:latin typeface="Tahoma"/>
                        </a:rPr>
                        <a:t>Mediana</a:t>
                      </a:r>
                    </a:p>
                  </a:txBody>
                  <a:tcPr marL="109728" marR="109728" marT="36576" marB="36576" anchor="ctr">
                    <a:solidFill>
                      <a:srgbClr val="0E4C7C"/>
                    </a:solidFill>
                  </a:tcPr>
                </a:tc>
                <a:tc>
                  <a:txBody>
                    <a:bodyPr wrap="square"/>
                    <a:lstStyle/>
                    <a:p>
                      <a:pPr algn="l"/>
                      <a:r>
                        <a:rPr sz="1500" b="1">
                          <a:solidFill>
                            <a:srgbClr val="FFFFFF"/>
                          </a:solidFill>
                          <a:latin typeface="Tahoma"/>
                        </a:rPr>
                        <a:t>Moda</a:t>
                      </a:r>
                    </a:p>
                  </a:txBody>
                  <a:tcPr marL="109728" marR="109728" marT="36576" marB="36576" anchor="ctr">
                    <a:solidFill>
                      <a:srgbClr val="0E4C7C"/>
                    </a:solidFill>
                  </a:tcPr>
                </a:tc>
              </a:tr>
              <a:tr h="475488">
                <a:tc>
                  <a:txBody>
                    <a:bodyPr wrap="square"/>
                    <a:lstStyle/>
                    <a:p>
                      <a:pPr algn="l"/>
                      <a:r>
                        <a:rPr sz="1500" b="0">
                          <a:solidFill>
                            <a:srgbClr val="222222"/>
                          </a:solidFill>
                          <a:latin typeface="Tahoma"/>
                        </a:rPr>
                        <a:t>Palabras por frase</a:t>
                      </a:r>
                    </a:p>
                  </a:txBody>
                  <a:tcPr marL="109728" marR="109728" marT="36576" marB="36576" anchor="ctr">
                    <a:solidFill>
                      <a:srgbClr val="EEF4FA"/>
                    </a:solidFill>
                  </a:tcPr>
                </a:tc>
                <a:tc>
                  <a:txBody>
                    <a:bodyPr wrap="square"/>
                    <a:lstStyle/>
                    <a:p>
                      <a:pPr algn="ctr"/>
                      <a:r>
                        <a:rPr sz="1500" b="0">
                          <a:solidFill>
                            <a:srgbClr val="222222"/>
                          </a:solidFill>
                          <a:latin typeface="Tahoma"/>
                        </a:rPr>
                        <a:t>8.15</a:t>
                      </a:r>
                    </a:p>
                  </a:txBody>
                  <a:tcPr marL="109728" marR="109728" marT="36576" marB="36576" anchor="ctr">
                    <a:solidFill>
                      <a:srgbClr val="EEF4FA"/>
                    </a:solidFill>
                  </a:tcPr>
                </a:tc>
                <a:tc>
                  <a:txBody>
                    <a:bodyPr wrap="square"/>
                    <a:lstStyle/>
                    <a:p>
                      <a:pPr algn="ctr"/>
                      <a:r>
                        <a:rPr sz="1500" b="0">
                          <a:solidFill>
                            <a:srgbClr val="222222"/>
                          </a:solidFill>
                          <a:latin typeface="Tahoma"/>
                        </a:rPr>
                        <a:t>8</a:t>
                      </a:r>
                    </a:p>
                  </a:txBody>
                  <a:tcPr marL="109728" marR="109728" marT="36576" marB="36576" anchor="ctr">
                    <a:solidFill>
                      <a:srgbClr val="EEF4FA"/>
                    </a:solidFill>
                  </a:tcPr>
                </a:tc>
                <a:tc>
                  <a:txBody>
                    <a:bodyPr wrap="square"/>
                    <a:lstStyle/>
                    <a:p>
                      <a:pPr algn="l"/>
                      <a:r>
                        <a:rPr sz="1500" b="0">
                          <a:solidFill>
                            <a:srgbClr val="222222"/>
                          </a:solidFill>
                          <a:latin typeface="Tahoma"/>
                        </a:rPr>
                        <a:t>7 y 9</a:t>
                      </a:r>
                    </a:p>
                  </a:txBody>
                  <a:tcPr marL="109728" marR="109728" marT="36576" marB="36576" anchor="ctr">
                    <a:solidFill>
                      <a:srgbClr val="EEF4FA"/>
                    </a:solidFill>
                  </a:tcPr>
                </a:tc>
              </a:tr>
              <a:tr h="475488">
                <a:tc>
                  <a:txBody>
                    <a:bodyPr wrap="square"/>
                    <a:lstStyle/>
                    <a:p>
                      <a:pPr algn="l"/>
                      <a:r>
                        <a:rPr sz="1500" b="0">
                          <a:solidFill>
                            <a:srgbClr val="222222"/>
                          </a:solidFill>
                          <a:latin typeface="Tahoma"/>
                        </a:rPr>
                        <a:t>Caracteres por frase</a:t>
                      </a:r>
                    </a:p>
                  </a:txBody>
                  <a:tcPr marL="109728" marR="109728" marT="36576" marB="36576" anchor="ctr">
                    <a:solidFill>
                      <a:srgbClr val="FFFFFF"/>
                    </a:solidFill>
                  </a:tcPr>
                </a:tc>
                <a:tc>
                  <a:txBody>
                    <a:bodyPr wrap="square"/>
                    <a:lstStyle/>
                    <a:p>
                      <a:pPr algn="ctr"/>
                      <a:r>
                        <a:rPr sz="1500" b="0">
                          <a:solidFill>
                            <a:srgbClr val="222222"/>
                          </a:solidFill>
                          <a:latin typeface="Tahoma"/>
                        </a:rPr>
                        <a:t>47.7</a:t>
                      </a:r>
                    </a:p>
                  </a:txBody>
                  <a:tcPr marL="109728" marR="109728" marT="36576" marB="36576" anchor="ctr">
                    <a:solidFill>
                      <a:srgbClr val="FFFFFF"/>
                    </a:solidFill>
                  </a:tcPr>
                </a:tc>
                <a:tc>
                  <a:txBody>
                    <a:bodyPr wrap="square"/>
                    <a:lstStyle/>
                    <a:p>
                      <a:pPr algn="ctr"/>
                      <a:r>
                        <a:rPr sz="1500" b="0">
                          <a:solidFill>
                            <a:srgbClr val="222222"/>
                          </a:solidFill>
                          <a:latin typeface="Tahoma"/>
                        </a:rPr>
                        <a:t>48</a:t>
                      </a:r>
                    </a:p>
                  </a:txBody>
                  <a:tcPr marL="109728" marR="109728" marT="36576" marB="36576" anchor="ctr">
                    <a:solidFill>
                      <a:srgbClr val="FFFFFF"/>
                    </a:solidFill>
                  </a:tcPr>
                </a:tc>
                <a:tc>
                  <a:txBody>
                    <a:bodyPr wrap="square"/>
                    <a:lstStyle/>
                    <a:p>
                      <a:pPr algn="l"/>
                      <a:r>
                        <a:rPr sz="1500" b="0">
                          <a:solidFill>
                            <a:srgbClr val="222222"/>
                          </a:solidFill>
                          <a:latin typeface="Tahoma"/>
                        </a:rPr>
                        <a:t>48</a:t>
                      </a:r>
                    </a:p>
                  </a:txBody>
                  <a:tcPr marL="109728" marR="109728" marT="36576" marB="36576" anchor="ctr">
                    <a:solidFill>
                      <a:srgbClr val="FFFFFF"/>
                    </a:solidFill>
                  </a:tcPr>
                </a:tc>
              </a:tr>
              <a:tr h="475488">
                <a:tc>
                  <a:txBody>
                    <a:bodyPr wrap="square"/>
                    <a:lstStyle/>
                    <a:p>
                      <a:pPr algn="l"/>
                      <a:r>
                        <a:rPr sz="1500" b="0">
                          <a:solidFill>
                            <a:srgbClr val="222222"/>
                          </a:solidFill>
                          <a:latin typeface="Tahoma"/>
                        </a:rPr>
                        <a:t>Precio de venta (COP)</a:t>
                      </a:r>
                    </a:p>
                  </a:txBody>
                  <a:tcPr marL="109728" marR="109728" marT="36576" marB="36576" anchor="ctr">
                    <a:solidFill>
                      <a:srgbClr val="EEF4FA"/>
                    </a:solidFill>
                  </a:tcPr>
                </a:tc>
                <a:tc>
                  <a:txBody>
                    <a:bodyPr wrap="square"/>
                    <a:lstStyle/>
                    <a:p>
                      <a:pPr algn="ctr"/>
                      <a:r>
                        <a:rPr sz="1500" b="1">
                          <a:solidFill>
                            <a:srgbClr val="9A5400"/>
                          </a:solidFill>
                          <a:latin typeface="Tahoma"/>
                        </a:rPr>
                        <a:t>330.870</a:t>
                      </a:r>
                    </a:p>
                  </a:txBody>
                  <a:tcPr marL="109728" marR="109728" marT="36576" marB="36576" anchor="ctr">
                    <a:solidFill>
                      <a:srgbClr val="EEF4FA"/>
                    </a:solidFill>
                  </a:tcPr>
                </a:tc>
                <a:tc>
                  <a:txBody>
                    <a:bodyPr wrap="square"/>
                    <a:lstStyle/>
                    <a:p>
                      <a:pPr algn="ctr"/>
                      <a:r>
                        <a:rPr sz="1500" b="1">
                          <a:solidFill>
                            <a:srgbClr val="9A5400"/>
                          </a:solidFill>
                          <a:latin typeface="Tahoma"/>
                        </a:rPr>
                        <a:t>95.000</a:t>
                      </a:r>
                    </a:p>
                  </a:txBody>
                  <a:tcPr marL="109728" marR="109728" marT="36576" marB="36576" anchor="ctr">
                    <a:solidFill>
                      <a:srgbClr val="EEF4FA"/>
                    </a:solidFill>
                  </a:tcPr>
                </a:tc>
                <a:tc>
                  <a:txBody>
                    <a:bodyPr wrap="square"/>
                    <a:lstStyle/>
                    <a:p>
                      <a:pPr algn="l"/>
                      <a:r>
                        <a:rPr sz="1500" b="0">
                          <a:solidFill>
                            <a:srgbClr val="222222"/>
                          </a:solidFill>
                          <a:latin typeface="Tahoma"/>
                        </a:rPr>
                        <a:t>no hay (ningún precio se repite)</a:t>
                      </a:r>
                    </a:p>
                  </a:txBody>
                  <a:tcPr marL="109728" marR="109728" marT="36576" marB="36576" anchor="ctr">
                    <a:solidFill>
                      <a:srgbClr val="EEF4FA"/>
                    </a:solidFill>
                  </a:tcPr>
                </a:tc>
              </a:tr>
              <a:tr h="475488">
                <a:tc>
                  <a:txBody>
                    <a:bodyPr wrap="square"/>
                    <a:lstStyle/>
                    <a:p>
                      <a:pPr algn="l"/>
                      <a:r>
                        <a:rPr sz="1500" b="0">
                          <a:solidFill>
                            <a:srgbClr val="222222"/>
                          </a:solidFill>
                          <a:latin typeface="Tahoma"/>
                        </a:rPr>
                        <a:t>Stock (unidades)</a:t>
                      </a:r>
                    </a:p>
                  </a:txBody>
                  <a:tcPr marL="109728" marR="109728" marT="36576" marB="36576" anchor="ctr">
                    <a:solidFill>
                      <a:srgbClr val="FFFFFF"/>
                    </a:solidFill>
                  </a:tcPr>
                </a:tc>
                <a:tc>
                  <a:txBody>
                    <a:bodyPr wrap="square"/>
                    <a:lstStyle/>
                    <a:p>
                      <a:pPr algn="ctr"/>
                      <a:r>
                        <a:rPr sz="1500" b="0">
                          <a:solidFill>
                            <a:srgbClr val="222222"/>
                          </a:solidFill>
                          <a:latin typeface="Tahoma"/>
                        </a:rPr>
                        <a:t>11.4</a:t>
                      </a:r>
                    </a:p>
                  </a:txBody>
                  <a:tcPr marL="109728" marR="109728" marT="36576" marB="36576" anchor="ctr">
                    <a:solidFill>
                      <a:srgbClr val="FFFFFF"/>
                    </a:solidFill>
                  </a:tcPr>
                </a:tc>
                <a:tc>
                  <a:txBody>
                    <a:bodyPr wrap="square"/>
                    <a:lstStyle/>
                    <a:p>
                      <a:pPr algn="ctr"/>
                      <a:r>
                        <a:rPr sz="1500" b="0">
                          <a:solidFill>
                            <a:srgbClr val="222222"/>
                          </a:solidFill>
                          <a:latin typeface="Tahoma"/>
                        </a:rPr>
                        <a:t>8</a:t>
                      </a:r>
                    </a:p>
                  </a:txBody>
                  <a:tcPr marL="109728" marR="109728" marT="36576" marB="36576" anchor="ctr">
                    <a:solidFill>
                      <a:srgbClr val="FFFFFF"/>
                    </a:solidFill>
                  </a:tcPr>
                </a:tc>
                <a:tc>
                  <a:txBody>
                    <a:bodyPr wrap="square"/>
                    <a:lstStyle/>
                    <a:p>
                      <a:pPr algn="l"/>
                      <a:r>
                        <a:rPr sz="1500" b="0">
                          <a:solidFill>
                            <a:srgbClr val="222222"/>
                          </a:solidFill>
                          <a:latin typeface="Tahoma"/>
                        </a:rPr>
                        <a:t>0, 5, 6, 7, 8 y 10</a:t>
                      </a:r>
                    </a:p>
                  </a:txBody>
                  <a:tcPr marL="109728" marR="109728" marT="36576" marB="36576" anchor="ctr">
                    <a:solidFill>
                      <a:srgbClr val="FFFFFF"/>
                    </a:solidFill>
                  </a:tcPr>
                </a:tc>
              </a:tr>
              <a:tr h="475488">
                <a:tc>
                  <a:txBody>
                    <a:bodyPr wrap="square"/>
                    <a:lstStyle/>
                    <a:p>
                      <a:pPr algn="l"/>
                      <a:r>
                        <a:rPr sz="1500" b="0">
                          <a:solidFill>
                            <a:srgbClr val="222222"/>
                          </a:solidFill>
                          <a:latin typeface="Tahoma"/>
                        </a:rPr>
                        <a:t>Margen (%)</a:t>
                      </a:r>
                    </a:p>
                  </a:txBody>
                  <a:tcPr marL="109728" marR="109728" marT="36576" marB="36576" anchor="ctr">
                    <a:solidFill>
                      <a:srgbClr val="EEF4FA"/>
                    </a:solidFill>
                  </a:tcPr>
                </a:tc>
                <a:tc>
                  <a:txBody>
                    <a:bodyPr wrap="square"/>
                    <a:lstStyle/>
                    <a:p>
                      <a:pPr algn="ctr"/>
                      <a:r>
                        <a:rPr sz="1500" b="0">
                          <a:solidFill>
                            <a:srgbClr val="222222"/>
                          </a:solidFill>
                          <a:latin typeface="Tahoma"/>
                        </a:rPr>
                        <a:t>32.9</a:t>
                      </a:r>
                    </a:p>
                  </a:txBody>
                  <a:tcPr marL="109728" marR="109728" marT="36576" marB="36576" anchor="ctr">
                    <a:solidFill>
                      <a:srgbClr val="EEF4FA"/>
                    </a:solidFill>
                  </a:tcPr>
                </a:tc>
                <a:tc>
                  <a:txBody>
                    <a:bodyPr wrap="square"/>
                    <a:lstStyle/>
                    <a:p>
                      <a:pPr algn="ctr"/>
                      <a:r>
                        <a:rPr sz="1500" b="0">
                          <a:solidFill>
                            <a:srgbClr val="222222"/>
                          </a:solidFill>
                          <a:latin typeface="Tahoma"/>
                        </a:rPr>
                        <a:t>32.8</a:t>
                      </a:r>
                    </a:p>
                  </a:txBody>
                  <a:tcPr marL="109728" marR="109728" marT="36576" marB="36576" anchor="ctr">
                    <a:solidFill>
                      <a:srgbClr val="EEF4FA"/>
                    </a:solidFill>
                  </a:tcPr>
                </a:tc>
                <a:tc>
                  <a:txBody>
                    <a:bodyPr wrap="square"/>
                    <a:lstStyle/>
                    <a:p>
                      <a:pPr algn="l"/>
                      <a:r>
                        <a:rPr sz="1500" b="0">
                          <a:solidFill>
                            <a:srgbClr val="222222"/>
                          </a:solidFill>
                          <a:latin typeface="Tahoma"/>
                        </a:rPr>
                        <a:t>33.3</a:t>
                      </a:r>
                    </a:p>
                  </a:txBody>
                  <a:tcPr marL="109728" marR="109728" marT="36576" marB="36576" anchor="ctr">
                    <a:solidFill>
                      <a:srgbClr val="EEF4FA"/>
                    </a:solidFill>
                  </a:tcPr>
                </a:tc>
              </a:tr>
            </a:tbl>
          </a:graphicData>
        </a:graphic>
      </p:graphicFrame>
      <p:sp>
        <p:nvSpPr>
          <p:cNvPr id="4" name="Rounded Rectangle 3"/>
          <p:cNvSpPr/>
          <p:nvPr/>
        </p:nvSpPr>
        <p:spPr>
          <a:xfrm>
            <a:off x="548640" y="4663440"/>
            <a:ext cx="3566160" cy="169164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22959" y="4773168"/>
            <a:ext cx="3017520" cy="1472184"/>
          </a:xfrm>
          <a:prstGeom prst="rect">
            <a:avLst/>
          </a:prstGeom>
          <a:noFill/>
        </p:spPr>
        <p:txBody>
          <a:bodyPr wrap="square" lIns="0" rIns="0" tIns="0" bIns="0" anchor="ctr">
            <a:spAutoFit/>
          </a:bodyPr>
          <a:lstStyle/>
          <a:p>
            <a:pPr algn="l">
              <a:spcAft>
                <a:spcPts val="400"/>
              </a:spcAft>
            </a:pPr>
            <a:r>
              <a:rPr sz="1400" b="1" i="0">
                <a:solidFill>
                  <a:srgbClr val="0E4C7C"/>
                </a:solidFill>
                <a:latin typeface="Tahoma"/>
              </a:rPr>
              <a:t>Frases</a:t>
            </a:r>
          </a:p>
          <a:p>
            <a:pPr algn="l">
              <a:spcAft>
                <a:spcPts val="400"/>
              </a:spcAft>
            </a:pPr>
            <a:r>
              <a:rPr sz="1300" b="0" i="0">
                <a:solidFill>
                  <a:srgbClr val="222222"/>
                </a:solidFill>
                <a:latin typeface="Tahoma"/>
              </a:rPr>
              <a:t>Media y mediana casi coinciden: distribución simétrica.</a:t>
            </a:r>
          </a:p>
        </p:txBody>
      </p:sp>
      <p:sp>
        <p:nvSpPr>
          <p:cNvPr id="6" name="Rounded Rectangle 5"/>
          <p:cNvSpPr/>
          <p:nvPr/>
        </p:nvSpPr>
        <p:spPr>
          <a:xfrm>
            <a:off x="4297680" y="4663440"/>
            <a:ext cx="3931920" cy="169164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0" y="4773168"/>
            <a:ext cx="3383279" cy="1472184"/>
          </a:xfrm>
          <a:prstGeom prst="rect">
            <a:avLst/>
          </a:prstGeom>
          <a:noFill/>
        </p:spPr>
        <p:txBody>
          <a:bodyPr wrap="square" lIns="0" rIns="0" tIns="0" bIns="0" anchor="ctr">
            <a:spAutoFit/>
          </a:bodyPr>
          <a:lstStyle/>
          <a:p>
            <a:pPr algn="l">
              <a:spcAft>
                <a:spcPts val="400"/>
              </a:spcAft>
            </a:pPr>
            <a:r>
              <a:rPr sz="1400" b="1" i="0">
                <a:solidFill>
                  <a:srgbClr val="9A5400"/>
                </a:solidFill>
                <a:latin typeface="Tahoma"/>
              </a:rPr>
              <a:t>Precios</a:t>
            </a:r>
          </a:p>
          <a:p>
            <a:pPr algn="l">
              <a:spcAft>
                <a:spcPts val="400"/>
              </a:spcAft>
            </a:pPr>
            <a:r>
              <a:rPr sz="1300" b="0" i="0">
                <a:solidFill>
                  <a:srgbClr val="222222"/>
                </a:solidFill>
                <a:latin typeface="Tahoma"/>
              </a:rPr>
              <a:t>Unos pocos repuestos agrícolas muy caros suben la media. La mediana representa mejor al repuesto típico.</a:t>
            </a:r>
          </a:p>
        </p:txBody>
      </p:sp>
      <p:sp>
        <p:nvSpPr>
          <p:cNvPr id="8" name="Rounded Rectangle 7"/>
          <p:cNvSpPr/>
          <p:nvPr/>
        </p:nvSpPr>
        <p:spPr>
          <a:xfrm>
            <a:off x="8412480" y="4663440"/>
            <a:ext cx="3246120" cy="169164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686800" y="4773168"/>
            <a:ext cx="2697479" cy="1472184"/>
          </a:xfrm>
          <a:prstGeom prst="rect">
            <a:avLst/>
          </a:prstGeom>
          <a:noFill/>
        </p:spPr>
        <p:txBody>
          <a:bodyPr wrap="square" lIns="0" rIns="0" tIns="0" bIns="0" anchor="ctr">
            <a:spAutoFit/>
          </a:bodyPr>
          <a:lstStyle/>
          <a:p>
            <a:pPr algn="l">
              <a:spcAft>
                <a:spcPts val="400"/>
              </a:spcAft>
            </a:pPr>
            <a:r>
              <a:rPr sz="1400" b="1" i="0">
                <a:solidFill>
                  <a:srgbClr val="0E4C7C"/>
                </a:solidFill>
                <a:latin typeface="Tahoma"/>
              </a:rPr>
              <a:t>Palabra más usada</a:t>
            </a:r>
          </a:p>
          <a:p>
            <a:pPr algn="l">
              <a:spcAft>
                <a:spcPts val="400"/>
              </a:spcAft>
            </a:pPr>
            <a:r>
              <a:rPr sz="1300" b="0" i="0">
                <a:solidFill>
                  <a:srgbClr val="222222"/>
                </a:solidFill>
                <a:latin typeface="Tahoma"/>
              </a:rPr>
              <a:t>«no», 36 veces: la señal principal de recomendar_sustituto.</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Parámetros del modelo</a:t>
            </a:r>
          </a:p>
        </p:txBody>
      </p:sp>
      <p:graphicFrame>
        <p:nvGraphicFramePr>
          <p:cNvPr id="3" name="Table 2"/>
          <p:cNvGraphicFramePr>
            <a:graphicFrameLocks noGrp="1"/>
          </p:cNvGraphicFramePr>
          <p:nvPr/>
        </p:nvGraphicFramePr>
        <p:xfrm>
          <a:off x="548640" y="1600200"/>
          <a:ext cx="7498080" cy="4663440"/>
        </p:xfrm>
        <a:graphic>
          <a:graphicData uri="http://schemas.openxmlformats.org/drawingml/2006/table">
            <a:tbl>
              <a:tblPr firstRow="0" bandRow="0">
                <a:tableStyleId>{5C22544A-7EE6-4342-B048-85BDC9FD1C3A}</a:tableStyleId>
              </a:tblPr>
              <a:tblGrid>
                <a:gridCol w="2286000"/>
                <a:gridCol w="5212080"/>
              </a:tblGrid>
              <a:tr h="777240">
                <a:tc>
                  <a:txBody>
                    <a:bodyPr wrap="square"/>
                    <a:lstStyle/>
                    <a:p>
                      <a:pPr algn="l"/>
                      <a:r>
                        <a:rPr sz="1300" b="1">
                          <a:solidFill>
                            <a:srgbClr val="FFFFFF"/>
                          </a:solidFill>
                          <a:latin typeface="Tahoma"/>
                        </a:rPr>
                        <a:t>Componente</a:t>
                      </a:r>
                    </a:p>
                  </a:txBody>
                  <a:tcPr marL="109728" marR="109728" marT="36576" marB="36576" anchor="ctr">
                    <a:solidFill>
                      <a:srgbClr val="0E4C7C"/>
                    </a:solidFill>
                  </a:tcPr>
                </a:tc>
                <a:tc>
                  <a:txBody>
                    <a:bodyPr wrap="square"/>
                    <a:lstStyle/>
                    <a:p>
                      <a:pPr algn="l"/>
                      <a:r>
                        <a:rPr sz="1300" b="1">
                          <a:solidFill>
                            <a:srgbClr val="FFFFFF"/>
                          </a:solidFill>
                          <a:latin typeface="Tahoma"/>
                        </a:rPr>
                        <a:t>Parámetros</a:t>
                      </a:r>
                    </a:p>
                  </a:txBody>
                  <a:tcPr marL="109728" marR="109728" marT="36576" marB="36576" anchor="ctr">
                    <a:solidFill>
                      <a:srgbClr val="0E4C7C"/>
                    </a:solidFill>
                  </a:tcPr>
                </a:tc>
              </a:tr>
              <a:tr h="777240">
                <a:tc>
                  <a:txBody>
                    <a:bodyPr wrap="square"/>
                    <a:lstStyle/>
                    <a:p>
                      <a:pPr algn="l"/>
                      <a:r>
                        <a:rPr sz="1300" b="1">
                          <a:solidFill>
                            <a:srgbClr val="222222"/>
                          </a:solidFill>
                          <a:latin typeface="Tahoma"/>
                        </a:rPr>
                        <a:t>TF-IDF</a:t>
                      </a:r>
                    </a:p>
                  </a:txBody>
                  <a:tcPr marL="109728" marR="109728" marT="36576" marB="36576" anchor="ctr">
                    <a:solidFill>
                      <a:srgbClr val="EEF4FA"/>
                    </a:solidFill>
                  </a:tcPr>
                </a:tc>
                <a:tc>
                  <a:txBody>
                    <a:bodyPr wrap="square"/>
                    <a:lstStyle/>
                    <a:p>
                      <a:pPr algn="l"/>
                      <a:r>
                        <a:rPr sz="1300" b="0">
                          <a:solidFill>
                            <a:srgbClr val="222222"/>
                          </a:solidFill>
                          <a:latin typeface="Tahoma"/>
                        </a:rPr>
                        <a:t>palabras sueltas (ngram_range 1,1), min_df 1, normalización L2</a:t>
                      </a:r>
                    </a:p>
                  </a:txBody>
                  <a:tcPr marL="109728" marR="109728" marT="36576" marB="36576" anchor="ctr">
                    <a:solidFill>
                      <a:srgbClr val="EEF4FA"/>
                    </a:solidFill>
                  </a:tcPr>
                </a:tc>
              </a:tr>
              <a:tr h="777240">
                <a:tc>
                  <a:txBody>
                    <a:bodyPr wrap="square"/>
                    <a:lstStyle/>
                    <a:p>
                      <a:pPr algn="l"/>
                      <a:r>
                        <a:rPr sz="1300" b="1">
                          <a:solidFill>
                            <a:srgbClr val="222222"/>
                          </a:solidFill>
                          <a:latin typeface="Tahoma"/>
                        </a:rPr>
                        <a:t>Regresión logística</a:t>
                      </a:r>
                    </a:p>
                  </a:txBody>
                  <a:tcPr marL="109728" marR="109728" marT="36576" marB="36576" anchor="ctr">
                    <a:solidFill>
                      <a:srgbClr val="FFFFFF"/>
                    </a:solidFill>
                  </a:tcPr>
                </a:tc>
                <a:tc>
                  <a:txBody>
                    <a:bodyPr wrap="square"/>
                    <a:lstStyle/>
                    <a:p>
                      <a:pPr algn="l"/>
                      <a:r>
                        <a:rPr sz="1300" b="0">
                          <a:solidFill>
                            <a:srgbClr val="222222"/>
                          </a:solidFill>
                          <a:latin typeface="Tahoma"/>
                        </a:rPr>
                        <a:t>C = 15, solver liblinear, max_iter 2000, sin pesos por clase</a:t>
                      </a:r>
                    </a:p>
                  </a:txBody>
                  <a:tcPr marL="109728" marR="109728" marT="36576" marB="36576" anchor="ctr">
                    <a:solidFill>
                      <a:srgbClr val="FFFFFF"/>
                    </a:solidFill>
                  </a:tcPr>
                </a:tc>
              </a:tr>
              <a:tr h="777240">
                <a:tc>
                  <a:txBody>
                    <a:bodyPr wrap="square"/>
                    <a:lstStyle/>
                    <a:p>
                      <a:pPr algn="l"/>
                      <a:r>
                        <a:rPr sz="1300" b="1">
                          <a:solidFill>
                            <a:srgbClr val="222222"/>
                          </a:solidFill>
                          <a:latin typeface="Tahoma"/>
                        </a:rPr>
                        <a:t>Umbral de confianza</a:t>
                      </a:r>
                    </a:p>
                  </a:txBody>
                  <a:tcPr marL="109728" marR="109728" marT="36576" marB="36576" anchor="ctr">
                    <a:solidFill>
                      <a:srgbClr val="EEF4FA"/>
                    </a:solidFill>
                  </a:tcPr>
                </a:tc>
                <a:tc>
                  <a:txBody>
                    <a:bodyPr wrap="square"/>
                    <a:lstStyle/>
                    <a:p>
                      <a:pPr algn="l"/>
                      <a:r>
                        <a:rPr sz="1300" b="0">
                          <a:solidFill>
                            <a:srgbClr val="222222"/>
                          </a:solidFill>
                          <a:latin typeface="Tahoma"/>
                        </a:rPr>
                        <a:t>0.35: si el modelo está menos seguro, responde fuera_de_dominio</a:t>
                      </a:r>
                    </a:p>
                  </a:txBody>
                  <a:tcPr marL="109728" marR="109728" marT="36576" marB="36576" anchor="ctr">
                    <a:solidFill>
                      <a:srgbClr val="EEF4FA"/>
                    </a:solidFill>
                  </a:tcPr>
                </a:tc>
              </a:tr>
              <a:tr h="777240">
                <a:tc>
                  <a:txBody>
                    <a:bodyPr wrap="square"/>
                    <a:lstStyle/>
                    <a:p>
                      <a:pPr algn="l"/>
                      <a:r>
                        <a:rPr sz="1300" b="1">
                          <a:solidFill>
                            <a:srgbClr val="222222"/>
                          </a:solidFill>
                          <a:latin typeface="Tahoma"/>
                        </a:rPr>
                        <a:t>Validación</a:t>
                      </a:r>
                    </a:p>
                  </a:txBody>
                  <a:tcPr marL="109728" marR="109728" marT="36576" marB="36576" anchor="ctr">
                    <a:solidFill>
                      <a:srgbClr val="FFFFFF"/>
                    </a:solidFill>
                  </a:tcPr>
                </a:tc>
                <a:tc>
                  <a:txBody>
                    <a:bodyPr wrap="square"/>
                    <a:lstStyle/>
                    <a:p>
                      <a:pPr algn="l"/>
                      <a:r>
                        <a:rPr sz="1300" b="0">
                          <a:solidFill>
                            <a:srgbClr val="222222"/>
                          </a:solidFill>
                          <a:latin typeface="Tahoma"/>
                        </a:rPr>
                        <a:t>5 partes × 10 repeticiones, semilla 42</a:t>
                      </a:r>
                    </a:p>
                  </a:txBody>
                  <a:tcPr marL="109728" marR="109728" marT="36576" marB="36576" anchor="ctr">
                    <a:solidFill>
                      <a:srgbClr val="FFFFFF"/>
                    </a:solidFill>
                  </a:tcPr>
                </a:tc>
              </a:tr>
              <a:tr h="777240">
                <a:tc>
                  <a:txBody>
                    <a:bodyPr wrap="square"/>
                    <a:lstStyle/>
                    <a:p>
                      <a:pPr algn="l"/>
                      <a:r>
                        <a:rPr sz="1300" b="1">
                          <a:solidFill>
                            <a:srgbClr val="222222"/>
                          </a:solidFill>
                          <a:latin typeface="Tahoma"/>
                        </a:rPr>
                        <a:t>Parámetros aprendidos</a:t>
                      </a:r>
                    </a:p>
                  </a:txBody>
                  <a:tcPr marL="109728" marR="109728" marT="36576" marB="36576" anchor="ctr">
                    <a:solidFill>
                      <a:srgbClr val="EEF4FA"/>
                    </a:solidFill>
                  </a:tcPr>
                </a:tc>
                <a:tc>
                  <a:txBody>
                    <a:bodyPr wrap="square"/>
                    <a:lstStyle/>
                    <a:p>
                      <a:pPr algn="l"/>
                      <a:r>
                        <a:rPr sz="1300" b="0">
                          <a:solidFill>
                            <a:srgbClr val="222222"/>
                          </a:solidFill>
                          <a:latin typeface="Tahoma"/>
                        </a:rPr>
                        <a:t>vocabulario de 502 palabras; 3.514 coeficientes (7 clases × 502) + 7 interceptos</a:t>
                      </a:r>
                    </a:p>
                  </a:txBody>
                  <a:tcPr marL="109728" marR="109728" marT="36576" marB="36576" anchor="ctr">
                    <a:solidFill>
                      <a:srgbClr val="EEF4FA"/>
                    </a:solidFill>
                  </a:tcPr>
                </a:tc>
              </a:tr>
            </a:tbl>
          </a:graphicData>
        </a:graphic>
      </p:graphicFrame>
      <p:sp>
        <p:nvSpPr>
          <p:cNvPr id="4" name="Rounded Rectangle 3"/>
          <p:cNvSpPr/>
          <p:nvPr/>
        </p:nvSpPr>
        <p:spPr>
          <a:xfrm>
            <a:off x="8321040" y="1600200"/>
            <a:ext cx="3337560" cy="38862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TextBox 4"/>
          <p:cNvSpPr txBox="1"/>
          <p:nvPr/>
        </p:nvSpPr>
        <p:spPr>
          <a:xfrm>
            <a:off x="8321040" y="1783080"/>
            <a:ext cx="3337560" cy="1097280"/>
          </a:xfrm>
          <a:prstGeom prst="rect">
            <a:avLst/>
          </a:prstGeom>
          <a:noFill/>
        </p:spPr>
        <p:txBody>
          <a:bodyPr wrap="square" lIns="0" rIns="0" tIns="0" bIns="0" anchor="ctr">
            <a:spAutoFit/>
          </a:bodyPr>
          <a:lstStyle/>
          <a:p>
            <a:pPr algn="ctr"/>
            <a:r>
              <a:rPr sz="5400" b="1" i="0">
                <a:solidFill>
                  <a:srgbClr val="1B6FA8"/>
                </a:solidFill>
                <a:latin typeface="Tahoma"/>
              </a:rPr>
              <a:t>3.521</a:t>
            </a:r>
          </a:p>
        </p:txBody>
      </p:sp>
      <p:sp>
        <p:nvSpPr>
          <p:cNvPr id="6" name="TextBox 5"/>
          <p:cNvSpPr txBox="1"/>
          <p:nvPr/>
        </p:nvSpPr>
        <p:spPr>
          <a:xfrm>
            <a:off x="8503920" y="2926080"/>
            <a:ext cx="2971800" cy="457200"/>
          </a:xfrm>
          <a:prstGeom prst="rect">
            <a:avLst/>
          </a:prstGeom>
          <a:noFill/>
        </p:spPr>
        <p:txBody>
          <a:bodyPr wrap="square" lIns="0" rIns="0" tIns="0" bIns="0" anchor="t">
            <a:spAutoFit/>
          </a:bodyPr>
          <a:lstStyle/>
          <a:p>
            <a:pPr algn="ctr"/>
            <a:r>
              <a:rPr sz="1700" b="1" i="0">
                <a:solidFill>
                  <a:srgbClr val="222222"/>
                </a:solidFill>
                <a:latin typeface="Tahoma"/>
              </a:rPr>
              <a:t>números aprendidos</a:t>
            </a:r>
          </a:p>
        </p:txBody>
      </p:sp>
      <p:sp>
        <p:nvSpPr>
          <p:cNvPr id="7" name="TextBox 6"/>
          <p:cNvSpPr txBox="1"/>
          <p:nvPr/>
        </p:nvSpPr>
        <p:spPr>
          <a:xfrm>
            <a:off x="8503920" y="3474720"/>
            <a:ext cx="2971800" cy="1737360"/>
          </a:xfrm>
          <a:prstGeom prst="rect">
            <a:avLst/>
          </a:prstGeom>
          <a:noFill/>
        </p:spPr>
        <p:txBody>
          <a:bodyPr wrap="square" lIns="0" rIns="0" tIns="0" bIns="0" anchor="t">
            <a:spAutoFit/>
          </a:bodyPr>
          <a:lstStyle/>
          <a:p>
            <a:pPr algn="ctr">
              <a:spcAft>
                <a:spcPts val="600"/>
              </a:spcAft>
            </a:pPr>
            <a:r>
              <a:rPr sz="1500" b="0" i="0">
                <a:solidFill>
                  <a:srgbClr val="222222"/>
                </a:solidFill>
                <a:latin typeface="Tahoma"/>
              </a:rPr>
              <a:t>3.514 coeficientes</a:t>
            </a:r>
          </a:p>
          <a:p>
            <a:pPr algn="ctr">
              <a:spcAft>
                <a:spcPts val="600"/>
              </a:spcAft>
            </a:pPr>
            <a:r>
              <a:rPr sz="1500" b="0" i="0">
                <a:solidFill>
                  <a:srgbClr val="222222"/>
                </a:solidFill>
                <a:latin typeface="Tahoma"/>
              </a:rPr>
              <a:t>+ 7 interceptos</a:t>
            </a:r>
          </a:p>
          <a:p>
            <a:pPr algn="ctr">
              <a:spcAft>
                <a:spcPts val="600"/>
              </a:spcAft>
            </a:pPr>
            <a:r>
              <a:rPr sz="1500" b="0" i="0">
                <a:solidFill>
                  <a:srgbClr val="5A5A5A"/>
                </a:solidFill>
                <a:latin typeface="Tahoma"/>
              </a:rPr>
              <a:t>502 palabras × 7 clases</a:t>
            </a:r>
          </a:p>
        </p:txBody>
      </p:sp>
      <p:sp>
        <p:nvSpPr>
          <p:cNvPr id="8" name="Rounded Rectangle 7"/>
          <p:cNvSpPr/>
          <p:nvPr/>
        </p:nvSpPr>
        <p:spPr>
          <a:xfrm>
            <a:off x="8321040" y="5669280"/>
            <a:ext cx="3337560" cy="68580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321040" y="5669280"/>
            <a:ext cx="3337560" cy="685800"/>
          </a:xfrm>
          <a:prstGeom prst="rect">
            <a:avLst/>
          </a:prstGeom>
          <a:noFill/>
        </p:spPr>
        <p:txBody>
          <a:bodyPr wrap="square" lIns="0" rIns="0" tIns="0" bIns="0" anchor="ctr">
            <a:spAutoFit/>
          </a:bodyPr>
          <a:lstStyle/>
          <a:p>
            <a:pPr algn="ctr"/>
            <a:r>
              <a:rPr sz="1400" b="1" i="0">
                <a:solidFill>
                  <a:srgbClr val="9A5400"/>
                </a:solidFill>
                <a:latin typeface="Tahoma"/>
              </a:rPr>
              <a:t>Umbral de confianza: 0.35</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Modelado: configuraciones probadas</a:t>
            </a:r>
          </a:p>
        </p:txBody>
      </p:sp>
      <p:graphicFrame>
        <p:nvGraphicFramePr>
          <p:cNvPr id="3" name="Table 2"/>
          <p:cNvGraphicFramePr>
            <a:graphicFrameLocks noGrp="1"/>
          </p:cNvGraphicFramePr>
          <p:nvPr/>
        </p:nvGraphicFramePr>
        <p:xfrm>
          <a:off x="548640" y="1600200"/>
          <a:ext cx="11109960" cy="4389120"/>
        </p:xfrm>
        <a:graphic>
          <a:graphicData uri="http://schemas.openxmlformats.org/drawingml/2006/table">
            <a:tbl>
              <a:tblPr firstRow="0" bandRow="0">
                <a:tableStyleId>{5C22544A-7EE6-4342-B048-85BDC9FD1C3A}</a:tableStyleId>
              </a:tblPr>
              <a:tblGrid>
                <a:gridCol w="4754880"/>
                <a:gridCol w="1737360"/>
                <a:gridCol w="4617720"/>
              </a:tblGrid>
              <a:tr h="548640">
                <a:tc>
                  <a:txBody>
                    <a:bodyPr wrap="square"/>
                    <a:lstStyle/>
                    <a:p>
                      <a:pPr algn="l"/>
                      <a:r>
                        <a:rPr sz="1500" b="1">
                          <a:solidFill>
                            <a:srgbClr val="FFFFFF"/>
                          </a:solidFill>
                          <a:latin typeface="Tahoma"/>
                        </a:rPr>
                        <a:t>Configuración</a:t>
                      </a:r>
                    </a:p>
                  </a:txBody>
                  <a:tcPr marL="109728" marR="109728" marT="36576" marB="36576" anchor="ctr">
                    <a:solidFill>
                      <a:srgbClr val="0E4C7C"/>
                    </a:solidFill>
                  </a:tcPr>
                </a:tc>
                <a:tc>
                  <a:txBody>
                    <a:bodyPr wrap="square"/>
                    <a:lstStyle/>
                    <a:p>
                      <a:pPr algn="ctr"/>
                      <a:r>
                        <a:rPr sz="1500" b="1">
                          <a:solidFill>
                            <a:srgbClr val="FFFFFF"/>
                          </a:solidFill>
                          <a:latin typeface="Tahoma"/>
                        </a:rPr>
                        <a:t>F1 macro</a:t>
                      </a:r>
                    </a:p>
                  </a:txBody>
                  <a:tcPr marL="109728" marR="109728" marT="36576" marB="36576" anchor="ctr">
                    <a:solidFill>
                      <a:srgbClr val="0E4C7C"/>
                    </a:solidFill>
                  </a:tcPr>
                </a:tc>
                <a:tc>
                  <a:txBody>
                    <a:bodyPr wrap="square"/>
                    <a:lstStyle/>
                    <a:p>
                      <a:pPr algn="l"/>
                      <a:r>
                        <a:rPr sz="1500" b="1">
                          <a:solidFill>
                            <a:srgbClr val="FFFFFF"/>
                          </a:solidFill>
                          <a:latin typeface="Tahoma"/>
                        </a:rPr>
                        <a:t>Decisión</a:t>
                      </a:r>
                    </a:p>
                  </a:txBody>
                  <a:tcPr marL="109728" marR="109728" marT="36576" marB="36576" anchor="ctr">
                    <a:solidFill>
                      <a:srgbClr val="0E4C7C"/>
                    </a:solidFill>
                  </a:tcPr>
                </a:tc>
              </a:tr>
              <a:tr h="548640">
                <a:tc>
                  <a:txBody>
                    <a:bodyPr wrap="square"/>
                    <a:lstStyle/>
                    <a:p>
                      <a:pPr algn="l"/>
                      <a:r>
                        <a:rPr sz="1500" b="1">
                          <a:solidFill>
                            <a:srgbClr val="222222"/>
                          </a:solidFill>
                          <a:latin typeface="Tahoma"/>
                        </a:rPr>
                        <a:t>A · Proyecto (unigramas, C=15)</a:t>
                      </a:r>
                    </a:p>
                  </a:txBody>
                  <a:tcPr marL="109728" marR="109728" marT="36576" marB="36576" anchor="ctr">
                    <a:solidFill>
                      <a:srgbClr val="EEF4FA"/>
                    </a:solidFill>
                  </a:tcPr>
                </a:tc>
                <a:tc>
                  <a:txBody>
                    <a:bodyPr wrap="square"/>
                    <a:lstStyle/>
                    <a:p>
                      <a:pPr algn="ctr"/>
                      <a:r>
                        <a:rPr sz="1500" b="1">
                          <a:solidFill>
                            <a:srgbClr val="222222"/>
                          </a:solidFill>
                          <a:latin typeface="Tahoma"/>
                        </a:rPr>
                        <a:t>0.820</a:t>
                      </a:r>
                    </a:p>
                  </a:txBody>
                  <a:tcPr marL="109728" marR="109728" marT="36576" marB="36576" anchor="ctr">
                    <a:solidFill>
                      <a:srgbClr val="EEF4FA"/>
                    </a:solidFill>
                  </a:tcPr>
                </a:tc>
                <a:tc>
                  <a:txBody>
                    <a:bodyPr wrap="square"/>
                    <a:lstStyle/>
                    <a:p>
                      <a:pPr algn="l"/>
                      <a:r>
                        <a:rPr sz="1500" b="1">
                          <a:solidFill>
                            <a:srgbClr val="FFFFFF"/>
                          </a:solidFill>
                          <a:latin typeface="Tahoma"/>
                        </a:rPr>
                        <a:t>ELEGIDA</a:t>
                      </a:r>
                    </a:p>
                  </a:txBody>
                  <a:tcPr marL="109728" marR="109728" marT="36576" marB="36576" anchor="ctr">
                    <a:solidFill>
                      <a:srgbClr val="2E8B57"/>
                    </a:solidFill>
                  </a:tcPr>
                </a:tc>
              </a:tr>
              <a:tr h="548640">
                <a:tc>
                  <a:txBody>
                    <a:bodyPr wrap="square"/>
                    <a:lstStyle/>
                    <a:p>
                      <a:pPr algn="l"/>
                      <a:r>
                        <a:rPr sz="1500" b="0">
                          <a:solidFill>
                            <a:srgbClr val="222222"/>
                          </a:solidFill>
                          <a:latin typeface="Tahoma"/>
                        </a:rPr>
                        <a:t>D · C=100</a:t>
                      </a:r>
                    </a:p>
                  </a:txBody>
                  <a:tcPr marL="109728" marR="109728" marT="36576" marB="36576" anchor="ctr">
                    <a:solidFill>
                      <a:srgbClr val="FFFFFF"/>
                    </a:solidFill>
                  </a:tcPr>
                </a:tc>
                <a:tc>
                  <a:txBody>
                    <a:bodyPr wrap="square"/>
                    <a:lstStyle/>
                    <a:p>
                      <a:pPr algn="ctr"/>
                      <a:r>
                        <a:rPr sz="1500" b="0">
                          <a:solidFill>
                            <a:srgbClr val="222222"/>
                          </a:solidFill>
                          <a:latin typeface="Tahoma"/>
                        </a:rPr>
                        <a:t>0.829</a:t>
                      </a:r>
                    </a:p>
                  </a:txBody>
                  <a:tcPr marL="109728" marR="109728" marT="36576" marB="36576" anchor="ctr">
                    <a:solidFill>
                      <a:srgbClr val="FFFFFF"/>
                    </a:solidFill>
                  </a:tcPr>
                </a:tc>
                <a:tc>
                  <a:txBody>
                    <a:bodyPr wrap="square"/>
                    <a:lstStyle/>
                    <a:p>
                      <a:pPr algn="l"/>
                      <a:r>
                        <a:rPr sz="1500" b="0">
                          <a:solidFill>
                            <a:srgbClr val="9A5400"/>
                          </a:solidFill>
                          <a:latin typeface="Tahoma"/>
                        </a:rPr>
                        <a:t>No concluyente (+0.009)</a:t>
                      </a:r>
                    </a:p>
                  </a:txBody>
                  <a:tcPr marL="109728" marR="109728" marT="36576" marB="36576" anchor="ctr">
                    <a:solidFill>
                      <a:srgbClr val="FDF1E0"/>
                    </a:solidFill>
                  </a:tcPr>
                </a:tc>
              </a:tr>
              <a:tr h="548640">
                <a:tc>
                  <a:txBody>
                    <a:bodyPr wrap="square"/>
                    <a:lstStyle/>
                    <a:p>
                      <a:pPr algn="l"/>
                      <a:r>
                        <a:rPr sz="1500" b="0">
                          <a:solidFill>
                            <a:srgbClr val="222222"/>
                          </a:solidFill>
                          <a:latin typeface="Tahoma"/>
                        </a:rPr>
                        <a:t>E · class_weight balanced</a:t>
                      </a:r>
                    </a:p>
                  </a:txBody>
                  <a:tcPr marL="109728" marR="109728" marT="36576" marB="36576" anchor="ctr">
                    <a:solidFill>
                      <a:srgbClr val="EEF4FA"/>
                    </a:solidFill>
                  </a:tcPr>
                </a:tc>
                <a:tc>
                  <a:txBody>
                    <a:bodyPr wrap="square"/>
                    <a:lstStyle/>
                    <a:p>
                      <a:pPr algn="ctr"/>
                      <a:r>
                        <a:rPr sz="1500" b="0">
                          <a:solidFill>
                            <a:srgbClr val="222222"/>
                          </a:solidFill>
                          <a:latin typeface="Tahoma"/>
                        </a:rPr>
                        <a:t>0.824</a:t>
                      </a:r>
                    </a:p>
                  </a:txBody>
                  <a:tcPr marL="109728" marR="109728" marT="36576" marB="36576" anchor="ctr">
                    <a:solidFill>
                      <a:srgbClr val="EEF4FA"/>
                    </a:solidFill>
                  </a:tcPr>
                </a:tc>
                <a:tc>
                  <a:txBody>
                    <a:bodyPr wrap="square"/>
                    <a:lstStyle/>
                    <a:p>
                      <a:pPr algn="l"/>
                      <a:r>
                        <a:rPr sz="1500" b="0">
                          <a:solidFill>
                            <a:srgbClr val="9A5400"/>
                          </a:solidFill>
                          <a:latin typeface="Tahoma"/>
                        </a:rPr>
                        <a:t>No concluyente (+0.003)</a:t>
                      </a:r>
                    </a:p>
                  </a:txBody>
                  <a:tcPr marL="109728" marR="109728" marT="36576" marB="36576" anchor="ctr">
                    <a:solidFill>
                      <a:srgbClr val="FDF1E0"/>
                    </a:solidFill>
                  </a:tcPr>
                </a:tc>
              </a:tr>
              <a:tr h="548640">
                <a:tc>
                  <a:txBody>
                    <a:bodyPr wrap="square"/>
                    <a:lstStyle/>
                    <a:p>
                      <a:pPr algn="l"/>
                      <a:r>
                        <a:rPr sz="1500" b="0">
                          <a:solidFill>
                            <a:srgbClr val="222222"/>
                          </a:solidFill>
                          <a:latin typeface="Tahoma"/>
                        </a:rPr>
                        <a:t>C · C=1</a:t>
                      </a:r>
                    </a:p>
                  </a:txBody>
                  <a:tcPr marL="109728" marR="109728" marT="36576" marB="36576" anchor="ctr">
                    <a:solidFill>
                      <a:srgbClr val="FFFFFF"/>
                    </a:solidFill>
                  </a:tcPr>
                </a:tc>
                <a:tc>
                  <a:txBody>
                    <a:bodyPr wrap="square"/>
                    <a:lstStyle/>
                    <a:p>
                      <a:pPr algn="ctr"/>
                      <a:r>
                        <a:rPr sz="1500" b="0">
                          <a:solidFill>
                            <a:srgbClr val="222222"/>
                          </a:solidFill>
                          <a:latin typeface="Tahoma"/>
                        </a:rPr>
                        <a:t>0.787</a:t>
                      </a:r>
                    </a:p>
                  </a:txBody>
                  <a:tcPr marL="109728" marR="109728" marT="36576" marB="36576" anchor="ctr">
                    <a:solidFill>
                      <a:srgbClr val="FFFFFF"/>
                    </a:solidFill>
                  </a:tcPr>
                </a:tc>
                <a:tc>
                  <a:txBody>
                    <a:bodyPr wrap="square"/>
                    <a:lstStyle/>
                    <a:p>
                      <a:pPr algn="l"/>
                      <a:r>
                        <a:rPr sz="1500" b="0">
                          <a:solidFill>
                            <a:srgbClr val="B23A3A"/>
                          </a:solidFill>
                          <a:latin typeface="Tahoma"/>
                        </a:rPr>
                        <a:t>Descartada: manda el 73 % al fallback</a:t>
                      </a:r>
                    </a:p>
                  </a:txBody>
                  <a:tcPr marL="109728" marR="109728" marT="36576" marB="36576" anchor="ctr">
                    <a:solidFill>
                      <a:srgbClr val="FBE9E7"/>
                    </a:solidFill>
                  </a:tcPr>
                </a:tc>
              </a:tr>
              <a:tr h="548640">
                <a:tc>
                  <a:txBody>
                    <a:bodyPr wrap="square"/>
                    <a:lstStyle/>
                    <a:p>
                      <a:pPr algn="l"/>
                      <a:r>
                        <a:rPr sz="1500" b="0">
                          <a:solidFill>
                            <a:srgbClr val="222222"/>
                          </a:solidFill>
                          <a:latin typeface="Tahoma"/>
                        </a:rPr>
                        <a:t>B · Bigramas</a:t>
                      </a:r>
                    </a:p>
                  </a:txBody>
                  <a:tcPr marL="109728" marR="109728" marT="36576" marB="36576" anchor="ctr">
                    <a:solidFill>
                      <a:srgbClr val="EEF4FA"/>
                    </a:solidFill>
                  </a:tcPr>
                </a:tc>
                <a:tc>
                  <a:txBody>
                    <a:bodyPr wrap="square"/>
                    <a:lstStyle/>
                    <a:p>
                      <a:pPr algn="ctr"/>
                      <a:r>
                        <a:rPr sz="1500" b="0">
                          <a:solidFill>
                            <a:srgbClr val="222222"/>
                          </a:solidFill>
                          <a:latin typeface="Tahoma"/>
                        </a:rPr>
                        <a:t>0.731</a:t>
                      </a:r>
                    </a:p>
                  </a:txBody>
                  <a:tcPr marL="109728" marR="109728" marT="36576" marB="36576" anchor="ctr">
                    <a:solidFill>
                      <a:srgbClr val="EEF4FA"/>
                    </a:solidFill>
                  </a:tcPr>
                </a:tc>
                <a:tc>
                  <a:txBody>
                    <a:bodyPr wrap="square"/>
                    <a:lstStyle/>
                    <a:p>
                      <a:pPr algn="l"/>
                      <a:r>
                        <a:rPr sz="1500" b="0">
                          <a:solidFill>
                            <a:srgbClr val="B23A3A"/>
                          </a:solidFill>
                          <a:latin typeface="Tahoma"/>
                        </a:rPr>
                        <a:t>Descartada</a:t>
                      </a:r>
                    </a:p>
                  </a:txBody>
                  <a:tcPr marL="109728" marR="109728" marT="36576" marB="36576" anchor="ctr">
                    <a:solidFill>
                      <a:srgbClr val="FBE9E7"/>
                    </a:solidFill>
                  </a:tcPr>
                </a:tc>
              </a:tr>
              <a:tr h="548640">
                <a:tc>
                  <a:txBody>
                    <a:bodyPr wrap="square"/>
                    <a:lstStyle/>
                    <a:p>
                      <a:pPr algn="l"/>
                      <a:r>
                        <a:rPr sz="1500" b="0">
                          <a:solidFill>
                            <a:srgbClr val="222222"/>
                          </a:solidFill>
                          <a:latin typeface="Tahoma"/>
                        </a:rPr>
                        <a:t>F · Naive Bayes</a:t>
                      </a:r>
                    </a:p>
                  </a:txBody>
                  <a:tcPr marL="109728" marR="109728" marT="36576" marB="36576" anchor="ctr">
                    <a:solidFill>
                      <a:srgbClr val="FFFFFF"/>
                    </a:solidFill>
                  </a:tcPr>
                </a:tc>
                <a:tc>
                  <a:txBody>
                    <a:bodyPr wrap="square"/>
                    <a:lstStyle/>
                    <a:p>
                      <a:pPr algn="ctr"/>
                      <a:r>
                        <a:rPr sz="1500" b="0">
                          <a:solidFill>
                            <a:srgbClr val="222222"/>
                          </a:solidFill>
                          <a:latin typeface="Tahoma"/>
                        </a:rPr>
                        <a:t>0.631</a:t>
                      </a:r>
                    </a:p>
                  </a:txBody>
                  <a:tcPr marL="109728" marR="109728" marT="36576" marB="36576" anchor="ctr">
                    <a:solidFill>
                      <a:srgbClr val="FFFFFF"/>
                    </a:solidFill>
                  </a:tcPr>
                </a:tc>
                <a:tc>
                  <a:txBody>
                    <a:bodyPr wrap="square"/>
                    <a:lstStyle/>
                    <a:p>
                      <a:pPr algn="l"/>
                      <a:r>
                        <a:rPr sz="1500" b="0">
                          <a:solidFill>
                            <a:srgbClr val="B23A3A"/>
                          </a:solidFill>
                          <a:latin typeface="Tahoma"/>
                        </a:rPr>
                        <a:t>Descartada</a:t>
                      </a:r>
                    </a:p>
                  </a:txBody>
                  <a:tcPr marL="109728" marR="109728" marT="36576" marB="36576" anchor="ctr">
                    <a:solidFill>
                      <a:srgbClr val="FBE9E7"/>
                    </a:solidFill>
                  </a:tcPr>
                </a:tc>
              </a:tr>
              <a:tr h="548640">
                <a:tc>
                  <a:txBody>
                    <a:bodyPr wrap="square"/>
                    <a:lstStyle/>
                    <a:p>
                      <a:pPr algn="l"/>
                      <a:r>
                        <a:rPr sz="1500" b="0">
                          <a:solidFill>
                            <a:srgbClr val="222222"/>
                          </a:solidFill>
                          <a:latin typeface="Tahoma"/>
                        </a:rPr>
                        <a:t>Línea base (siempre la misma clase)</a:t>
                      </a:r>
                    </a:p>
                  </a:txBody>
                  <a:tcPr marL="109728" marR="109728" marT="36576" marB="36576" anchor="ctr">
                    <a:solidFill>
                      <a:srgbClr val="EEF4FA"/>
                    </a:solidFill>
                  </a:tcPr>
                </a:tc>
                <a:tc>
                  <a:txBody>
                    <a:bodyPr wrap="square"/>
                    <a:lstStyle/>
                    <a:p>
                      <a:pPr algn="ctr"/>
                      <a:r>
                        <a:rPr sz="1500" b="0">
                          <a:solidFill>
                            <a:srgbClr val="222222"/>
                          </a:solidFill>
                          <a:latin typeface="Tahoma"/>
                        </a:rPr>
                        <a:t>0.037</a:t>
                      </a:r>
                    </a:p>
                  </a:txBody>
                  <a:tcPr marL="109728" marR="109728" marT="36576" marB="36576" anchor="ctr">
                    <a:solidFill>
                      <a:srgbClr val="EEF4FA"/>
                    </a:solidFill>
                  </a:tcPr>
                </a:tc>
                <a:tc>
                  <a:txBody>
                    <a:bodyPr wrap="square"/>
                    <a:lstStyle/>
                    <a:p>
                      <a:pPr algn="l"/>
                      <a:r>
                        <a:rPr sz="1500" b="0">
                          <a:solidFill>
                            <a:srgbClr val="5A5A5A"/>
                          </a:solidFill>
                          <a:latin typeface="Tahoma"/>
                        </a:rPr>
                        <a:t>Referencia mínima</a:t>
                      </a:r>
                    </a:p>
                  </a:txBody>
                  <a:tcPr marL="109728" marR="109728" marT="36576" marB="36576" anchor="ctr">
                    <a:solidFill>
                      <a:srgbClr val="D5DEE8"/>
                    </a:solidFill>
                  </a:tcPr>
                </a:tc>
              </a:tr>
            </a:tbl>
          </a:graphicData>
        </a:graphic>
      </p:graphicFrame>
      <p:sp>
        <p:nvSpPr>
          <p:cNvPr id="4" name="TextBox 3"/>
          <p:cNvSpPr txBox="1"/>
          <p:nvPr/>
        </p:nvSpPr>
        <p:spPr>
          <a:xfrm>
            <a:off x="548640" y="6126480"/>
            <a:ext cx="11109960" cy="365760"/>
          </a:xfrm>
          <a:prstGeom prst="rect">
            <a:avLst/>
          </a:prstGeom>
          <a:noFill/>
        </p:spPr>
        <p:txBody>
          <a:bodyPr wrap="square" lIns="0" rIns="0" tIns="0" bIns="0" anchor="ctr">
            <a:spAutoFit/>
          </a:bodyPr>
          <a:lstStyle/>
          <a:p>
            <a:pPr algn="l"/>
            <a:r>
              <a:rPr sz="1200" b="0" i="1">
                <a:solidFill>
                  <a:srgbClr val="5A5A5A"/>
                </a:solidFill>
                <a:latin typeface="Tahoma"/>
              </a:rPr>
              <a:t>Todas las configuraciones se compararon con validación cruzada y la misma medida (F1 macro).</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Métricas del modelo</a:t>
            </a:r>
          </a:p>
        </p:txBody>
      </p:sp>
      <p:graphicFrame>
        <p:nvGraphicFramePr>
          <p:cNvPr id="3" name="Table 2"/>
          <p:cNvGraphicFramePr>
            <a:graphicFrameLocks noGrp="1"/>
          </p:cNvGraphicFramePr>
          <p:nvPr/>
        </p:nvGraphicFramePr>
        <p:xfrm>
          <a:off x="548640" y="1600200"/>
          <a:ext cx="5852160" cy="3246120"/>
        </p:xfrm>
        <a:graphic>
          <a:graphicData uri="http://schemas.openxmlformats.org/drawingml/2006/table">
            <a:tbl>
              <a:tblPr firstRow="0" bandRow="0">
                <a:tableStyleId>{5C22544A-7EE6-4342-B048-85BDC9FD1C3A}</a:tableStyleId>
              </a:tblPr>
              <a:tblGrid>
                <a:gridCol w="1737360"/>
                <a:gridCol w="2377440"/>
                <a:gridCol w="1737360"/>
              </a:tblGrid>
              <a:tr h="731520">
                <a:tc>
                  <a:txBody>
                    <a:bodyPr wrap="square"/>
                    <a:lstStyle/>
                    <a:p>
                      <a:pPr algn="l"/>
                      <a:r>
                        <a:rPr sz="1400" b="1">
                          <a:solidFill>
                            <a:srgbClr val="FFFFFF"/>
                          </a:solidFill>
                          <a:latin typeface="Tahoma"/>
                        </a:rPr>
                        <a:t>Métrica</a:t>
                      </a:r>
                    </a:p>
                  </a:txBody>
                  <a:tcPr marL="109728" marR="109728" marT="36576" marB="36576" anchor="ctr">
                    <a:solidFill>
                      <a:srgbClr val="0E4C7C"/>
                    </a:solidFill>
                  </a:tcPr>
                </a:tc>
                <a:tc>
                  <a:txBody>
                    <a:bodyPr wrap="square"/>
                    <a:lstStyle/>
                    <a:p>
                      <a:pPr algn="ctr"/>
                      <a:r>
                        <a:rPr sz="1400" b="1">
                          <a:solidFill>
                            <a:srgbClr val="FFFFFF"/>
                          </a:solidFill>
                          <a:latin typeface="Tahoma"/>
                        </a:rPr>
                        <a:t>Validación cruzada
(374 frases)</a:t>
                      </a:r>
                    </a:p>
                  </a:txBody>
                  <a:tcPr marL="109728" marR="109728" marT="36576" marB="36576" anchor="ctr">
                    <a:solidFill>
                      <a:srgbClr val="0E4C7C"/>
                    </a:solidFill>
                  </a:tcPr>
                </a:tc>
                <a:tc>
                  <a:txBody>
                    <a:bodyPr wrap="square"/>
                    <a:lstStyle/>
                    <a:p>
                      <a:pPr algn="ctr"/>
                      <a:r>
                        <a:rPr sz="1400" b="1">
                          <a:solidFill>
                            <a:srgbClr val="FFFFFF"/>
                          </a:solidFill>
                          <a:latin typeface="Tahoma"/>
                        </a:rPr>
                        <a:t>Holdout
(27 frases)</a:t>
                      </a:r>
                    </a:p>
                  </a:txBody>
                  <a:tcPr marL="109728" marR="109728" marT="36576" marB="36576" anchor="ctr">
                    <a:solidFill>
                      <a:srgbClr val="0E4C7C"/>
                    </a:solidFill>
                  </a:tcPr>
                </a:tc>
              </a:tr>
              <a:tr h="502920">
                <a:tc>
                  <a:txBody>
                    <a:bodyPr wrap="square"/>
                    <a:lstStyle/>
                    <a:p>
                      <a:pPr algn="l"/>
                      <a:r>
                        <a:rPr sz="1400" b="1">
                          <a:solidFill>
                            <a:srgbClr val="222222"/>
                          </a:solidFill>
                          <a:latin typeface="Tahoma"/>
                        </a:rPr>
                        <a:t>Accuracy</a:t>
                      </a:r>
                    </a:p>
                  </a:txBody>
                  <a:tcPr marL="109728" marR="109728" marT="36576" marB="36576" anchor="ctr">
                    <a:solidFill>
                      <a:srgbClr val="EEF4FA"/>
                    </a:solidFill>
                  </a:tcPr>
                </a:tc>
                <a:tc>
                  <a:txBody>
                    <a:bodyPr wrap="square"/>
                    <a:lstStyle/>
                    <a:p>
                      <a:pPr algn="ctr"/>
                      <a:r>
                        <a:rPr sz="1400" b="0">
                          <a:solidFill>
                            <a:srgbClr val="222222"/>
                          </a:solidFill>
                          <a:latin typeface="Tahoma"/>
                        </a:rPr>
                        <a:t>0.807</a:t>
                      </a:r>
                    </a:p>
                  </a:txBody>
                  <a:tcPr marL="109728" marR="109728" marT="36576" marB="36576" anchor="ctr">
                    <a:solidFill>
                      <a:srgbClr val="EEF4FA"/>
                    </a:solidFill>
                  </a:tcPr>
                </a:tc>
                <a:tc>
                  <a:txBody>
                    <a:bodyPr wrap="square"/>
                    <a:lstStyle/>
                    <a:p>
                      <a:pPr algn="ctr"/>
                      <a:r>
                        <a:rPr sz="1400" b="0">
                          <a:solidFill>
                            <a:srgbClr val="222222"/>
                          </a:solidFill>
                          <a:latin typeface="Tahoma"/>
                        </a:rPr>
                        <a:t>0.926</a:t>
                      </a:r>
                    </a:p>
                  </a:txBody>
                  <a:tcPr marL="109728" marR="109728" marT="36576" marB="36576" anchor="ctr">
                    <a:solidFill>
                      <a:srgbClr val="EEF4FA"/>
                    </a:solidFill>
                  </a:tcPr>
                </a:tc>
              </a:tr>
              <a:tr h="502920">
                <a:tc>
                  <a:txBody>
                    <a:bodyPr wrap="square"/>
                    <a:lstStyle/>
                    <a:p>
                      <a:pPr algn="l"/>
                      <a:r>
                        <a:rPr sz="1400" b="1">
                          <a:solidFill>
                            <a:srgbClr val="222222"/>
                          </a:solidFill>
                          <a:latin typeface="Tahoma"/>
                        </a:rPr>
                        <a:t>Precision macro</a:t>
                      </a:r>
                    </a:p>
                  </a:txBody>
                  <a:tcPr marL="109728" marR="109728" marT="36576" marB="36576" anchor="ctr">
                    <a:solidFill>
                      <a:srgbClr val="FFFFFF"/>
                    </a:solidFill>
                  </a:tcPr>
                </a:tc>
                <a:tc>
                  <a:txBody>
                    <a:bodyPr wrap="square"/>
                    <a:lstStyle/>
                    <a:p>
                      <a:pPr algn="ctr"/>
                      <a:r>
                        <a:rPr sz="1400" b="0">
                          <a:solidFill>
                            <a:srgbClr val="222222"/>
                          </a:solidFill>
                          <a:latin typeface="Tahoma"/>
                        </a:rPr>
                        <a:t>0.813</a:t>
                      </a:r>
                    </a:p>
                  </a:txBody>
                  <a:tcPr marL="109728" marR="109728" marT="36576" marB="36576" anchor="ctr">
                    <a:solidFill>
                      <a:srgbClr val="FFFFFF"/>
                    </a:solidFill>
                  </a:tcPr>
                </a:tc>
                <a:tc>
                  <a:txBody>
                    <a:bodyPr wrap="square"/>
                    <a:lstStyle/>
                    <a:p>
                      <a:pPr algn="ctr"/>
                      <a:r>
                        <a:rPr sz="1400" b="0">
                          <a:solidFill>
                            <a:srgbClr val="222222"/>
                          </a:solidFill>
                          <a:latin typeface="Tahoma"/>
                        </a:rPr>
                        <a:t>0.936</a:t>
                      </a:r>
                    </a:p>
                  </a:txBody>
                  <a:tcPr marL="109728" marR="109728" marT="36576" marB="36576" anchor="ctr">
                    <a:solidFill>
                      <a:srgbClr val="FFFFFF"/>
                    </a:solidFill>
                  </a:tcPr>
                </a:tc>
              </a:tr>
              <a:tr h="502920">
                <a:tc>
                  <a:txBody>
                    <a:bodyPr wrap="square"/>
                    <a:lstStyle/>
                    <a:p>
                      <a:pPr algn="l"/>
                      <a:r>
                        <a:rPr sz="1400" b="1">
                          <a:solidFill>
                            <a:srgbClr val="222222"/>
                          </a:solidFill>
                          <a:latin typeface="Tahoma"/>
                        </a:rPr>
                        <a:t>Recall macro</a:t>
                      </a:r>
                    </a:p>
                  </a:txBody>
                  <a:tcPr marL="109728" marR="109728" marT="36576" marB="36576" anchor="ctr">
                    <a:solidFill>
                      <a:srgbClr val="EEF4FA"/>
                    </a:solidFill>
                  </a:tcPr>
                </a:tc>
                <a:tc>
                  <a:txBody>
                    <a:bodyPr wrap="square"/>
                    <a:lstStyle/>
                    <a:p>
                      <a:pPr algn="ctr"/>
                      <a:r>
                        <a:rPr sz="1400" b="0">
                          <a:solidFill>
                            <a:srgbClr val="222222"/>
                          </a:solidFill>
                          <a:latin typeface="Tahoma"/>
                        </a:rPr>
                        <a:t>0.807</a:t>
                      </a:r>
                    </a:p>
                  </a:txBody>
                  <a:tcPr marL="109728" marR="109728" marT="36576" marB="36576" anchor="ctr">
                    <a:solidFill>
                      <a:srgbClr val="EEF4FA"/>
                    </a:solidFill>
                  </a:tcPr>
                </a:tc>
                <a:tc>
                  <a:txBody>
                    <a:bodyPr wrap="square"/>
                    <a:lstStyle/>
                    <a:p>
                      <a:pPr algn="ctr"/>
                      <a:r>
                        <a:rPr sz="1400" b="0">
                          <a:solidFill>
                            <a:srgbClr val="222222"/>
                          </a:solidFill>
                          <a:latin typeface="Tahoma"/>
                        </a:rPr>
                        <a:t>0.929</a:t>
                      </a:r>
                    </a:p>
                  </a:txBody>
                  <a:tcPr marL="109728" marR="109728" marT="36576" marB="36576" anchor="ctr">
                    <a:solidFill>
                      <a:srgbClr val="EEF4FA"/>
                    </a:solidFill>
                  </a:tcPr>
                </a:tc>
              </a:tr>
              <a:tr h="502920">
                <a:tc>
                  <a:txBody>
                    <a:bodyPr wrap="square"/>
                    <a:lstStyle/>
                    <a:p>
                      <a:pPr algn="l"/>
                      <a:r>
                        <a:rPr sz="1400" b="1">
                          <a:solidFill>
                            <a:srgbClr val="222222"/>
                          </a:solidFill>
                          <a:latin typeface="Tahoma"/>
                        </a:rPr>
                        <a:t>F1 macro</a:t>
                      </a:r>
                    </a:p>
                  </a:txBody>
                  <a:tcPr marL="109728" marR="109728" marT="36576" marB="36576" anchor="ctr">
                    <a:solidFill>
                      <a:srgbClr val="FFFFFF"/>
                    </a:solidFill>
                  </a:tcPr>
                </a:tc>
                <a:tc>
                  <a:txBody>
                    <a:bodyPr wrap="square"/>
                    <a:lstStyle/>
                    <a:p>
                      <a:pPr algn="ctr"/>
                      <a:r>
                        <a:rPr sz="1400" b="0">
                          <a:solidFill>
                            <a:srgbClr val="222222"/>
                          </a:solidFill>
                          <a:latin typeface="Tahoma"/>
                        </a:rPr>
                        <a:t>0.809</a:t>
                      </a:r>
                    </a:p>
                  </a:txBody>
                  <a:tcPr marL="109728" marR="109728" marT="36576" marB="36576" anchor="ctr">
                    <a:solidFill>
                      <a:srgbClr val="FFFFFF"/>
                    </a:solidFill>
                  </a:tcPr>
                </a:tc>
                <a:tc>
                  <a:txBody>
                    <a:bodyPr wrap="square"/>
                    <a:lstStyle/>
                    <a:p>
                      <a:pPr algn="ctr"/>
                      <a:r>
                        <a:rPr sz="1400" b="0">
                          <a:solidFill>
                            <a:srgbClr val="222222"/>
                          </a:solidFill>
                          <a:latin typeface="Tahoma"/>
                        </a:rPr>
                        <a:t>0.923</a:t>
                      </a:r>
                    </a:p>
                  </a:txBody>
                  <a:tcPr marL="109728" marR="109728" marT="36576" marB="36576" anchor="ctr">
                    <a:solidFill>
                      <a:srgbClr val="FFFFFF"/>
                    </a:solidFill>
                  </a:tcPr>
                </a:tc>
              </a:tr>
              <a:tr h="502920">
                <a:tc>
                  <a:txBody>
                    <a:bodyPr wrap="square"/>
                    <a:lstStyle/>
                    <a:p>
                      <a:pPr algn="l"/>
                      <a:r>
                        <a:rPr sz="1400" b="1">
                          <a:solidFill>
                            <a:srgbClr val="222222"/>
                          </a:solidFill>
                          <a:latin typeface="Tahoma"/>
                        </a:rPr>
                        <a:t>Aciertos</a:t>
                      </a:r>
                    </a:p>
                  </a:txBody>
                  <a:tcPr marL="109728" marR="109728" marT="36576" marB="36576" anchor="ctr">
                    <a:solidFill>
                      <a:srgbClr val="EEF4FA"/>
                    </a:solidFill>
                  </a:tcPr>
                </a:tc>
                <a:tc>
                  <a:txBody>
                    <a:bodyPr wrap="square"/>
                    <a:lstStyle/>
                    <a:p>
                      <a:pPr algn="ctr"/>
                      <a:r>
                        <a:rPr sz="1400" b="0">
                          <a:solidFill>
                            <a:srgbClr val="222222"/>
                          </a:solidFill>
                          <a:latin typeface="Tahoma"/>
                        </a:rPr>
                        <a:t>302 de 374</a:t>
                      </a:r>
                    </a:p>
                  </a:txBody>
                  <a:tcPr marL="109728" marR="109728" marT="36576" marB="36576" anchor="ctr">
                    <a:solidFill>
                      <a:srgbClr val="EEF4FA"/>
                    </a:solidFill>
                  </a:tcPr>
                </a:tc>
                <a:tc>
                  <a:txBody>
                    <a:bodyPr wrap="square"/>
                    <a:lstStyle/>
                    <a:p>
                      <a:pPr algn="ctr"/>
                      <a:r>
                        <a:rPr sz="1400" b="0">
                          <a:solidFill>
                            <a:srgbClr val="222222"/>
                          </a:solidFill>
                          <a:latin typeface="Tahoma"/>
                        </a:rPr>
                        <a:t>25 de 27</a:t>
                      </a:r>
                    </a:p>
                  </a:txBody>
                  <a:tcPr marL="109728" marR="109728" marT="36576" marB="36576" anchor="ctr">
                    <a:solidFill>
                      <a:srgbClr val="EEF4FA"/>
                    </a:solidFill>
                  </a:tcPr>
                </a:tc>
              </a:tr>
            </a:tbl>
          </a:graphicData>
        </a:graphic>
      </p:graphicFrame>
      <p:graphicFrame>
        <p:nvGraphicFramePr>
          <p:cNvPr id="4" name="Chart 3"/>
          <p:cNvGraphicFramePr>
            <a:graphicFrameLocks noGrp="1"/>
          </p:cNvGraphicFramePr>
          <p:nvPr/>
        </p:nvGraphicFramePr>
        <p:xfrm>
          <a:off x="6675120" y="1508760"/>
          <a:ext cx="5029200" cy="3200400"/>
        </p:xfrm>
        <a:graphic>
          <a:graphicData uri="http://schemas.openxmlformats.org/drawingml/2006/chart">
            <c:chart xmlns:c="http://schemas.openxmlformats.org/drawingml/2006/chart" r:id="rId4"/>
          </a:graphicData>
        </a:graphic>
      </p:graphicFrame>
      <p:sp>
        <p:nvSpPr>
          <p:cNvPr id="5" name="Rounded Rectangle 4"/>
          <p:cNvSpPr/>
          <p:nvPr/>
        </p:nvSpPr>
        <p:spPr>
          <a:xfrm>
            <a:off x="548640" y="4892040"/>
            <a:ext cx="5852160" cy="146304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22959" y="5001768"/>
            <a:ext cx="5303520" cy="1243584"/>
          </a:xfrm>
          <a:prstGeom prst="rect">
            <a:avLst/>
          </a:prstGeom>
          <a:noFill/>
        </p:spPr>
        <p:txBody>
          <a:bodyPr wrap="square" lIns="0" rIns="0" tIns="0" bIns="0" anchor="ctr">
            <a:spAutoFit/>
          </a:bodyPr>
          <a:lstStyle/>
          <a:p>
            <a:pPr algn="l">
              <a:spcAft>
                <a:spcPts val="400"/>
              </a:spcAft>
            </a:pPr>
            <a:r>
              <a:rPr sz="1400" b="1" i="0">
                <a:solidFill>
                  <a:srgbClr val="0E4C7C"/>
                </a:solidFill>
                <a:latin typeface="Tahoma"/>
              </a:rPr>
              <a:t>Por intención (validación cruzada)</a:t>
            </a:r>
          </a:p>
          <a:p>
            <a:pPr algn="l">
              <a:spcAft>
                <a:spcPts val="400"/>
              </a:spcAft>
            </a:pPr>
            <a:r>
              <a:rPr sz="1300" b="0" i="0">
                <a:solidFill>
                  <a:srgbClr val="222222"/>
                </a:solidFill>
                <a:latin typeface="Tahoma"/>
              </a:rPr>
              <a:t>La más débil es fuera_de_dominio (F1 0.648).</a:t>
            </a:r>
          </a:p>
          <a:p>
            <a:pPr algn="l">
              <a:spcAft>
                <a:spcPts val="400"/>
              </a:spcAft>
            </a:pPr>
            <a:r>
              <a:rPr sz="1300" b="0" i="0">
                <a:solidFill>
                  <a:srgbClr val="222222"/>
                </a:solidFill>
                <a:latin typeface="Tahoma"/>
              </a:rPr>
              <a:t>recomendar_sustituto: precision 0.900 y recall 0.804.</a:t>
            </a:r>
          </a:p>
        </p:txBody>
      </p:sp>
      <p:sp>
        <p:nvSpPr>
          <p:cNvPr id="7" name="Rounded Rectangle 6"/>
          <p:cNvSpPr/>
          <p:nvPr/>
        </p:nvSpPr>
        <p:spPr>
          <a:xfrm>
            <a:off x="6675120" y="4892040"/>
            <a:ext cx="4983480" cy="146304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6949440" y="5001768"/>
            <a:ext cx="4434840" cy="1243584"/>
          </a:xfrm>
          <a:prstGeom prst="rect">
            <a:avLst/>
          </a:prstGeom>
          <a:noFill/>
        </p:spPr>
        <p:txBody>
          <a:bodyPr wrap="square" lIns="0" rIns="0" tIns="0" bIns="0" anchor="ctr">
            <a:spAutoFit/>
          </a:bodyPr>
          <a:lstStyle/>
          <a:p>
            <a:pPr algn="l">
              <a:spcAft>
                <a:spcPts val="400"/>
              </a:spcAft>
            </a:pPr>
            <a:r>
              <a:rPr sz="1400" b="1" i="0">
                <a:solidFill>
                  <a:srgbClr val="9A5400"/>
                </a:solidFill>
                <a:latin typeface="Tahoma"/>
              </a:rPr>
              <a:t>Ojo con el holdout</a:t>
            </a:r>
          </a:p>
          <a:p>
            <a:pPr algn="l">
              <a:spcAft>
                <a:spcPts val="400"/>
              </a:spcAft>
            </a:pPr>
            <a:r>
              <a:rPr sz="1300" b="0" i="0">
                <a:solidFill>
                  <a:srgbClr val="222222"/>
                </a:solidFill>
                <a:latin typeface="Tahoma"/>
              </a:rPr>
              <a:t>Sale más alto porque el dataset se amplió con palabras de sus errores. La cifra más confiable es la de validación cruzada.</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Matriz de confusión</a:t>
            </a:r>
          </a:p>
        </p:txBody>
      </p:sp>
      <p:sp>
        <p:nvSpPr>
          <p:cNvPr id="3" name="TextBox 2"/>
          <p:cNvSpPr txBox="1"/>
          <p:nvPr/>
        </p:nvSpPr>
        <p:spPr>
          <a:xfrm>
            <a:off x="548640" y="1508760"/>
            <a:ext cx="5943600" cy="365760"/>
          </a:xfrm>
          <a:prstGeom prst="rect">
            <a:avLst/>
          </a:prstGeom>
          <a:noFill/>
        </p:spPr>
        <p:txBody>
          <a:bodyPr wrap="square" lIns="0" rIns="0" tIns="0" bIns="0" anchor="t">
            <a:spAutoFit/>
          </a:bodyPr>
          <a:lstStyle/>
          <a:p>
            <a:pPr algn="l"/>
            <a:r>
              <a:rPr sz="1700" b="1" i="0">
                <a:solidFill>
                  <a:srgbClr val="0E4C7C"/>
                </a:solidFill>
                <a:latin typeface="Tahoma"/>
              </a:rPr>
              <a:t>Confusiones más frecuentes</a:t>
            </a:r>
          </a:p>
        </p:txBody>
      </p:sp>
      <p:graphicFrame>
        <p:nvGraphicFramePr>
          <p:cNvPr id="4" name="Table 3"/>
          <p:cNvGraphicFramePr>
            <a:graphicFrameLocks noGrp="1"/>
          </p:cNvGraphicFramePr>
          <p:nvPr/>
        </p:nvGraphicFramePr>
        <p:xfrm>
          <a:off x="548640" y="1965960"/>
          <a:ext cx="6400800" cy="2194560"/>
        </p:xfrm>
        <a:graphic>
          <a:graphicData uri="http://schemas.openxmlformats.org/drawingml/2006/table">
            <a:tbl>
              <a:tblPr firstRow="0" bandRow="0">
                <a:tableStyleId>{5C22544A-7EE6-4342-B048-85BDC9FD1C3A}</a:tableStyleId>
              </a:tblPr>
              <a:tblGrid>
                <a:gridCol w="2560320"/>
                <a:gridCol w="2651760"/>
                <a:gridCol w="1188720"/>
              </a:tblGrid>
              <a:tr h="548640">
                <a:tc>
                  <a:txBody>
                    <a:bodyPr wrap="square"/>
                    <a:lstStyle/>
                    <a:p>
                      <a:pPr algn="l"/>
                      <a:r>
                        <a:rPr sz="1400" b="1">
                          <a:solidFill>
                            <a:srgbClr val="FFFFFF"/>
                          </a:solidFill>
                          <a:latin typeface="Tahoma"/>
                        </a:rPr>
                        <a:t>Clase real</a:t>
                      </a:r>
                    </a:p>
                  </a:txBody>
                  <a:tcPr marL="109728" marR="109728" marT="36576" marB="36576" anchor="ctr">
                    <a:solidFill>
                      <a:srgbClr val="0E4C7C"/>
                    </a:solidFill>
                  </a:tcPr>
                </a:tc>
                <a:tc>
                  <a:txBody>
                    <a:bodyPr wrap="square"/>
                    <a:lstStyle/>
                    <a:p>
                      <a:pPr algn="l"/>
                      <a:r>
                        <a:rPr sz="1400" b="1">
                          <a:solidFill>
                            <a:srgbClr val="FFFFFF"/>
                          </a:solidFill>
                          <a:latin typeface="Tahoma"/>
                        </a:rPr>
                        <a:t>Predicha como</a:t>
                      </a:r>
                    </a:p>
                  </a:txBody>
                  <a:tcPr marL="109728" marR="109728" marT="36576" marB="36576" anchor="ctr">
                    <a:solidFill>
                      <a:srgbClr val="0E4C7C"/>
                    </a:solidFill>
                  </a:tcPr>
                </a:tc>
                <a:tc>
                  <a:txBody>
                    <a:bodyPr wrap="square"/>
                    <a:lstStyle/>
                    <a:p>
                      <a:pPr algn="ctr"/>
                      <a:r>
                        <a:rPr sz="1400" b="1">
                          <a:solidFill>
                            <a:srgbClr val="FFFFFF"/>
                          </a:solidFill>
                          <a:latin typeface="Tahoma"/>
                        </a:rPr>
                        <a:t>Veces</a:t>
                      </a:r>
                    </a:p>
                  </a:txBody>
                  <a:tcPr marL="109728" marR="109728" marT="36576" marB="36576" anchor="ctr">
                    <a:solidFill>
                      <a:srgbClr val="0E4C7C"/>
                    </a:solidFill>
                  </a:tcPr>
                </a:tc>
              </a:tr>
              <a:tr h="548640">
                <a:tc>
                  <a:txBody>
                    <a:bodyPr wrap="square"/>
                    <a:lstStyle/>
                    <a:p>
                      <a:pPr algn="l"/>
                      <a:r>
                        <a:rPr sz="1400" b="0">
                          <a:solidFill>
                            <a:srgbClr val="222222"/>
                          </a:solidFill>
                          <a:latin typeface="Tahoma"/>
                        </a:rPr>
                        <a:t>fuera_de_dominio</a:t>
                      </a:r>
                    </a:p>
                  </a:txBody>
                  <a:tcPr marL="109728" marR="109728" marT="36576" marB="36576" anchor="ctr">
                    <a:solidFill>
                      <a:srgbClr val="EEF4FA"/>
                    </a:solidFill>
                  </a:tcPr>
                </a:tc>
                <a:tc>
                  <a:txBody>
                    <a:bodyPr wrap="square"/>
                    <a:lstStyle/>
                    <a:p>
                      <a:pPr algn="l"/>
                      <a:r>
                        <a:rPr sz="1400" b="0">
                          <a:solidFill>
                            <a:srgbClr val="222222"/>
                          </a:solidFill>
                          <a:latin typeface="Tahoma"/>
                        </a:rPr>
                        <a:t>saludo_despedida</a:t>
                      </a:r>
                    </a:p>
                  </a:txBody>
                  <a:tcPr marL="109728" marR="109728" marT="36576" marB="36576" anchor="ctr">
                    <a:solidFill>
                      <a:srgbClr val="EEF4FA"/>
                    </a:solidFill>
                  </a:tcPr>
                </a:tc>
                <a:tc>
                  <a:txBody>
                    <a:bodyPr wrap="square"/>
                    <a:lstStyle/>
                    <a:p>
                      <a:pPr algn="ctr"/>
                      <a:r>
                        <a:rPr sz="1400" b="1">
                          <a:solidFill>
                            <a:srgbClr val="222222"/>
                          </a:solidFill>
                          <a:latin typeface="Tahoma"/>
                        </a:rPr>
                        <a:t>7</a:t>
                      </a:r>
                    </a:p>
                  </a:txBody>
                  <a:tcPr marL="109728" marR="109728" marT="36576" marB="36576" anchor="ctr">
                    <a:solidFill>
                      <a:srgbClr val="EEF4FA"/>
                    </a:solidFill>
                  </a:tcPr>
                </a:tc>
              </a:tr>
              <a:tr h="548640">
                <a:tc>
                  <a:txBody>
                    <a:bodyPr wrap="square"/>
                    <a:lstStyle/>
                    <a:p>
                      <a:pPr algn="l"/>
                      <a:r>
                        <a:rPr sz="1400" b="0">
                          <a:solidFill>
                            <a:srgbClr val="222222"/>
                          </a:solidFill>
                          <a:latin typeface="Tahoma"/>
                        </a:rPr>
                        <a:t>saludo_despedida</a:t>
                      </a:r>
                    </a:p>
                  </a:txBody>
                  <a:tcPr marL="109728" marR="109728" marT="36576" marB="36576" anchor="ctr">
                    <a:solidFill>
                      <a:srgbClr val="FFFFFF"/>
                    </a:solidFill>
                  </a:tcPr>
                </a:tc>
                <a:tc>
                  <a:txBody>
                    <a:bodyPr wrap="square"/>
                    <a:lstStyle/>
                    <a:p>
                      <a:pPr algn="l"/>
                      <a:r>
                        <a:rPr sz="1400" b="0">
                          <a:solidFill>
                            <a:srgbClr val="222222"/>
                          </a:solidFill>
                          <a:latin typeface="Tahoma"/>
                        </a:rPr>
                        <a:t>fuera_de_dominio</a:t>
                      </a:r>
                    </a:p>
                  </a:txBody>
                  <a:tcPr marL="109728" marR="109728" marT="36576" marB="36576" anchor="ctr">
                    <a:solidFill>
                      <a:srgbClr val="FFFFFF"/>
                    </a:solidFill>
                  </a:tcPr>
                </a:tc>
                <a:tc>
                  <a:txBody>
                    <a:bodyPr wrap="square"/>
                    <a:lstStyle/>
                    <a:p>
                      <a:pPr algn="ctr"/>
                      <a:r>
                        <a:rPr sz="1400" b="1">
                          <a:solidFill>
                            <a:srgbClr val="222222"/>
                          </a:solidFill>
                          <a:latin typeface="Tahoma"/>
                        </a:rPr>
                        <a:t>6</a:t>
                      </a:r>
                    </a:p>
                  </a:txBody>
                  <a:tcPr marL="109728" marR="109728" marT="36576" marB="36576" anchor="ctr">
                    <a:solidFill>
                      <a:srgbClr val="FFFFFF"/>
                    </a:solidFill>
                  </a:tcPr>
                </a:tc>
              </a:tr>
              <a:tr h="548640">
                <a:tc>
                  <a:txBody>
                    <a:bodyPr wrap="square"/>
                    <a:lstStyle/>
                    <a:p>
                      <a:pPr algn="l"/>
                      <a:r>
                        <a:rPr sz="1400" b="0">
                          <a:solidFill>
                            <a:srgbClr val="222222"/>
                          </a:solidFill>
                          <a:latin typeface="Tahoma"/>
                        </a:rPr>
                        <a:t>consultar_precio</a:t>
                      </a:r>
                    </a:p>
                  </a:txBody>
                  <a:tcPr marL="109728" marR="109728" marT="36576" marB="36576" anchor="ctr">
                    <a:solidFill>
                      <a:srgbClr val="EEF4FA"/>
                    </a:solidFill>
                  </a:tcPr>
                </a:tc>
                <a:tc>
                  <a:txBody>
                    <a:bodyPr wrap="square"/>
                    <a:lstStyle/>
                    <a:p>
                      <a:pPr algn="l"/>
                      <a:r>
                        <a:rPr sz="1400" b="0">
                          <a:solidFill>
                            <a:srgbClr val="222222"/>
                          </a:solidFill>
                          <a:latin typeface="Tahoma"/>
                        </a:rPr>
                        <a:t>buscar_repuesto</a:t>
                      </a:r>
                    </a:p>
                  </a:txBody>
                  <a:tcPr marL="109728" marR="109728" marT="36576" marB="36576" anchor="ctr">
                    <a:solidFill>
                      <a:srgbClr val="EEF4FA"/>
                    </a:solidFill>
                  </a:tcPr>
                </a:tc>
                <a:tc>
                  <a:txBody>
                    <a:bodyPr wrap="square"/>
                    <a:lstStyle/>
                    <a:p>
                      <a:pPr algn="ctr"/>
                      <a:r>
                        <a:rPr sz="1400" b="1">
                          <a:solidFill>
                            <a:srgbClr val="222222"/>
                          </a:solidFill>
                          <a:latin typeface="Tahoma"/>
                        </a:rPr>
                        <a:t>6</a:t>
                      </a:r>
                    </a:p>
                  </a:txBody>
                  <a:tcPr marL="109728" marR="109728" marT="36576" marB="36576" anchor="ctr">
                    <a:solidFill>
                      <a:srgbClr val="EEF4FA"/>
                    </a:solidFill>
                  </a:tcPr>
                </a:tc>
              </a:tr>
            </a:tbl>
          </a:graphicData>
        </a:graphic>
      </p:graphicFrame>
      <p:sp>
        <p:nvSpPr>
          <p:cNvPr id="5" name="Rounded Rectangle 4"/>
          <p:cNvSpPr/>
          <p:nvPr/>
        </p:nvSpPr>
        <p:spPr>
          <a:xfrm>
            <a:off x="548640" y="4434840"/>
            <a:ext cx="6400800" cy="192024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777240" y="4526280"/>
            <a:ext cx="2377440" cy="1737360"/>
          </a:xfrm>
          <a:prstGeom prst="rect">
            <a:avLst/>
          </a:prstGeom>
          <a:noFill/>
        </p:spPr>
        <p:txBody>
          <a:bodyPr wrap="square" lIns="0" rIns="0" tIns="0" bIns="0" anchor="ctr">
            <a:spAutoFit/>
          </a:bodyPr>
          <a:lstStyle/>
          <a:p>
            <a:pPr algn="ctr"/>
            <a:r>
              <a:rPr sz="3400" b="1" i="0">
                <a:solidFill>
                  <a:srgbClr val="E8890C"/>
                </a:solidFill>
                <a:latin typeface="Tahoma"/>
              </a:rPr>
              <a:t>65 vs 56</a:t>
            </a:r>
          </a:p>
        </p:txBody>
      </p:sp>
      <p:sp>
        <p:nvSpPr>
          <p:cNvPr id="7" name="TextBox 6"/>
          <p:cNvSpPr txBox="1"/>
          <p:nvPr/>
        </p:nvSpPr>
        <p:spPr>
          <a:xfrm>
            <a:off x="3200400" y="4526280"/>
            <a:ext cx="3611880" cy="1737360"/>
          </a:xfrm>
          <a:prstGeom prst="rect">
            <a:avLst/>
          </a:prstGeom>
          <a:noFill/>
        </p:spPr>
        <p:txBody>
          <a:bodyPr wrap="square" lIns="0" rIns="0" tIns="0" bIns="0" anchor="ctr">
            <a:spAutoFit/>
          </a:bodyPr>
          <a:lstStyle/>
          <a:p>
            <a:pPr algn="l">
              <a:spcAft>
                <a:spcPts val="400"/>
              </a:spcAft>
            </a:pPr>
            <a:r>
              <a:rPr sz="1500" b="1" i="0">
                <a:solidFill>
                  <a:srgbClr val="9A5400"/>
                </a:solidFill>
                <a:latin typeface="Tahoma"/>
              </a:rPr>
              <a:t>buscar_repuesto es un «cajón»</a:t>
            </a:r>
          </a:p>
          <a:p>
            <a:pPr algn="l">
              <a:spcAft>
                <a:spcPts val="400"/>
              </a:spcAft>
            </a:pPr>
            <a:r>
              <a:rPr sz="1300" b="0" i="0">
                <a:solidFill>
                  <a:srgbClr val="222222"/>
                </a:solidFill>
                <a:latin typeface="Tahoma"/>
              </a:rPr>
              <a:t>Se predice 65 veces cuando hay 56 frases de esa clase: allí caen otras consultas.</a:t>
            </a:r>
          </a:p>
        </p:txBody>
      </p:sp>
      <p:sp>
        <p:nvSpPr>
          <p:cNvPr id="8" name="Rounded Rectangle 7"/>
          <p:cNvSpPr/>
          <p:nvPr/>
        </p:nvSpPr>
        <p:spPr>
          <a:xfrm>
            <a:off x="7315200" y="1508760"/>
            <a:ext cx="4343400" cy="48463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7589520" y="1645920"/>
            <a:ext cx="3840480" cy="365760"/>
          </a:xfrm>
          <a:prstGeom prst="rect">
            <a:avLst/>
          </a:prstGeom>
          <a:noFill/>
        </p:spPr>
        <p:txBody>
          <a:bodyPr wrap="square" lIns="0" rIns="0" tIns="0" bIns="0" anchor="t">
            <a:spAutoFit/>
          </a:bodyPr>
          <a:lstStyle/>
          <a:p>
            <a:pPr algn="l"/>
            <a:r>
              <a:rPr sz="1700" b="1" i="0">
                <a:solidFill>
                  <a:srgbClr val="0E4C7C"/>
                </a:solidFill>
                <a:latin typeface="Tahoma"/>
              </a:rPr>
              <a:t>Confianza media del modelo</a:t>
            </a:r>
          </a:p>
        </p:txBody>
      </p:sp>
      <p:sp>
        <p:nvSpPr>
          <p:cNvPr id="10" name="TextBox 9"/>
          <p:cNvSpPr txBox="1"/>
          <p:nvPr/>
        </p:nvSpPr>
        <p:spPr>
          <a:xfrm>
            <a:off x="7589520" y="2331720"/>
            <a:ext cx="3840480" cy="320040"/>
          </a:xfrm>
          <a:prstGeom prst="rect">
            <a:avLst/>
          </a:prstGeom>
          <a:noFill/>
        </p:spPr>
        <p:txBody>
          <a:bodyPr wrap="square" lIns="0" rIns="0" tIns="0" bIns="0" anchor="t">
            <a:spAutoFit/>
          </a:bodyPr>
          <a:lstStyle/>
          <a:p>
            <a:pPr algn="l"/>
            <a:r>
              <a:rPr sz="1400" b="1" i="0">
                <a:solidFill>
                  <a:srgbClr val="222222"/>
                </a:solidFill>
                <a:latin typeface="Tahoma"/>
              </a:rPr>
              <a:t>En los aciertos</a:t>
            </a:r>
          </a:p>
        </p:txBody>
      </p:sp>
      <p:sp>
        <p:nvSpPr>
          <p:cNvPr id="11" name="Rounded Rectangle 10"/>
          <p:cNvSpPr/>
          <p:nvPr/>
        </p:nvSpPr>
        <p:spPr>
          <a:xfrm>
            <a:off x="7589520" y="2697480"/>
            <a:ext cx="3794760" cy="457200"/>
          </a:xfrm>
          <a:prstGeom prst="roundRect">
            <a:avLst>
              <a:gd name="adj" fmla="val 4600"/>
            </a:avLst>
          </a:prstGeom>
          <a:solidFill>
            <a:srgbClr val="D5DEE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7589520" y="2697480"/>
            <a:ext cx="2591821" cy="457200"/>
          </a:xfrm>
          <a:prstGeom prst="roundRect">
            <a:avLst>
              <a:gd name="adj" fmla="val 4600"/>
            </a:avLst>
          </a:prstGeom>
          <a:solidFill>
            <a:srgbClr val="2E8B57"/>
          </a:solidFill>
          <a:ln w="12700">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7589520" y="3200400"/>
            <a:ext cx="3794760" cy="548640"/>
          </a:xfrm>
          <a:prstGeom prst="rect">
            <a:avLst/>
          </a:prstGeom>
          <a:noFill/>
        </p:spPr>
        <p:txBody>
          <a:bodyPr wrap="square" lIns="0" rIns="0" tIns="0" bIns="0" anchor="t">
            <a:spAutoFit/>
          </a:bodyPr>
          <a:lstStyle/>
          <a:p>
            <a:pPr algn="l"/>
            <a:r>
              <a:rPr sz="2600" b="1" i="0">
                <a:solidFill>
                  <a:srgbClr val="2E8B57"/>
                </a:solidFill>
                <a:latin typeface="Tahoma"/>
              </a:rPr>
              <a:t>0.683</a:t>
            </a:r>
          </a:p>
        </p:txBody>
      </p:sp>
      <p:sp>
        <p:nvSpPr>
          <p:cNvPr id="14" name="TextBox 13"/>
          <p:cNvSpPr txBox="1"/>
          <p:nvPr/>
        </p:nvSpPr>
        <p:spPr>
          <a:xfrm>
            <a:off x="7589520" y="3977639"/>
            <a:ext cx="3840480" cy="320040"/>
          </a:xfrm>
          <a:prstGeom prst="rect">
            <a:avLst/>
          </a:prstGeom>
          <a:noFill/>
        </p:spPr>
        <p:txBody>
          <a:bodyPr wrap="square" lIns="0" rIns="0" tIns="0" bIns="0" anchor="t">
            <a:spAutoFit/>
          </a:bodyPr>
          <a:lstStyle/>
          <a:p>
            <a:pPr algn="l"/>
            <a:r>
              <a:rPr sz="1400" b="1" i="0">
                <a:solidFill>
                  <a:srgbClr val="222222"/>
                </a:solidFill>
                <a:latin typeface="Tahoma"/>
              </a:rPr>
              <a:t>En los errores</a:t>
            </a:r>
          </a:p>
        </p:txBody>
      </p:sp>
      <p:sp>
        <p:nvSpPr>
          <p:cNvPr id="15" name="Rounded Rectangle 14"/>
          <p:cNvSpPr/>
          <p:nvPr/>
        </p:nvSpPr>
        <p:spPr>
          <a:xfrm>
            <a:off x="7589520" y="4343400"/>
            <a:ext cx="3794760" cy="457200"/>
          </a:xfrm>
          <a:prstGeom prst="roundRect">
            <a:avLst>
              <a:gd name="adj" fmla="val 4600"/>
            </a:avLst>
          </a:prstGeom>
          <a:solidFill>
            <a:srgbClr val="D5DEE8"/>
          </a:solidFill>
          <a:ln w="12700">
            <a:solidFill>
              <a:srgbClr val="D5DE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7589520" y="4343400"/>
            <a:ext cx="1878406" cy="457200"/>
          </a:xfrm>
          <a:prstGeom prst="roundRect">
            <a:avLst>
              <a:gd name="adj" fmla="val 4600"/>
            </a:avLst>
          </a:prstGeom>
          <a:solidFill>
            <a:srgbClr val="B23A3A"/>
          </a:solidFill>
          <a:ln w="12700">
            <a:solidFill>
              <a:srgbClr val="B23A3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7589520" y="4846320"/>
            <a:ext cx="3794760" cy="548640"/>
          </a:xfrm>
          <a:prstGeom prst="rect">
            <a:avLst/>
          </a:prstGeom>
          <a:noFill/>
        </p:spPr>
        <p:txBody>
          <a:bodyPr wrap="square" lIns="0" rIns="0" tIns="0" bIns="0" anchor="t">
            <a:spAutoFit/>
          </a:bodyPr>
          <a:lstStyle/>
          <a:p>
            <a:pPr algn="l"/>
            <a:r>
              <a:rPr sz="2600" b="1" i="0">
                <a:solidFill>
                  <a:srgbClr val="B23A3A"/>
                </a:solidFill>
                <a:latin typeface="Tahoma"/>
              </a:rPr>
              <a:t>0.495</a:t>
            </a:r>
          </a:p>
        </p:txBody>
      </p:sp>
      <p:sp>
        <p:nvSpPr>
          <p:cNvPr id="18" name="TextBox 17"/>
          <p:cNvSpPr txBox="1"/>
          <p:nvPr/>
        </p:nvSpPr>
        <p:spPr>
          <a:xfrm>
            <a:off x="7589520" y="5486400"/>
            <a:ext cx="3840480" cy="731520"/>
          </a:xfrm>
          <a:prstGeom prst="rect">
            <a:avLst/>
          </a:prstGeom>
          <a:noFill/>
        </p:spPr>
        <p:txBody>
          <a:bodyPr wrap="square" lIns="0" rIns="0" tIns="0" bIns="0" anchor="t">
            <a:spAutoFit/>
          </a:bodyPr>
          <a:lstStyle/>
          <a:p>
            <a:pPr algn="l"/>
            <a:r>
              <a:rPr sz="1200" b="0" i="1">
                <a:solidFill>
                  <a:srgbClr val="5A5A5A"/>
                </a:solidFill>
                <a:latin typeface="Tahoma"/>
              </a:rPr>
              <a:t>Cuando se equivoca, el modelo está menos seguro.</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Recorrido de una consulta real</a:t>
            </a:r>
          </a:p>
        </p:txBody>
      </p:sp>
      <p:sp>
        <p:nvSpPr>
          <p:cNvPr id="3" name="Rounded Rectangle 2"/>
          <p:cNvSpPr/>
          <p:nvPr/>
        </p:nvSpPr>
        <p:spPr>
          <a:xfrm>
            <a:off x="548640" y="1554480"/>
            <a:ext cx="11109960" cy="91440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822960" y="1554480"/>
            <a:ext cx="10607040" cy="914400"/>
          </a:xfrm>
          <a:prstGeom prst="rect">
            <a:avLst/>
          </a:prstGeom>
          <a:noFill/>
        </p:spPr>
        <p:txBody>
          <a:bodyPr wrap="square" lIns="0" rIns="0" tIns="0" bIns="0" anchor="ctr">
            <a:spAutoFit/>
          </a:bodyPr>
          <a:lstStyle/>
          <a:p>
            <a:pPr algn="l"/>
            <a:r>
              <a:rPr sz="1500" b="1" i="0">
                <a:solidFill>
                  <a:srgbClr val="0E4C7C"/>
                </a:solidFill>
                <a:latin typeface="Tahoma"/>
              </a:rPr>
              <a:t>Consulta:  </a:t>
            </a:r>
            <a:r>
              <a:rPr sz="1500" b="0" i="1">
                <a:solidFill>
                  <a:srgbClr val="222222"/>
                </a:solidFill>
                <a:latin typeface="Tahoma"/>
              </a:rPr>
              <a:t>«No hay filtro de aceite original de Toyota para Hilux 2.7 gasolina 2024, ¿qué me recomienda?»</a:t>
            </a:r>
          </a:p>
        </p:txBody>
      </p:sp>
      <p:sp>
        <p:nvSpPr>
          <p:cNvPr id="5" name="Rounded Rectangle 4"/>
          <p:cNvSpPr/>
          <p:nvPr/>
        </p:nvSpPr>
        <p:spPr>
          <a:xfrm>
            <a:off x="548640" y="2880360"/>
            <a:ext cx="2468880" cy="34747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Oval 5"/>
          <p:cNvSpPr/>
          <p:nvPr/>
        </p:nvSpPr>
        <p:spPr>
          <a:xfrm>
            <a:off x="731520" y="3017520"/>
            <a:ext cx="457200" cy="457200"/>
          </a:xfrm>
          <a:prstGeom prst="ellipse">
            <a:avLst/>
          </a:prstGeom>
          <a:solidFill>
            <a:srgbClr val="1B6FA8"/>
          </a:solidFill>
          <a:ln>
            <a:solidFill>
              <a:srgbClr val="1B6FA8"/>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1</a:t>
            </a:r>
          </a:p>
        </p:txBody>
      </p:sp>
      <p:sp>
        <p:nvSpPr>
          <p:cNvPr id="7" name="TextBox 6"/>
          <p:cNvSpPr txBox="1"/>
          <p:nvPr/>
        </p:nvSpPr>
        <p:spPr>
          <a:xfrm>
            <a:off x="1325880" y="3017520"/>
            <a:ext cx="1645920" cy="457200"/>
          </a:xfrm>
          <a:prstGeom prst="rect">
            <a:avLst/>
          </a:prstGeom>
          <a:noFill/>
        </p:spPr>
        <p:txBody>
          <a:bodyPr wrap="square" lIns="0" rIns="0" tIns="0" bIns="0" anchor="ctr">
            <a:spAutoFit/>
          </a:bodyPr>
          <a:lstStyle/>
          <a:p>
            <a:pPr algn="l"/>
            <a:r>
              <a:rPr sz="1400" b="1" i="0">
                <a:solidFill>
                  <a:srgbClr val="222222"/>
                </a:solidFill>
                <a:latin typeface="Tahoma"/>
              </a:rPr>
              <a:t>Limpieza</a:t>
            </a:r>
          </a:p>
        </p:txBody>
      </p:sp>
      <p:sp>
        <p:nvSpPr>
          <p:cNvPr id="8" name="TextBox 7"/>
          <p:cNvSpPr txBox="1"/>
          <p:nvPr/>
        </p:nvSpPr>
        <p:spPr>
          <a:xfrm>
            <a:off x="731520" y="3657600"/>
            <a:ext cx="2148840" cy="2606040"/>
          </a:xfrm>
          <a:prstGeom prst="rect">
            <a:avLst/>
          </a:prstGeom>
          <a:noFill/>
        </p:spPr>
        <p:txBody>
          <a:bodyPr wrap="square" lIns="0" rIns="0" tIns="0" bIns="0" anchor="t">
            <a:spAutoFit/>
          </a:bodyPr>
          <a:lstStyle/>
          <a:p>
            <a:pPr algn="l">
              <a:spcAft>
                <a:spcPts val="500"/>
              </a:spcAft>
            </a:pPr>
            <a:r>
              <a:rPr sz="1250" b="0" i="0">
                <a:solidFill>
                  <a:srgbClr val="222222"/>
                </a:solidFill>
                <a:latin typeface="Tahoma"/>
              </a:rPr>
              <a:t>11 palabras útiles:</a:t>
            </a:r>
          </a:p>
          <a:p>
            <a:pPr algn="l">
              <a:spcAft>
                <a:spcPts val="500"/>
              </a:spcAft>
            </a:pPr>
            <a:r>
              <a:rPr sz="1250" b="0" i="0">
                <a:solidFill>
                  <a:srgbClr val="222222"/>
                </a:solidFill>
                <a:latin typeface="Tahoma"/>
              </a:rPr>
              <a:t>no · filtro · aceite · original · toyota · hilux · 2 · 7 · gasolina · 2024 · recomienda</a:t>
            </a:r>
          </a:p>
        </p:txBody>
      </p:sp>
      <p:sp>
        <p:nvSpPr>
          <p:cNvPr id="9" name="Right Arrow 8"/>
          <p:cNvSpPr/>
          <p:nvPr/>
        </p:nvSpPr>
        <p:spPr>
          <a:xfrm>
            <a:off x="3054096" y="4297680"/>
            <a:ext cx="347472"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3429000" y="2880360"/>
            <a:ext cx="2468880" cy="34747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Oval 10"/>
          <p:cNvSpPr/>
          <p:nvPr/>
        </p:nvSpPr>
        <p:spPr>
          <a:xfrm>
            <a:off x="3611880" y="3017520"/>
            <a:ext cx="457200" cy="457200"/>
          </a:xfrm>
          <a:prstGeom prst="ellipse">
            <a:avLst/>
          </a:prstGeom>
          <a:solidFill>
            <a:srgbClr val="0E4C7C"/>
          </a:solidFill>
          <a:ln>
            <a:solidFill>
              <a:srgbClr val="0E4C7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2</a:t>
            </a:r>
          </a:p>
        </p:txBody>
      </p:sp>
      <p:sp>
        <p:nvSpPr>
          <p:cNvPr id="12" name="TextBox 11"/>
          <p:cNvSpPr txBox="1"/>
          <p:nvPr/>
        </p:nvSpPr>
        <p:spPr>
          <a:xfrm>
            <a:off x="4206240" y="3017520"/>
            <a:ext cx="1645920" cy="457200"/>
          </a:xfrm>
          <a:prstGeom prst="rect">
            <a:avLst/>
          </a:prstGeom>
          <a:noFill/>
        </p:spPr>
        <p:txBody>
          <a:bodyPr wrap="square" lIns="0" rIns="0" tIns="0" bIns="0" anchor="ctr">
            <a:spAutoFit/>
          </a:bodyPr>
          <a:lstStyle/>
          <a:p>
            <a:pPr algn="l"/>
            <a:r>
              <a:rPr sz="1400" b="1" i="0">
                <a:solidFill>
                  <a:srgbClr val="222222"/>
                </a:solidFill>
                <a:latin typeface="Tahoma"/>
              </a:rPr>
              <a:t>Modelo</a:t>
            </a:r>
          </a:p>
        </p:txBody>
      </p:sp>
      <p:sp>
        <p:nvSpPr>
          <p:cNvPr id="13" name="TextBox 12"/>
          <p:cNvSpPr txBox="1"/>
          <p:nvPr/>
        </p:nvSpPr>
        <p:spPr>
          <a:xfrm>
            <a:off x="3611880" y="3657600"/>
            <a:ext cx="2148840" cy="2606040"/>
          </a:xfrm>
          <a:prstGeom prst="rect">
            <a:avLst/>
          </a:prstGeom>
          <a:noFill/>
        </p:spPr>
        <p:txBody>
          <a:bodyPr wrap="square" lIns="0" rIns="0" tIns="0" bIns="0" anchor="t">
            <a:spAutoFit/>
          </a:bodyPr>
          <a:lstStyle/>
          <a:p>
            <a:pPr algn="l">
              <a:spcAft>
                <a:spcPts val="500"/>
              </a:spcAft>
            </a:pPr>
            <a:r>
              <a:rPr sz="1250" b="0" i="0">
                <a:solidFill>
                  <a:srgbClr val="222222"/>
                </a:solidFill>
                <a:latin typeface="Tahoma"/>
              </a:rPr>
              <a:t>recomendar_sustituto</a:t>
            </a:r>
          </a:p>
          <a:p>
            <a:pPr algn="l">
              <a:spcAft>
                <a:spcPts val="500"/>
              </a:spcAft>
            </a:pPr>
            <a:r>
              <a:rPr sz="1250" b="0" i="0">
                <a:solidFill>
                  <a:srgbClr val="222222"/>
                </a:solidFill>
                <a:latin typeface="Tahoma"/>
              </a:rPr>
              <a:t>confianza 0.884</a:t>
            </a:r>
          </a:p>
          <a:p>
            <a:pPr algn="l">
              <a:spcAft>
                <a:spcPts val="500"/>
              </a:spcAft>
            </a:pPr>
            <a:r>
              <a:rPr sz="1250" b="0" i="0">
                <a:solidFill>
                  <a:srgbClr val="222222"/>
                </a:solidFill>
                <a:latin typeface="Tahoma"/>
              </a:rPr>
              <a:t>(mayor que el umbral 0.35)</a:t>
            </a:r>
          </a:p>
        </p:txBody>
      </p:sp>
      <p:sp>
        <p:nvSpPr>
          <p:cNvPr id="14" name="Right Arrow 13"/>
          <p:cNvSpPr/>
          <p:nvPr/>
        </p:nvSpPr>
        <p:spPr>
          <a:xfrm>
            <a:off x="5934456" y="4297680"/>
            <a:ext cx="347472"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309360" y="2880360"/>
            <a:ext cx="2468880" cy="34747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Oval 15"/>
          <p:cNvSpPr/>
          <p:nvPr/>
        </p:nvSpPr>
        <p:spPr>
          <a:xfrm>
            <a:off x="6492240" y="3017520"/>
            <a:ext cx="457200" cy="457200"/>
          </a:xfrm>
          <a:prstGeom prst="ellipse">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3</a:t>
            </a:r>
          </a:p>
        </p:txBody>
      </p:sp>
      <p:sp>
        <p:nvSpPr>
          <p:cNvPr id="17" name="TextBox 16"/>
          <p:cNvSpPr txBox="1"/>
          <p:nvPr/>
        </p:nvSpPr>
        <p:spPr>
          <a:xfrm>
            <a:off x="7086600" y="3017520"/>
            <a:ext cx="1645920" cy="457200"/>
          </a:xfrm>
          <a:prstGeom prst="rect">
            <a:avLst/>
          </a:prstGeom>
          <a:noFill/>
        </p:spPr>
        <p:txBody>
          <a:bodyPr wrap="square" lIns="0" rIns="0" tIns="0" bIns="0" anchor="ctr">
            <a:spAutoFit/>
          </a:bodyPr>
          <a:lstStyle/>
          <a:p>
            <a:pPr algn="l"/>
            <a:r>
              <a:rPr sz="1400" b="1" i="0">
                <a:solidFill>
                  <a:srgbClr val="222222"/>
                </a:solidFill>
                <a:latin typeface="Tahoma"/>
              </a:rPr>
              <a:t>Entidades</a:t>
            </a:r>
          </a:p>
        </p:txBody>
      </p:sp>
      <p:sp>
        <p:nvSpPr>
          <p:cNvPr id="18" name="TextBox 17"/>
          <p:cNvSpPr txBox="1"/>
          <p:nvPr/>
        </p:nvSpPr>
        <p:spPr>
          <a:xfrm>
            <a:off x="6492240" y="3657600"/>
            <a:ext cx="2148840" cy="2606040"/>
          </a:xfrm>
          <a:prstGeom prst="rect">
            <a:avLst/>
          </a:prstGeom>
          <a:noFill/>
        </p:spPr>
        <p:txBody>
          <a:bodyPr wrap="square" lIns="0" rIns="0" tIns="0" bIns="0" anchor="t">
            <a:spAutoFit/>
          </a:bodyPr>
          <a:lstStyle/>
          <a:p>
            <a:pPr algn="l">
              <a:spcAft>
                <a:spcPts val="500"/>
              </a:spcAft>
            </a:pPr>
            <a:r>
              <a:rPr sz="1250" b="0" i="0">
                <a:solidFill>
                  <a:srgbClr val="222222"/>
                </a:solidFill>
                <a:latin typeface="Tahoma"/>
              </a:rPr>
              <a:t>marca: Toyota</a:t>
            </a:r>
          </a:p>
          <a:p>
            <a:pPr algn="l">
              <a:spcAft>
                <a:spcPts val="500"/>
              </a:spcAft>
            </a:pPr>
            <a:r>
              <a:rPr sz="1250" b="0" i="0">
                <a:solidFill>
                  <a:srgbClr val="222222"/>
                </a:solidFill>
                <a:latin typeface="Tahoma"/>
              </a:rPr>
              <a:t>modelo: Hilux</a:t>
            </a:r>
          </a:p>
          <a:p>
            <a:pPr algn="l">
              <a:spcAft>
                <a:spcPts val="500"/>
              </a:spcAft>
            </a:pPr>
            <a:r>
              <a:rPr sz="1250" b="0" i="0">
                <a:solidFill>
                  <a:srgbClr val="222222"/>
                </a:solidFill>
                <a:latin typeface="Tahoma"/>
              </a:rPr>
              <a:t>año: 2024</a:t>
            </a:r>
          </a:p>
          <a:p>
            <a:pPr algn="l">
              <a:spcAft>
                <a:spcPts val="500"/>
              </a:spcAft>
            </a:pPr>
            <a:r>
              <a:rPr sz="1250" b="0" i="0">
                <a:solidFill>
                  <a:srgbClr val="222222"/>
                </a:solidFill>
                <a:latin typeface="Tahoma"/>
              </a:rPr>
              <a:t>motor: 2.7</a:t>
            </a:r>
          </a:p>
          <a:p>
            <a:pPr algn="l">
              <a:spcAft>
                <a:spcPts val="500"/>
              </a:spcAft>
            </a:pPr>
            <a:r>
              <a:rPr sz="1250" b="0" i="0">
                <a:solidFill>
                  <a:srgbClr val="222222"/>
                </a:solidFill>
                <a:latin typeface="Tahoma"/>
              </a:rPr>
              <a:t>combustible: gasolina</a:t>
            </a:r>
          </a:p>
          <a:p>
            <a:pPr algn="l">
              <a:spcAft>
                <a:spcPts val="500"/>
              </a:spcAft>
            </a:pPr>
            <a:r>
              <a:rPr sz="1250" b="0" i="0">
                <a:solidFill>
                  <a:srgbClr val="222222"/>
                </a:solidFill>
                <a:latin typeface="Tahoma"/>
              </a:rPr>
              <a:t>categoría: Filtros</a:t>
            </a:r>
          </a:p>
        </p:txBody>
      </p:sp>
      <p:sp>
        <p:nvSpPr>
          <p:cNvPr id="19" name="Right Arrow 18"/>
          <p:cNvSpPr/>
          <p:nvPr/>
        </p:nvSpPr>
        <p:spPr>
          <a:xfrm>
            <a:off x="8814816" y="4297680"/>
            <a:ext cx="347472" cy="365760"/>
          </a:xfrm>
          <a:prstGeom prst="rightArrow">
            <a:avLst/>
          </a:prstGeom>
          <a:solidFill>
            <a:srgbClr val="E8890C"/>
          </a:solidFill>
          <a:ln>
            <a:solidFill>
              <a:srgbClr val="E8890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189720" y="2880360"/>
            <a:ext cx="2468880" cy="3474720"/>
          </a:xfrm>
          <a:prstGeom prst="roundRect">
            <a:avLst>
              <a:gd name="adj" fmla="val 4600"/>
            </a:avLst>
          </a:prstGeom>
          <a:solidFill>
            <a:srgbClr val="EEF4FA"/>
          </a:solidFill>
          <a:ln w="12700">
            <a:solidFill>
              <a:srgbClr val="EEF4F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9372600" y="3017520"/>
            <a:ext cx="457200" cy="457200"/>
          </a:xfrm>
          <a:prstGeom prst="ellipse">
            <a:avLst/>
          </a:prstGeom>
          <a:solidFill>
            <a:srgbClr val="2E8B57"/>
          </a:solidFill>
          <a:ln>
            <a:solidFill>
              <a:srgbClr val="2E8B57"/>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Tahoma"/>
              </a:rPr>
              <a:t>4</a:t>
            </a:r>
          </a:p>
        </p:txBody>
      </p:sp>
      <p:sp>
        <p:nvSpPr>
          <p:cNvPr id="22" name="TextBox 21"/>
          <p:cNvSpPr txBox="1"/>
          <p:nvPr/>
        </p:nvSpPr>
        <p:spPr>
          <a:xfrm>
            <a:off x="9966960" y="3017520"/>
            <a:ext cx="1645920" cy="457200"/>
          </a:xfrm>
          <a:prstGeom prst="rect">
            <a:avLst/>
          </a:prstGeom>
          <a:noFill/>
        </p:spPr>
        <p:txBody>
          <a:bodyPr wrap="square" lIns="0" rIns="0" tIns="0" bIns="0" anchor="ctr">
            <a:spAutoFit/>
          </a:bodyPr>
          <a:lstStyle/>
          <a:p>
            <a:pPr algn="l"/>
            <a:r>
              <a:rPr sz="1400" b="1" i="0">
                <a:solidFill>
                  <a:srgbClr val="222222"/>
                </a:solidFill>
                <a:latin typeface="Tahoma"/>
              </a:rPr>
              <a:t>Salida</a:t>
            </a:r>
          </a:p>
        </p:txBody>
      </p:sp>
      <p:sp>
        <p:nvSpPr>
          <p:cNvPr id="23" name="TextBox 22"/>
          <p:cNvSpPr txBox="1"/>
          <p:nvPr/>
        </p:nvSpPr>
        <p:spPr>
          <a:xfrm>
            <a:off x="9372600" y="3657600"/>
            <a:ext cx="2148840" cy="2606040"/>
          </a:xfrm>
          <a:prstGeom prst="rect">
            <a:avLst/>
          </a:prstGeom>
          <a:noFill/>
        </p:spPr>
        <p:txBody>
          <a:bodyPr wrap="square" lIns="0" rIns="0" tIns="0" bIns="0" anchor="t">
            <a:spAutoFit/>
          </a:bodyPr>
          <a:lstStyle/>
          <a:p>
            <a:pPr algn="l">
              <a:spcAft>
                <a:spcPts val="500"/>
              </a:spcAft>
            </a:pPr>
            <a:r>
              <a:rPr sz="1250" b="0" i="0">
                <a:solidFill>
                  <a:srgbClr val="222222"/>
                </a:solidFill>
                <a:latin typeface="Tahoma"/>
              </a:rPr>
              <a:t>Respuesta en JSON</a:t>
            </a:r>
          </a:p>
          <a:p>
            <a:pPr algn="l">
              <a:spcAft>
                <a:spcPts val="500"/>
              </a:spcAft>
            </a:pPr>
            <a:r>
              <a:rPr sz="1250" b="0" i="0">
                <a:solidFill>
                  <a:srgbClr val="222222"/>
                </a:solidFill>
                <a:latin typeface="Tahoma"/>
              </a:rPr>
              <a:t>Una fila guardada en la tabla consultas_asistente, como en producción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blipFill dpi="0" rotWithShape="1">
          <a:blip r:embed="rId2">
            <a:lum/>
          </a:blip>
          <a:srcRect/>
          <a:stretch>
            <a:fillRect/>
          </a:stretch>
        </a:blipFill>
        <a:effectLst/>
      </p:bgPr>
    </p:bg>
    <p:spTree>
      <p:nvGrpSpPr>
        <p:cNvPr id="1" name=""/>
        <p:cNvGrpSpPr/>
        <p:nvPr/>
      </p:nvGrpSpPr>
      <p:grpSpPr/>
      <p:sp>
        <p:nvSpPr>
          <p:cNvPr id="2" name="TextBox 1"/>
          <p:cNvSpPr txBox="1"/>
          <p:nvPr/>
        </p:nvSpPr>
        <p:spPr>
          <a:xfrm>
            <a:off x="320040" y="384048"/>
            <a:ext cx="8778240" cy="594360"/>
          </a:xfrm>
          <a:prstGeom prst="rect">
            <a:avLst/>
          </a:prstGeom>
          <a:noFill/>
        </p:spPr>
        <p:txBody>
          <a:bodyPr wrap="square" lIns="0" rIns="0" tIns="0" bIns="0" anchor="ctr">
            <a:spAutoFit/>
          </a:bodyPr>
          <a:lstStyle/>
          <a:p>
            <a:pPr algn="l"/>
            <a:r>
              <a:rPr sz="2800" b="1" i="0">
                <a:solidFill>
                  <a:srgbClr val="FFFFFF"/>
                </a:solidFill>
                <a:latin typeface="Tahoma"/>
              </a:rPr>
              <a:t>Conclusión de la evaluación</a:t>
            </a:r>
          </a:p>
        </p:txBody>
      </p:sp>
      <p:sp>
        <p:nvSpPr>
          <p:cNvPr id="3" name="Rounded Rectangle 2"/>
          <p:cNvSpPr/>
          <p:nvPr/>
        </p:nvSpPr>
        <p:spPr>
          <a:xfrm>
            <a:off x="548640" y="1600200"/>
            <a:ext cx="3566160" cy="3017520"/>
          </a:xfrm>
          <a:prstGeom prst="roundRect">
            <a:avLst>
              <a:gd name="adj" fmla="val 4600"/>
            </a:avLst>
          </a:prstGeom>
          <a:solidFill>
            <a:srgbClr val="E4F3EA"/>
          </a:solidFill>
          <a:ln w="12700">
            <a:solidFill>
              <a:srgbClr val="E4F3EA"/>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TextBox 3"/>
          <p:cNvSpPr txBox="1"/>
          <p:nvPr/>
        </p:nvSpPr>
        <p:spPr>
          <a:xfrm>
            <a:off x="548640" y="1783080"/>
            <a:ext cx="3566160" cy="1280160"/>
          </a:xfrm>
          <a:prstGeom prst="rect">
            <a:avLst/>
          </a:prstGeom>
          <a:noFill/>
        </p:spPr>
        <p:txBody>
          <a:bodyPr wrap="square" lIns="0" rIns="0" tIns="0" bIns="0" anchor="ctr">
            <a:spAutoFit/>
          </a:bodyPr>
          <a:lstStyle/>
          <a:p>
            <a:pPr algn="ctr"/>
            <a:r>
              <a:rPr sz="5600" b="1" i="0">
                <a:solidFill>
                  <a:srgbClr val="2E8B57"/>
                </a:solidFill>
                <a:latin typeface="Tahoma"/>
              </a:rPr>
              <a:t>6 de 8</a:t>
            </a:r>
          </a:p>
        </p:txBody>
      </p:sp>
      <p:sp>
        <p:nvSpPr>
          <p:cNvPr id="5" name="TextBox 4"/>
          <p:cNvSpPr txBox="1"/>
          <p:nvPr/>
        </p:nvSpPr>
        <p:spPr>
          <a:xfrm>
            <a:off x="731520" y="3108960"/>
            <a:ext cx="3200400" cy="1371600"/>
          </a:xfrm>
          <a:prstGeom prst="rect">
            <a:avLst/>
          </a:prstGeom>
          <a:noFill/>
        </p:spPr>
        <p:txBody>
          <a:bodyPr wrap="square" lIns="0" rIns="0" tIns="0" bIns="0" anchor="t">
            <a:spAutoFit/>
          </a:bodyPr>
          <a:lstStyle/>
          <a:p>
            <a:pPr algn="ctr"/>
            <a:r>
              <a:rPr sz="1700" b="1" i="0">
                <a:solidFill>
                  <a:srgbClr val="222222"/>
                </a:solidFill>
                <a:latin typeface="Tahoma"/>
              </a:rPr>
              <a:t>criterios de éxito cumplidos</a:t>
            </a:r>
          </a:p>
        </p:txBody>
      </p:sp>
      <p:sp>
        <p:nvSpPr>
          <p:cNvPr id="6" name="Rounded Rectangle 5"/>
          <p:cNvSpPr/>
          <p:nvPr/>
        </p:nvSpPr>
        <p:spPr>
          <a:xfrm>
            <a:off x="4343400" y="1600200"/>
            <a:ext cx="7315200" cy="1417320"/>
          </a:xfrm>
          <a:prstGeom prst="roundRect">
            <a:avLst>
              <a:gd name="adj" fmla="val 4600"/>
            </a:avLst>
          </a:prstGeom>
          <a:solidFill>
            <a:srgbClr val="FBE9E7"/>
          </a:solidFill>
          <a:ln w="12700">
            <a:solidFill>
              <a:srgbClr val="FBE9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0" y="1600200"/>
            <a:ext cx="6858000" cy="1417320"/>
          </a:xfrm>
          <a:prstGeom prst="rect">
            <a:avLst/>
          </a:prstGeom>
          <a:noFill/>
        </p:spPr>
        <p:txBody>
          <a:bodyPr wrap="square" lIns="0" rIns="0" tIns="0" bIns="0" anchor="ctr">
            <a:spAutoFit/>
          </a:bodyPr>
          <a:lstStyle/>
          <a:p>
            <a:pPr algn="l">
              <a:spcAft>
                <a:spcPts val="400"/>
              </a:spcAft>
            </a:pPr>
            <a:r>
              <a:rPr sz="1500" b="1" i="0">
                <a:solidFill>
                  <a:srgbClr val="B23A3A"/>
                </a:solidFill>
                <a:latin typeface="Tahoma"/>
              </a:rPr>
              <a:t>No se cumple: recall de recomendar_sustituto</a:t>
            </a:r>
          </a:p>
          <a:p>
            <a:pPr algn="l">
              <a:spcAft>
                <a:spcPts val="400"/>
              </a:spcAft>
            </a:pPr>
            <a:r>
              <a:rPr sz="1400" b="0" i="0">
                <a:solidFill>
                  <a:srgbClr val="222222"/>
                </a:solidFill>
                <a:latin typeface="Tahoma"/>
              </a:rPr>
              <a:t>0.804 frente a la meta de 0.90</a:t>
            </a:r>
          </a:p>
        </p:txBody>
      </p:sp>
      <p:sp>
        <p:nvSpPr>
          <p:cNvPr id="8" name="Rounded Rectangle 7"/>
          <p:cNvSpPr/>
          <p:nvPr/>
        </p:nvSpPr>
        <p:spPr>
          <a:xfrm>
            <a:off x="4343400" y="3200400"/>
            <a:ext cx="7315200" cy="1417320"/>
          </a:xfrm>
          <a:prstGeom prst="roundRect">
            <a:avLst>
              <a:gd name="adj" fmla="val 4600"/>
            </a:avLst>
          </a:prstGeom>
          <a:solidFill>
            <a:srgbClr val="FBE9E7"/>
          </a:solidFill>
          <a:ln w="12700">
            <a:solidFill>
              <a:srgbClr val="FBE9E7"/>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572000" y="3200400"/>
            <a:ext cx="6858000" cy="1417320"/>
          </a:xfrm>
          <a:prstGeom prst="rect">
            <a:avLst/>
          </a:prstGeom>
          <a:noFill/>
        </p:spPr>
        <p:txBody>
          <a:bodyPr wrap="square" lIns="0" rIns="0" tIns="0" bIns="0" anchor="ctr">
            <a:spAutoFit/>
          </a:bodyPr>
          <a:lstStyle/>
          <a:p>
            <a:pPr algn="l">
              <a:spcAft>
                <a:spcPts val="400"/>
              </a:spcAft>
            </a:pPr>
            <a:r>
              <a:rPr sz="1500" b="1" i="0">
                <a:solidFill>
                  <a:srgbClr val="B23A3A"/>
                </a:solidFill>
                <a:latin typeface="Tahoma"/>
              </a:rPr>
              <a:t>No se cumple: control de frases fuera de dominio</a:t>
            </a:r>
          </a:p>
          <a:p>
            <a:pPr algn="l">
              <a:spcAft>
                <a:spcPts val="400"/>
              </a:spcAft>
            </a:pPr>
            <a:r>
              <a:rPr sz="1400" b="0" i="0">
                <a:solidFill>
                  <a:srgbClr val="222222"/>
                </a:solidFill>
                <a:latin typeface="Tahoma"/>
              </a:rPr>
              <a:t>El 32 % se trata como consulta de negocio, frente a la meta de 15 %</a:t>
            </a:r>
          </a:p>
        </p:txBody>
      </p:sp>
      <p:sp>
        <p:nvSpPr>
          <p:cNvPr id="10" name="Rounded Rectangle 9"/>
          <p:cNvSpPr/>
          <p:nvPr/>
        </p:nvSpPr>
        <p:spPr>
          <a:xfrm>
            <a:off x="548640" y="4846320"/>
            <a:ext cx="11109960" cy="1508760"/>
          </a:xfrm>
          <a:prstGeom prst="roundRect">
            <a:avLst>
              <a:gd name="adj" fmla="val 4600"/>
            </a:avLst>
          </a:prstGeom>
          <a:solidFill>
            <a:srgbClr val="FDF1E0"/>
          </a:solidFill>
          <a:ln w="12700">
            <a:solidFill>
              <a:srgbClr val="FDF1E0"/>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822959" y="4956048"/>
            <a:ext cx="10561320" cy="1289304"/>
          </a:xfrm>
          <a:prstGeom prst="rect">
            <a:avLst/>
          </a:prstGeom>
          <a:noFill/>
        </p:spPr>
        <p:txBody>
          <a:bodyPr wrap="square" lIns="0" rIns="0" tIns="0" bIns="0" anchor="ctr">
            <a:spAutoFit/>
          </a:bodyPr>
          <a:lstStyle/>
          <a:p>
            <a:pPr algn="l">
              <a:spcAft>
                <a:spcPts val="400"/>
              </a:spcAft>
            </a:pPr>
            <a:r>
              <a:rPr sz="1500" b="1" i="0">
                <a:solidFill>
                  <a:srgbClr val="9A5400"/>
                </a:solidFill>
                <a:latin typeface="Tahoma"/>
              </a:rPr>
              <a:t>Mejora propuesta</a:t>
            </a:r>
          </a:p>
          <a:p>
            <a:pPr algn="l">
              <a:spcAft>
                <a:spcPts val="400"/>
              </a:spcAft>
            </a:pPr>
            <a:r>
              <a:rPr sz="1400" b="0" i="0">
                <a:solidFill>
                  <a:srgbClr val="222222"/>
                </a:solidFill>
                <a:latin typeface="Tahoma"/>
              </a:rPr>
              <a:t>Agregar más frases de sustituto sin la palabra «no» explícita.</a:t>
            </a:r>
          </a:p>
          <a:p>
            <a:pPr algn="l">
              <a:spcAft>
                <a:spcPts val="400"/>
              </a:spcAft>
            </a:pPr>
            <a:r>
              <a:rPr sz="1400" b="0" i="0">
                <a:solidFill>
                  <a:srgbClr val="222222"/>
                </a:solidFill>
                <a:latin typeface="Tahoma"/>
              </a:rPr>
              <a:t>Agregar frases ajenas que usen palabras del negocio (por ejemplo, «¿cuánto falta para navidad?»).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47</TotalTime>
  <Words>1591</Words>
  <Application>Microsoft Office PowerPoint</Application>
  <PresentationFormat>Panorámica</PresentationFormat>
  <Paragraphs>189</Paragraphs>
  <Slides>18</Slides>
  <Notes>18</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18</vt:i4>
      </vt:variant>
    </vt:vector>
  </HeadingPairs>
  <TitlesOfParts>
    <vt:vector size="21" baseType="lpstr">
      <vt:lpstr>Arial</vt:lpstr>
      <vt:lpstr>Tahoma</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Avance 2 – Asistente NLP ElectriSys</dc:title>
  <dc:subject>PptxGenJS Presentation</dc:subject>
  <dc:creator>PptxGenJS</dc:creator>
  <cp:lastModifiedBy>cristian pesillo</cp:lastModifiedBy>
  <cp:revision>2</cp:revision>
  <dcterms:created xsi:type="dcterms:W3CDTF">2026-09-28T17:07:28Z</dcterms:created>
  <dcterms:modified xsi:type="dcterms:W3CDTF">2026-09-29T22:10:03Z</dcterms:modified>
</cp:coreProperties>
</file>